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626CEA-20D4-4C6C-ADD3-313CCC7383A5}">
  <a:tblStyle styleId="{D6626CEA-20D4-4C6C-ADD3-313CCC7383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30381F-C21E-4C99-AD40-AD6B41F486F5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  <a:tblStyle styleId="{A74CB5BF-3CBD-4F32-A93B-54B327CDD2E8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bb7e92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bb7e92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3ce504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3ce504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b9e52b2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b9e52b2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f3ce504f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f3ce504f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f3ce504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f3ce50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3ce504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f3ce504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f3ce504f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f3ce504f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f3ce504f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f3ce504f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f3ce504f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f3ce504f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3ce504f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f3ce504f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bb7e920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7bb7e920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f3ce504f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f3ce504f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7bb7e92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7bb7e92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f3ce504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f3ce504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f3ce504f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f3ce504f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a4cf0e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a4cf0e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f3ce504f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f3ce504f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a4cf0ed3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a4cf0ed3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6ecdf6fc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6ecdf6fc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f3ce504f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f3ce504f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2c01c804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2c01c804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f3ce504f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f3ce504f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4cf0ed3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a4cf0ed3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f3ce504f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f3ce504f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f3ce504f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f3ce504f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2c01c80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2c01c80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f3ce504f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f3ce504f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5b9e52b2f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5b9e52b2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5b9e52b2f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5b9e52b2f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5b9e52b2f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c5b9e52b2f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5b9e52b2f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c5b9e52b2f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5b9e52b2f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c5b9e52b2f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5b9e52b2f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5b9e52b2f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5b9e52b2f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5b9e52b2f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5b9e52b2f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c5b9e52b2f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5b9e52b2f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5b9e52b2f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5b9e52b2f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5b9e52b2f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5b9e52b2f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c5b9e52b2f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a4cf0ed3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a4cf0ed3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5b9e52b2f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c5b9e52b2f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5b9e52b2f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c5b9e52b2f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a4cf0ed3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da4cf0ed3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5b9e52b2f_1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c5b9e52b2f_1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a4cf0ed3b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a4cf0ed3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a4cf0ed3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da4cf0ed3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a4cf0ed3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da4cf0ed3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86ecdf6fc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86ecdf6fc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a4cf0ed3b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da4cf0ed3b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a4cf0ed3b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da4cf0ed3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6ecdf6fc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86ecdf6fc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PAPIME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</a:t>
            </a:r>
            <a:r>
              <a:rPr lang="es"/>
              <a:t>clínicos</a:t>
            </a:r>
            <a:r>
              <a:rPr lang="es"/>
              <a:t> participativos en rumiantes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744575"/>
            <a:ext cx="8520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>
                <a:solidFill>
                  <a:srgbClr val="000000"/>
                </a:solidFill>
              </a:rPr>
              <a:t>CASO #</a:t>
            </a:r>
            <a:r>
              <a:rPr lang="es" sz="5200"/>
              <a:t>4. OVINO</a:t>
            </a:r>
            <a:endParaRPr sz="5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61" name="Google Shape;61;p14" title="IMG-20260404-WA006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75" y="1890425"/>
            <a:ext cx="3533632" cy="265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CONSTRUCCIÓN DEL CASO CLÍNICO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15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</a:t>
            </a:r>
            <a:r>
              <a:rPr lang="es" sz="1800">
                <a:solidFill>
                  <a:schemeClr val="dk1"/>
                </a:solidFill>
              </a:rPr>
              <a:t>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124400" y="4513500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69" name="Google Shape;69;p15"/>
          <p:cNvSpPr/>
          <p:nvPr/>
        </p:nvSpPr>
        <p:spPr>
          <a:xfrm>
            <a:off x="124400" y="42336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70" name="Google Shape;70;p15"/>
          <p:cNvSpPr/>
          <p:nvPr/>
        </p:nvSpPr>
        <p:spPr>
          <a:xfrm>
            <a:off x="198150" y="31142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71" name="Google Shape;71;p15"/>
          <p:cNvSpPr/>
          <p:nvPr/>
        </p:nvSpPr>
        <p:spPr>
          <a:xfrm>
            <a:off x="124400" y="2866300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72" name="Google Shape;72;p15"/>
          <p:cNvSpPr/>
          <p:nvPr/>
        </p:nvSpPr>
        <p:spPr>
          <a:xfrm>
            <a:off x="124400" y="367395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73" name="Google Shape;73;p15"/>
          <p:cNvSpPr/>
          <p:nvPr/>
        </p:nvSpPr>
        <p:spPr>
          <a:xfrm>
            <a:off x="174025" y="33941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74" name="Google Shape;74;p15"/>
          <p:cNvSpPr/>
          <p:nvPr/>
        </p:nvSpPr>
        <p:spPr>
          <a:xfrm>
            <a:off x="124400" y="3953800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75" name="Google Shape;75;p15"/>
          <p:cNvSpPr/>
          <p:nvPr/>
        </p:nvSpPr>
        <p:spPr>
          <a:xfrm>
            <a:off x="33070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76" name="Google Shape;76;p15"/>
          <p:cNvSpPr/>
          <p:nvPr/>
        </p:nvSpPr>
        <p:spPr>
          <a:xfrm>
            <a:off x="318077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93442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78" name="Google Shape;78;p15"/>
          <p:cNvSpPr/>
          <p:nvPr/>
        </p:nvSpPr>
        <p:spPr>
          <a:xfrm>
            <a:off x="1808126" y="250242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87425" y="131025"/>
            <a:ext cx="85206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CONSTRUCCIÓN DEL CASO CLÍNICO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5" name="Google Shape;85;p16"/>
          <p:cNvSpPr txBox="1"/>
          <p:nvPr/>
        </p:nvSpPr>
        <p:spPr>
          <a:xfrm>
            <a:off x="4718425" y="726825"/>
            <a:ext cx="39810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con la finalidad de establecer un adecuado abordaje médico en un caso clínico real, se debe establecer una secuencia lógica que sigue un orden específico  en los hechos.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98275" y="3324463"/>
            <a:ext cx="1372882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MOTIVO DE CONSULTA </a:t>
            </a:r>
            <a:endParaRPr sz="1000"/>
          </a:p>
        </p:txBody>
      </p:sp>
      <p:sp>
        <p:nvSpPr>
          <p:cNvPr id="87" name="Google Shape;87;p16"/>
          <p:cNvSpPr/>
          <p:nvPr/>
        </p:nvSpPr>
        <p:spPr>
          <a:xfrm>
            <a:off x="416375" y="4398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HISTORIA CLÍNICA</a:t>
            </a:r>
            <a:endParaRPr sz="1000"/>
          </a:p>
        </p:txBody>
      </p:sp>
      <p:sp>
        <p:nvSpPr>
          <p:cNvPr id="88" name="Google Shape;88;p16"/>
          <p:cNvSpPr/>
          <p:nvPr/>
        </p:nvSpPr>
        <p:spPr>
          <a:xfrm>
            <a:off x="2986538" y="2678751"/>
            <a:ext cx="1225383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A DISTANCIA </a:t>
            </a:r>
            <a:endParaRPr sz="900"/>
          </a:p>
        </p:txBody>
      </p:sp>
      <p:sp>
        <p:nvSpPr>
          <p:cNvPr id="89" name="Google Shape;89;p16"/>
          <p:cNvSpPr/>
          <p:nvPr/>
        </p:nvSpPr>
        <p:spPr>
          <a:xfrm>
            <a:off x="2912787" y="3535863"/>
            <a:ext cx="1372882" cy="18243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900">
                <a:latin typeface="Calibri"/>
                <a:ea typeface="Calibri"/>
                <a:cs typeface="Calibri"/>
                <a:sym typeface="Calibri"/>
              </a:rPr>
              <a:t>EXAMEN FÍSICO GENERAL </a:t>
            </a:r>
            <a:endParaRPr sz="900"/>
          </a:p>
        </p:txBody>
      </p:sp>
      <p:sp>
        <p:nvSpPr>
          <p:cNvPr id="90" name="Google Shape;90;p16"/>
          <p:cNvSpPr/>
          <p:nvPr/>
        </p:nvSpPr>
        <p:spPr>
          <a:xfrm>
            <a:off x="2952513" y="4361100"/>
            <a:ext cx="1293459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800">
                <a:latin typeface="Calibri"/>
                <a:ea typeface="Calibri"/>
                <a:cs typeface="Calibri"/>
                <a:sym typeface="Calibri"/>
              </a:rPr>
              <a:t>EXAMEN FÍSICO ESPECIAL </a:t>
            </a:r>
            <a:endParaRPr sz="800"/>
          </a:p>
        </p:txBody>
      </p:sp>
      <p:sp>
        <p:nvSpPr>
          <p:cNvPr id="91" name="Google Shape;91;p16"/>
          <p:cNvSpPr/>
          <p:nvPr/>
        </p:nvSpPr>
        <p:spPr>
          <a:xfrm>
            <a:off x="489275" y="38612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ANAMNESIS</a:t>
            </a:r>
            <a:endParaRPr sz="1000"/>
          </a:p>
        </p:txBody>
      </p:sp>
      <p:sp>
        <p:nvSpPr>
          <p:cNvPr id="92" name="Google Shape;92;p16"/>
          <p:cNvSpPr/>
          <p:nvPr/>
        </p:nvSpPr>
        <p:spPr>
          <a:xfrm>
            <a:off x="489275" y="2651975"/>
            <a:ext cx="990896" cy="21431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RESEÑA </a:t>
            </a:r>
            <a:endParaRPr sz="1000"/>
          </a:p>
        </p:txBody>
      </p:sp>
      <p:sp>
        <p:nvSpPr>
          <p:cNvPr id="93" name="Google Shape;93;p16"/>
          <p:cNvSpPr/>
          <p:nvPr/>
        </p:nvSpPr>
        <p:spPr>
          <a:xfrm>
            <a:off x="3077975" y="212346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EXPLORACIÓN</a:t>
            </a:r>
            <a:endParaRPr sz="1000"/>
          </a:p>
        </p:txBody>
      </p:sp>
      <p:sp>
        <p:nvSpPr>
          <p:cNvPr id="94" name="Google Shape;94;p16"/>
          <p:cNvSpPr/>
          <p:nvPr/>
        </p:nvSpPr>
        <p:spPr>
          <a:xfrm>
            <a:off x="2951676" y="2514375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63475" y="21115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58">
                <a:latin typeface="Calibri"/>
                <a:ea typeface="Calibri"/>
                <a:cs typeface="Calibri"/>
                <a:sym typeface="Calibri"/>
              </a:rPr>
              <a:t>INTERROGATORIO </a:t>
            </a:r>
            <a:endParaRPr sz="658"/>
          </a:p>
        </p:txBody>
      </p:sp>
      <p:sp>
        <p:nvSpPr>
          <p:cNvPr id="96" name="Google Shape;96;p16"/>
          <p:cNvSpPr/>
          <p:nvPr/>
        </p:nvSpPr>
        <p:spPr>
          <a:xfrm>
            <a:off x="337163" y="2502413"/>
            <a:ext cx="12951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24400" y="1034875"/>
            <a:ext cx="4109700" cy="64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Acomoda </a:t>
            </a:r>
            <a:r>
              <a:rPr lang="es" sz="1500">
                <a:solidFill>
                  <a:schemeClr val="dk2"/>
                </a:solidFill>
              </a:rPr>
              <a:t>en orden secuencial los aspectos del interrogatorio y de la exploración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572001" y="2643812"/>
            <a:ext cx="4320000" cy="70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¡Bien hecho! el abordaje estructurado en el orden correcto te orienta a llegar a un mejor diagnóstico y resolución del problema. </a:t>
            </a:r>
            <a:endParaRPr sz="1534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685881" y="3519851"/>
            <a:ext cx="4206000" cy="1128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7950" lIns="77950" spcFirstLastPara="1" rIns="77950" wrap="square" tIns="779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 sz="11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193">
                <a:latin typeface="Times New Roman"/>
                <a:ea typeface="Times New Roman"/>
                <a:cs typeface="Times New Roman"/>
                <a:sym typeface="Times New Roman"/>
              </a:rPr>
              <a:t>¡Ups! revisa con detenimiento  tu respuesta. Recuerda: un expediente clínico impreciso y desordenado puede causar confusión, pérdida de tiempo y de recursos. </a:t>
            </a:r>
            <a:endParaRPr sz="119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4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565575"/>
            <a:ext cx="368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Reseña </a:t>
            </a:r>
            <a:endParaRPr sz="3500"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902525" y="1174675"/>
            <a:ext cx="2182800" cy="33795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Especie:  Ovino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Raza: Dorset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Sexo:  Macho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Estado fisiológico: Crecimiento/Desarrollo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Edad: 4 Meses 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Función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zootécnica</a:t>
            </a: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:  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ID: 4042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latin typeface="Times New Roman"/>
                <a:ea typeface="Times New Roman"/>
                <a:cs typeface="Times New Roman"/>
                <a:sym typeface="Times New Roman"/>
              </a:rPr>
              <a:t>Nombre: N R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085325" y="1654075"/>
            <a:ext cx="2077500" cy="2900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Productor: Maria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tel. contacto:  722-725-1924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irección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Acres#230, San Miguel Topilejo, Tlalpan, CDMX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Correo 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electrónico</a:t>
            </a: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:  Lanitas230@correo.com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202025"/>
            <a:ext cx="43290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Esta vez, te llama una productora de ovinos de la raza Dorset porque tiene un pequeño lote de corderos que no están ganando peso, tienen el pelo feo y nota que no tienen la misma </a:t>
            </a:r>
            <a:r>
              <a:rPr lang="es"/>
              <a:t>energía</a:t>
            </a:r>
            <a:r>
              <a:rPr lang="es"/>
              <a:t> que los </a:t>
            </a:r>
            <a:r>
              <a:rPr lang="es"/>
              <a:t>demás</a:t>
            </a:r>
            <a:r>
              <a:rPr lang="es"/>
              <a:t>. 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311700" y="306075"/>
            <a:ext cx="510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Motivo de consulta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5416500" y="1202025"/>
            <a:ext cx="3425700" cy="25443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8" title="IMG-20260404-WA00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850" y="1061822"/>
            <a:ext cx="3826352" cy="286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445025"/>
            <a:ext cx="479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Anamnesis </a:t>
            </a:r>
            <a:endParaRPr sz="3500"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602750" y="1351625"/>
            <a:ext cx="47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productor habla contigo y te comenta que de unas semanas para acá </a:t>
            </a:r>
            <a:r>
              <a:rPr lang="es"/>
              <a:t>nota que </a:t>
            </a:r>
            <a:r>
              <a:rPr lang="es"/>
              <a:t>sus corderos no crecen ni ganan peso, que el cree que </a:t>
            </a:r>
            <a:r>
              <a:rPr lang="es"/>
              <a:t>están</a:t>
            </a:r>
            <a:r>
              <a:rPr lang="es"/>
              <a:t> comiendo normal, refiere que  no presentan tos, moco, o diarrea. Refiere que todo </a:t>
            </a:r>
            <a:r>
              <a:rPr lang="es"/>
              <a:t>está</a:t>
            </a:r>
            <a:r>
              <a:rPr lang="es"/>
              <a:t> normal  a </a:t>
            </a:r>
            <a:r>
              <a:rPr lang="es"/>
              <a:t>excepción</a:t>
            </a:r>
            <a:r>
              <a:rPr lang="es"/>
              <a:t> de que no crecen y los ve muy flacos.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Refiere que no se les ha administrado </a:t>
            </a:r>
            <a:r>
              <a:rPr lang="es"/>
              <a:t>ningún</a:t>
            </a:r>
            <a:r>
              <a:rPr lang="es"/>
              <a:t> tratamiento y que es el unico lote de corderos que lo presenta a pesar de que todos comen lo mismo. 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5624925" y="1640800"/>
            <a:ext cx="3207400" cy="2838050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9" title="IMG-20260404-WA006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925" y="1771937"/>
            <a:ext cx="3434376" cy="257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Anamnesis</a:t>
            </a:r>
            <a:endParaRPr/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</a:t>
                      </a:r>
                      <a:r>
                        <a:rPr lang="es"/>
                        <a:t>clínicas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0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anamnesis con relación al corderito 4063?</a:t>
            </a:r>
            <a:endParaRPr sz="2420"/>
          </a:p>
        </p:txBody>
      </p:sp>
      <p:sp>
        <p:nvSpPr>
          <p:cNvPr id="130" name="Google Shape;130;p20"/>
          <p:cNvSpPr/>
          <p:nvPr/>
        </p:nvSpPr>
        <p:spPr>
          <a:xfrm>
            <a:off x="5225850" y="20002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4572000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los factores de riesgo son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ambiente o del paciente mismo que predisponen la manifestación de enfermedad.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ojo: su presencia no implica la enfermedad.</a:t>
            </a:r>
            <a:r>
              <a:rPr lang="es"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98975" y="3607100"/>
            <a:ext cx="4265100" cy="1401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b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como ya sabemos, la anamnesis es un relato detallado del motivo de consulta, por lo que encontramos sólo </a:t>
            </a:r>
            <a:r>
              <a:rPr lang="es" u="sng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manifestaciones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clínicas del paciente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</a:t>
            </a:r>
            <a:r>
              <a:rPr lang="es" sz="3500"/>
              <a:t>clínica</a:t>
            </a:r>
            <a:r>
              <a:rPr lang="es" sz="3500"/>
              <a:t> </a:t>
            </a:r>
            <a:endParaRPr sz="3500"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152475"/>
            <a:ext cx="82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 trata de una unidad de </a:t>
            </a:r>
            <a:r>
              <a:rPr lang="es">
                <a:solidFill>
                  <a:schemeClr val="dk1"/>
                </a:solidFill>
              </a:rPr>
              <a:t>producción</a:t>
            </a:r>
            <a:r>
              <a:rPr lang="es">
                <a:solidFill>
                  <a:schemeClr val="dk1"/>
                </a:solidFill>
              </a:rPr>
              <a:t> pequeña con aproximadamente 100 ejemplares, todos de la raza dorset, ubicada en el pueblo de San Miguel Topilejo en la alcaldía Tlalpan en la Ciudad de México, se dedican principalmente a la </a:t>
            </a:r>
            <a:r>
              <a:rPr lang="es">
                <a:solidFill>
                  <a:schemeClr val="dk1"/>
                </a:solidFill>
              </a:rPr>
              <a:t>producción</a:t>
            </a:r>
            <a:r>
              <a:rPr lang="es">
                <a:solidFill>
                  <a:schemeClr val="dk1"/>
                </a:solidFill>
              </a:rPr>
              <a:t> de leche y queso pero </a:t>
            </a:r>
            <a:r>
              <a:rPr lang="es">
                <a:solidFill>
                  <a:schemeClr val="dk1"/>
                </a:solidFill>
              </a:rPr>
              <a:t>también</a:t>
            </a:r>
            <a:r>
              <a:rPr lang="es">
                <a:solidFill>
                  <a:schemeClr val="dk1"/>
                </a:solidFill>
              </a:rPr>
              <a:t> producen carne y lana. es una unidad familiar con un sistema semi intensivo alternando pastoreo con </a:t>
            </a:r>
            <a:r>
              <a:rPr lang="es">
                <a:solidFill>
                  <a:schemeClr val="dk1"/>
                </a:solidFill>
              </a:rPr>
              <a:t>estabulación</a:t>
            </a:r>
            <a:r>
              <a:rPr lang="es">
                <a:solidFill>
                  <a:schemeClr val="dk1"/>
                </a:solidFill>
              </a:rPr>
              <a:t> y semitecnificado con una infraestructura </a:t>
            </a:r>
            <a:r>
              <a:rPr lang="es">
                <a:solidFill>
                  <a:schemeClr val="dk1"/>
                </a:solidFill>
              </a:rPr>
              <a:t>básica</a:t>
            </a:r>
            <a:r>
              <a:rPr lang="es">
                <a:solidFill>
                  <a:schemeClr val="dk1"/>
                </a:solidFill>
              </a:rPr>
              <a:t> para manejos de medicina preventiva y de </a:t>
            </a:r>
            <a:r>
              <a:rPr lang="es">
                <a:solidFill>
                  <a:schemeClr val="dk1"/>
                </a:solidFill>
              </a:rPr>
              <a:t>producción. Este lote de corderos nacidos hace 4 meses aproximadamente se encuentra separado de los adultos pero comparten corral con otros corderos más grandes de edad. Refiere que se alimentan del pasto que crece en  la región y se complementan con concentrado en el corral administrado en comederos improvisados con tambos de plastico. Refiere que solo se han desparasitado con Albendazol.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Historia clínica </a:t>
            </a:r>
            <a:endParaRPr sz="3500"/>
          </a:p>
        </p:txBody>
      </p:sp>
      <p:graphicFrame>
        <p:nvGraphicFramePr>
          <p:cNvPr id="144" name="Google Shape;144;p22"/>
          <p:cNvGraphicFramePr/>
          <p:nvPr/>
        </p:nvGraphicFramePr>
        <p:xfrm>
          <a:off x="311865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016125"/>
                <a:gridCol w="68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Manifestaciones clínicas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Factores de riesgo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Ambos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" name="Google Shape;145;p22"/>
          <p:cNvSpPr/>
          <p:nvPr/>
        </p:nvSpPr>
        <p:spPr>
          <a:xfrm>
            <a:off x="5134775" y="25711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98975" y="1222650"/>
            <a:ext cx="8738100" cy="5727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solidFill>
                  <a:schemeClr val="dk2"/>
                </a:solidFill>
              </a:rPr>
              <a:t>¿Qué tipo de datos encuentras dentro de la anamnesis con relación al corderito 4063?</a:t>
            </a:r>
            <a:endParaRPr sz="2420"/>
          </a:p>
        </p:txBody>
      </p:sp>
      <p:sp>
        <p:nvSpPr>
          <p:cNvPr id="147" name="Google Shape;147;p22"/>
          <p:cNvSpPr txBox="1"/>
          <p:nvPr/>
        </p:nvSpPr>
        <p:spPr>
          <a:xfrm>
            <a:off x="0" y="2258025"/>
            <a:ext cx="2698800" cy="2491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¡Perfecto! los factores de riesgo son condiciones ambientales o de manejo que predisponen al animal a enfermarse, disminuir su producción o la muerte.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Un factor de riesgo podría ser la mala calidad del forraje.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138300" y="2258025"/>
            <a:ext cx="2698800" cy="2491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 revisa bien. Las manifestaciones clínicas son signos y síntomas observables y medibles. 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graphicFrame>
        <p:nvGraphicFramePr>
          <p:cNvPr id="154" name="Google Shape;154;p23"/>
          <p:cNvGraphicFramePr/>
          <p:nvPr/>
        </p:nvGraphicFramePr>
        <p:xfrm>
          <a:off x="4902600" y="238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413000"/>
                <a:gridCol w="900200"/>
                <a:gridCol w="844175"/>
              </a:tblGrid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baja ganancia de peso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Corrales Heterogéneos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pelo hirsuto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letárgico</a:t>
                      </a:r>
                      <a:r>
                        <a:rPr lang="es"/>
                        <a:t>??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pastoreo no controlado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precaria medicina preventiva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retraso en el crecimiento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comederos reciclados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1011325" y="360417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retroalimentacion incorrecta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142500" y="2226300"/>
            <a:ext cx="4137900" cy="1699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Retroalimentación correcta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¡Muy bien! Ahora tienes claro la diferencia entre manifestaciones clínicas y factores de riesgo.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/>
              <a:t>Tip: Recuerda que en el pastoreo aumenta la incidencia de ectoparásitos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452275" y="4069950"/>
            <a:ext cx="4224600" cy="1049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Retroalimentación incorrecta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¡Ups! </a:t>
            </a:r>
            <a:r>
              <a:rPr lang="es"/>
              <a:t>Revisa de nuevo los datos plasmados en la reseña, anamnesis e historia clínica.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37375" y="93800"/>
            <a:ext cx="433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2"/>
                </a:solidFill>
              </a:rPr>
              <a:t>Historia clínica </a:t>
            </a:r>
            <a:endParaRPr b="1" sz="3500">
              <a:solidFill>
                <a:schemeClr val="dk2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99150" y="788850"/>
            <a:ext cx="4224600" cy="12930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Identifica los factores de riesgo y las manifestaciones clínicas.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MC= manifestación clínica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FR= factor de riesgo 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65" name="Google Shape;165;p24"/>
          <p:cNvGraphicFramePr/>
          <p:nvPr/>
        </p:nvGraphicFramePr>
        <p:xfrm>
          <a:off x="4902600" y="22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413000"/>
                <a:gridCol w="900200"/>
                <a:gridCol w="844175"/>
              </a:tblGrid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baja ganancia de peso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Corrales Heterogéneos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pelo hirsuto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letárgia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pastoreo no controlado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precaria medicina preventiva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retraso en el crecimiento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comederos reciclados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364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Examen físico general </a:t>
            </a:r>
            <a:endParaRPr sz="3500"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961025" y="1152475"/>
            <a:ext cx="4871400" cy="34164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Decides acudir a la unidad de </a:t>
            </a:r>
            <a:r>
              <a:rPr lang="es"/>
              <a:t>producción</a:t>
            </a:r>
            <a:r>
              <a:rPr lang="es"/>
              <a:t> debido a la cercanía contigo, al llegar inmediatamente te llevan al corral de los corderos que ya </a:t>
            </a:r>
            <a:r>
              <a:rPr lang="es"/>
              <a:t>están</a:t>
            </a:r>
            <a:r>
              <a:rPr lang="es"/>
              <a:t> destetados, consumiendo alimento concentrado y forraje.: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animal se encuentra alerta y no responsivo, tiene mucosas ligeramente </a:t>
            </a:r>
            <a:r>
              <a:rPr lang="es"/>
              <a:t>pálidas</a:t>
            </a:r>
            <a:r>
              <a:rPr lang="es"/>
              <a:t>, y </a:t>
            </a:r>
            <a:r>
              <a:rPr lang="es"/>
              <a:t>húmedas</a:t>
            </a:r>
            <a:r>
              <a:rPr lang="es"/>
              <a:t>, </a:t>
            </a:r>
            <a:r>
              <a:rPr lang="es"/>
              <a:t>condición</a:t>
            </a:r>
            <a:r>
              <a:rPr lang="es"/>
              <a:t> corporal de 1.5/5, pelo hirsuto,  temperatura de 38.9°C, una FC de 96 lpm, una FR de 42 rpm,  </a:t>
            </a:r>
            <a:r>
              <a:rPr lang="es"/>
              <a:t>hipotonía</a:t>
            </a:r>
            <a:r>
              <a:rPr lang="es"/>
              <a:t> ruminal. Observando el lugar te das cuenta que hay 2 tonos de estiércol en el piso: uno más oscuro y uno más grisáceo  </a:t>
            </a:r>
            <a:endParaRPr/>
          </a:p>
        </p:txBody>
      </p:sp>
      <p:graphicFrame>
        <p:nvGraphicFramePr>
          <p:cNvPr id="172" name="Google Shape;172;p25"/>
          <p:cNvGraphicFramePr/>
          <p:nvPr/>
        </p:nvGraphicFramePr>
        <p:xfrm>
          <a:off x="311700" y="161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1730375"/>
                <a:gridCol w="1730375"/>
              </a:tblGrid>
              <a:tr h="59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ndicador fisiológico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allazgo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cardíaca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temperatura rectal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38.9 °C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frecuencia respiratoria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 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rpm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57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movimientos ruminales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1-2</a:t>
                      </a:r>
                      <a:r>
                        <a:rPr lang="e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/ 2 min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Manifestaciones de enfermedad </a:t>
            </a:r>
            <a:endParaRPr sz="3500"/>
          </a:p>
        </p:txBody>
      </p:sp>
      <p:sp>
        <p:nvSpPr>
          <p:cNvPr id="178" name="Google Shape;178;p26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Selecciona los datos que consideres son una manifestación de enfermedad recabados en el EFG</a:t>
            </a:r>
            <a:endParaRPr sz="1620"/>
          </a:p>
        </p:txBody>
      </p:sp>
      <p:graphicFrame>
        <p:nvGraphicFramePr>
          <p:cNvPr id="179" name="Google Shape;179;p26"/>
          <p:cNvGraphicFramePr/>
          <p:nvPr/>
        </p:nvGraphicFramePr>
        <p:xfrm>
          <a:off x="209175" y="253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Temperatura de 38.9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Pelo hirsuto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Heces grisáceas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Letargia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42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retraso en el crecimiento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 corporal 1.5/5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Mucosas ligeramente 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96 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0" name="Google Shape;180;p26" title="IMG-20260404-WA006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525" y="2462875"/>
            <a:ext cx="3401700" cy="25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2991400" y="7475"/>
            <a:ext cx="5682900" cy="11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M</a:t>
            </a:r>
            <a:r>
              <a:rPr lang="es" sz="3500"/>
              <a:t>anifestaciones de enfermedad </a:t>
            </a:r>
            <a:endParaRPr sz="3500"/>
          </a:p>
        </p:txBody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3271550" y="1323525"/>
            <a:ext cx="5928600" cy="9639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/>
              <a:t>S</a:t>
            </a:r>
            <a:r>
              <a:rPr lang="es" sz="1620"/>
              <a:t>elecciona los datos que consideres son una </a:t>
            </a:r>
            <a:r>
              <a:rPr lang="es" sz="1620"/>
              <a:t>manifestación</a:t>
            </a:r>
            <a:r>
              <a:rPr lang="es" sz="1620"/>
              <a:t> de enfermedad </a:t>
            </a:r>
            <a:endParaRPr sz="1620"/>
          </a:p>
        </p:txBody>
      </p:sp>
      <p:graphicFrame>
        <p:nvGraphicFramePr>
          <p:cNvPr id="187" name="Google Shape;187;p27"/>
          <p:cNvGraphicFramePr/>
          <p:nvPr/>
        </p:nvGraphicFramePr>
        <p:xfrm>
          <a:off x="209175" y="253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047075"/>
                <a:gridCol w="735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</a:t>
                      </a:r>
                      <a:r>
                        <a:rPr lang="es" sz="1200"/>
                        <a:t>emperatura de 38.9 °C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Pelo hirsuto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Heces grisáceas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Letargia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FR: 42 rpm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retraso en el crecimiento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condición</a:t>
                      </a:r>
                      <a:r>
                        <a:rPr lang="es" sz="1200"/>
                        <a:t> corporal 1.5/5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Hiporexia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lang="es" sz="1200">
                          <a:solidFill>
                            <a:schemeClr val="dk1"/>
                          </a:solidFill>
                        </a:rPr>
                        <a:t>ucosas ligeramente  pálidas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hipotonía ruminal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FC: 96  lpm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" name="Google Shape;188;p27"/>
          <p:cNvSpPr/>
          <p:nvPr/>
        </p:nvSpPr>
        <p:spPr>
          <a:xfrm>
            <a:off x="2361500" y="7553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2361500" y="11480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2361500" y="1411711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2361500" y="22874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2361500" y="26003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2361500" y="306923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2361500" y="4052686"/>
            <a:ext cx="503100" cy="260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3868400" y="2234625"/>
            <a:ext cx="4987800" cy="1393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¡Bien! Has detectado correctamente las principales manifestaciones de enfermedad. 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En rumiantes el manejo del  periodo de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transición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clave para un buen funcionamiento ruminal.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3868400" y="3735100"/>
            <a:ext cx="4987800" cy="788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79525" lIns="79525" spcFirstLastPara="1" rIns="79525" wrap="square" tIns="795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66">
                <a:solidFill>
                  <a:srgbClr val="595959"/>
                </a:solidFill>
              </a:rPr>
              <a:t>retroalimentación incorrecta</a:t>
            </a:r>
            <a:endParaRPr sz="1566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4"/>
              </a:spcBef>
              <a:spcAft>
                <a:spcPts val="1044"/>
              </a:spcAft>
              <a:buNone/>
            </a:pPr>
            <a:r>
              <a:rPr lang="es" sz="1566">
                <a:solidFill>
                  <a:srgbClr val="595959"/>
                </a:solidFill>
              </a:rPr>
              <a:t>¡Ups! revisa con detenimiento la información recabada del EFG para determinar datos que representen enfermedad. </a:t>
            </a:r>
            <a:endParaRPr sz="1566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4450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</a:t>
            </a:r>
            <a:r>
              <a:rPr lang="es"/>
              <a:t>más</a:t>
            </a:r>
            <a:r>
              <a:rPr lang="es"/>
              <a:t> amplio y complementar el proceso </a:t>
            </a:r>
            <a:r>
              <a:rPr lang="es"/>
              <a:t>diagnóstico</a:t>
            </a:r>
            <a:r>
              <a:rPr lang="es"/>
              <a:t> decides apoyarte con pruebas de laboratorio de diagnóstico clínico especializado en medicina veterinaria. </a:t>
            </a:r>
            <a:endParaRPr/>
          </a:p>
        </p:txBody>
      </p:sp>
      <p:graphicFrame>
        <p:nvGraphicFramePr>
          <p:cNvPr id="203" name="Google Shape;203;p28"/>
          <p:cNvGraphicFramePr/>
          <p:nvPr/>
        </p:nvGraphicFramePr>
        <p:xfrm>
          <a:off x="190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estiércol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con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líquido</a:t>
                      </a:r>
                      <a:r>
                        <a:rPr lang="es"/>
                        <a:t> ruminal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" name="Google Shape;204;p28"/>
          <p:cNvSpPr txBox="1"/>
          <p:nvPr/>
        </p:nvSpPr>
        <p:spPr>
          <a:xfrm>
            <a:off x="599250" y="1648775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4880726" y="267002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Urianálisis</a:t>
            </a:r>
            <a:endParaRPr sz="1372"/>
          </a:p>
        </p:txBody>
      </p:sp>
      <p:sp>
        <p:nvSpPr>
          <p:cNvPr id="206" name="Google Shape;206;p28"/>
          <p:cNvSpPr/>
          <p:nvPr/>
        </p:nvSpPr>
        <p:spPr>
          <a:xfrm>
            <a:off x="4880726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Biometría hemática </a:t>
            </a:r>
            <a:endParaRPr sz="1372"/>
          </a:p>
        </p:txBody>
      </p:sp>
      <p:sp>
        <p:nvSpPr>
          <p:cNvPr id="207" name="Google Shape;207;p28"/>
          <p:cNvSpPr/>
          <p:nvPr/>
        </p:nvSpPr>
        <p:spPr>
          <a:xfrm>
            <a:off x="4880726" y="417957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 coprológico </a:t>
            </a:r>
            <a:endParaRPr sz="1372"/>
          </a:p>
        </p:txBody>
      </p:sp>
      <p:sp>
        <p:nvSpPr>
          <p:cNvPr id="208" name="Google Shape;208;p28"/>
          <p:cNvSpPr/>
          <p:nvPr/>
        </p:nvSpPr>
        <p:spPr>
          <a:xfrm>
            <a:off x="6820702" y="34584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 bacteriológico </a:t>
            </a:r>
            <a:endParaRPr sz="1372"/>
          </a:p>
        </p:txBody>
      </p:sp>
      <p:sp>
        <p:nvSpPr>
          <p:cNvPr id="209" name="Google Shape;209;p28"/>
          <p:cNvSpPr/>
          <p:nvPr/>
        </p:nvSpPr>
        <p:spPr>
          <a:xfrm>
            <a:off x="6718411" y="4155284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Análisis de líquido ruminal </a:t>
            </a:r>
            <a:endParaRPr sz="1372"/>
          </a:p>
        </p:txBody>
      </p:sp>
      <p:sp>
        <p:nvSpPr>
          <p:cNvPr id="210" name="Google Shape;210;p28"/>
          <p:cNvSpPr/>
          <p:nvPr/>
        </p:nvSpPr>
        <p:spPr>
          <a:xfrm>
            <a:off x="6796602" y="2670027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52268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Perfil bioquímico</a:t>
            </a:r>
            <a:endParaRPr sz="1372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190475" y="0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4450750" y="218625"/>
            <a:ext cx="4381500" cy="18351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para obtener un panorama más amplio y complementar el proceso diagnóstico decides apoyarte con pruebas de laboratorio de diagnóstico clínico especializado en medicina veterinaria. </a:t>
            </a:r>
            <a:endParaRPr/>
          </a:p>
        </p:txBody>
      </p:sp>
      <p:sp>
        <p:nvSpPr>
          <p:cNvPr id="217" name="Google Shape;217;p29"/>
          <p:cNvSpPr txBox="1"/>
          <p:nvPr/>
        </p:nvSpPr>
        <p:spPr>
          <a:xfrm>
            <a:off x="478025" y="1203750"/>
            <a:ext cx="3564000" cy="78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coloca cada muestra en la prueba correspondiente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814650" y="2068332"/>
            <a:ext cx="42288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¡Bien hecho!  recuerda que cada muestra que envíes a laboratorio debe ser la correcta e ir debidamente identificada y conservada.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4859500" y="3668182"/>
            <a:ext cx="41391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con cuidado los datos y razona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 El 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líquido</a:t>
            </a: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ruminal lo puedes hacer en campo.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220" name="Google Shape;220;p29"/>
          <p:cNvGraphicFramePr/>
          <p:nvPr/>
        </p:nvGraphicFramePr>
        <p:xfrm>
          <a:off x="190475" y="210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190775"/>
                <a:gridCol w="2190775"/>
              </a:tblGrid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estiércol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coprológico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orina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Urianálisis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con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Biometría hemática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sangre en vacutainer sin anticoagulante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 Perfil </a:t>
                      </a:r>
                      <a:r>
                        <a:rPr lang="es"/>
                        <a:t>bioquímico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contenido ruminal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de </a:t>
                      </a:r>
                      <a:r>
                        <a:rPr lang="es"/>
                        <a:t>líquido</a:t>
                      </a:r>
                      <a:r>
                        <a:rPr lang="es"/>
                        <a:t> ruminal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30"/>
          <p:cNvGraphicFramePr/>
          <p:nvPr/>
        </p:nvGraphicFramePr>
        <p:xfrm>
          <a:off x="1780325" y="9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413000"/>
                <a:gridCol w="2413000"/>
                <a:gridCol w="2413000"/>
              </a:tblGrid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108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Analisis de liquido ruminal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Examen general de rina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 alteraciones relevantes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iometría hemática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Hipoalbuminemia por falta de aporte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Hipocreatininemia por pérdida de masa muscular 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incremento de GGT por actividad hepática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erfil bioquímico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Anemia ligera por disminución  en la producción por probable desnutrición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30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175625" y="112400"/>
            <a:ext cx="4139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Pruebas complementarias 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1" y="16907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patología clínica</a:t>
            </a:r>
            <a:endParaRPr sz="1372"/>
          </a:p>
        </p:txBody>
      </p:sp>
      <p:sp>
        <p:nvSpPr>
          <p:cNvPr id="229" name="Google Shape;229;p30"/>
          <p:cNvSpPr/>
          <p:nvPr/>
        </p:nvSpPr>
        <p:spPr>
          <a:xfrm>
            <a:off x="1" y="2314363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microbiología</a:t>
            </a:r>
            <a:endParaRPr sz="1372"/>
          </a:p>
        </p:txBody>
      </p:sp>
      <p:sp>
        <p:nvSpPr>
          <p:cNvPr id="230" name="Google Shape;230;p30"/>
          <p:cNvSpPr/>
          <p:nvPr/>
        </p:nvSpPr>
        <p:spPr>
          <a:xfrm>
            <a:off x="1" y="1067176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virología 	</a:t>
            </a:r>
            <a:endParaRPr sz="1372"/>
          </a:p>
        </p:txBody>
      </p:sp>
      <p:sp>
        <p:nvSpPr>
          <p:cNvPr id="231" name="Google Shape;231;p30"/>
          <p:cNvSpPr/>
          <p:nvPr/>
        </p:nvSpPr>
        <p:spPr>
          <a:xfrm>
            <a:off x="1" y="36705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parasitología </a:t>
            </a:r>
            <a:endParaRPr sz="1372"/>
          </a:p>
        </p:txBody>
      </p:sp>
      <p:sp>
        <p:nvSpPr>
          <p:cNvPr id="232" name="Google Shape;232;p30"/>
          <p:cNvSpPr/>
          <p:nvPr/>
        </p:nvSpPr>
        <p:spPr>
          <a:xfrm>
            <a:off x="1" y="4294088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de histología </a:t>
            </a:r>
            <a:endParaRPr sz="1372"/>
          </a:p>
        </p:txBody>
      </p:sp>
      <p:sp>
        <p:nvSpPr>
          <p:cNvPr id="233" name="Google Shape;233;p30"/>
          <p:cNvSpPr/>
          <p:nvPr/>
        </p:nvSpPr>
        <p:spPr>
          <a:xfrm>
            <a:off x="1" y="3046901"/>
            <a:ext cx="1728395" cy="51482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Laboratorio 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patología</a:t>
            </a:r>
            <a:r>
              <a:rPr lang="es" sz="1372">
                <a:latin typeface="Calibri"/>
                <a:ea typeface="Calibri"/>
                <a:cs typeface="Calibri"/>
                <a:sym typeface="Calibri"/>
              </a:rPr>
              <a:t> diagnóstica	</a:t>
            </a:r>
            <a:endParaRPr sz="1372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>
            <a:off x="4314725" y="112400"/>
            <a:ext cx="47046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en su lugar cada área del laboratorio de diagnóstico veterinario.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 rot="-806459">
            <a:off x="175686" y="112399"/>
            <a:ext cx="4139070" cy="11816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Pruebas complementarias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130825" y="1725150"/>
            <a:ext cx="3031800" cy="1231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etroalimentación correcta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El objetivo de estos estudios es complementar la información obtenida para con ello establecer los posibles diagnósticos.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75675" y="3451675"/>
            <a:ext cx="2987100" cy="1293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etroalimentación incorrecta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recuerda que las pruebas de laboratorio complementan el diagnóstico para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confirmar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descartar</a:t>
            </a: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Revisa muy bien y con detenimiento la prueba solicitada y el resultado. </a:t>
            </a:r>
            <a:endParaRPr sz="1200">
              <a:solidFill>
                <a:srgbClr val="595959"/>
              </a:solidFill>
            </a:endParaRPr>
          </a:p>
        </p:txBody>
      </p:sp>
      <p:graphicFrame>
        <p:nvGraphicFramePr>
          <p:cNvPr id="242" name="Google Shape;242;p31"/>
          <p:cNvGraphicFramePr/>
          <p:nvPr/>
        </p:nvGraphicFramePr>
        <p:xfrm>
          <a:off x="4023200" y="85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1664625"/>
                <a:gridCol w="1800675"/>
                <a:gridCol w="1589750"/>
              </a:tblGrid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Área del laboratorio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Prueba diagnóstica solicitada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Resultado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108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Analisis de liquido ruminal ???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se hizo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  pongo datos inventados?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73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Examen general de orina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 alteraciones relevantes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Laboratorio de patología clínica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Biometría hemática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Hipoalbuminemia por falta de aporte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Hipocreatininemia por pérdida de masa muscular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incremento de GGT por actividad hepática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4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Perfil bioquímico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Anemia ligera por disminución  en la </a:t>
                      </a: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producción</a:t>
                      </a:r>
                      <a:r>
                        <a:rPr lang="e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por probable desnutrición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2" title="IMG-20260404-WA01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376025" y="1796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</a:t>
            </a:r>
            <a:r>
              <a:rPr lang="es" sz="3500"/>
              <a:t>ruebas complementarias </a:t>
            </a:r>
            <a:endParaRPr sz="3500"/>
          </a:p>
        </p:txBody>
      </p:sp>
      <p:sp>
        <p:nvSpPr>
          <p:cNvPr id="253" name="Google Shape;253;p33"/>
          <p:cNvSpPr txBox="1"/>
          <p:nvPr/>
        </p:nvSpPr>
        <p:spPr>
          <a:xfrm>
            <a:off x="376025" y="1767725"/>
            <a:ext cx="1950900" cy="184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</a:t>
            </a:r>
            <a:r>
              <a:rPr lang="es" sz="1800">
                <a:solidFill>
                  <a:schemeClr val="dk2"/>
                </a:solidFill>
              </a:rPr>
              <a:t>continuación</a:t>
            </a:r>
            <a:r>
              <a:rPr lang="es" sz="1800">
                <a:solidFill>
                  <a:schemeClr val="dk2"/>
                </a:solidFill>
              </a:rPr>
              <a:t> el resultado de la biometría hemática.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4" name="Google Shape;254;p33" title="HGOvino40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762" y="179625"/>
            <a:ext cx="3488845" cy="383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 title="HG1Ovino4042.png"/>
          <p:cNvPicPr preferRelativeResize="0"/>
          <p:nvPr/>
        </p:nvPicPr>
        <p:blipFill rotWithShape="1">
          <a:blip r:embed="rId4">
            <a:alphaModFix/>
          </a:blip>
          <a:srcRect b="29309" l="0" r="13748" t="0"/>
          <a:stretch/>
        </p:blipFill>
        <p:spPr>
          <a:xfrm>
            <a:off x="4572000" y="4016525"/>
            <a:ext cx="3968175" cy="80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3" title="HG2Ovino40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9325" y="1407256"/>
            <a:ext cx="2092675" cy="339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376025" y="179625"/>
            <a:ext cx="4139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/>
              <a:t>Pruebas complementarias </a:t>
            </a:r>
            <a:endParaRPr sz="3500"/>
          </a:p>
        </p:txBody>
      </p:sp>
      <p:sp>
        <p:nvSpPr>
          <p:cNvPr id="262" name="Google Shape;262;p34"/>
          <p:cNvSpPr txBox="1"/>
          <p:nvPr/>
        </p:nvSpPr>
        <p:spPr>
          <a:xfrm>
            <a:off x="376025" y="1767725"/>
            <a:ext cx="1950900" cy="1569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continuación el resultado del perfil bioquímico.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3" name="Google Shape;263;p34" title="BQOvino40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3525" y="152400"/>
            <a:ext cx="3298075" cy="402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 title="BQ1Ovino40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25" y="3514875"/>
            <a:ext cx="5438101" cy="14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35"/>
          <p:cNvGraphicFramePr/>
          <p:nvPr/>
        </p:nvGraphicFramePr>
        <p:xfrm>
          <a:off x="5384800" y="76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</a:t>
                      </a:r>
                      <a:r>
                        <a:rPr lang="es" sz="1000"/>
                        <a:t>condición</a:t>
                      </a:r>
                      <a:r>
                        <a:rPr lang="es" sz="1000"/>
                        <a:t>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</a:t>
                      </a:r>
                      <a:r>
                        <a:rPr lang="es" sz="1000"/>
                        <a:t>tonía</a:t>
                      </a:r>
                      <a:r>
                        <a:rPr lang="es" sz="1000"/>
                        <a:t> </a:t>
                      </a:r>
                      <a:r>
                        <a:rPr lang="es" sz="1000"/>
                        <a:t>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Deshidratación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35"/>
          <p:cNvSpPr txBox="1"/>
          <p:nvPr/>
        </p:nvSpPr>
        <p:spPr>
          <a:xfrm>
            <a:off x="311700" y="445025"/>
            <a:ext cx="478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 Lista de problemas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02425" y="1371150"/>
            <a:ext cx="4479000" cy="2124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La lista de problemas consiste en una relación de números arábigos de cada uno de los problemas que el paciente presenta o ha presentado que NO se llevan un orden de importancia aparente.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se recomienda organizar los problemas desde la reseña hasta el EFG.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Google Shape;276;p36"/>
          <p:cNvGraphicFramePr/>
          <p:nvPr/>
        </p:nvGraphicFramePr>
        <p:xfrm>
          <a:off x="96625" y="9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2416550"/>
                <a:gridCol w="1765525"/>
              </a:tblGrid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inespecíficos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específicos 		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patognomónicos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clave		 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accidentales  		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complementarios </a:t>
                      </a:r>
                      <a:endParaRPr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36"/>
          <p:cNvSpPr/>
          <p:nvPr/>
        </p:nvSpPr>
        <p:spPr>
          <a:xfrm>
            <a:off x="4671763" y="1557151"/>
            <a:ext cx="1925061" cy="79526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signos que nos indican enfermedad  sin embargo no señalan un órgano específico afectado. </a:t>
            </a:r>
            <a:endParaRPr sz="137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4671775" y="3349020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hallazgos que dominan el caso y brindan un fuerte valor diagnóstico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4671763" y="2481133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que aparecen con el progreso de la enfermedad o se obtienen realizando pruebas complementarias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172225" y="1377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4853225" y="251725"/>
            <a:ext cx="34281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Relaciona cada categoría de signo con su descripción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7002400" y="1667287"/>
            <a:ext cx="1925061" cy="692539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 aquellos signos que nos guían a un sistema anatómico en concreto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7002400" y="3349020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signos exclusivos de una sola enfermedad y confirman el diagnóstico por sí mismos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7002400" y="2484833"/>
            <a:ext cx="1925061" cy="73918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4525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175" lIns="78550" spcFirstLastPara="1" rIns="78550" wrap="square" tIns="1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aquellos encontrados durante la exploración y que no tienen una relación directa con el problema actual del paciente </a:t>
            </a:r>
            <a:endParaRPr sz="1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96625" y="137775"/>
            <a:ext cx="311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 de problemas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 txBox="1"/>
          <p:nvPr/>
        </p:nvSpPr>
        <p:spPr>
          <a:xfrm>
            <a:off x="6758025" y="439550"/>
            <a:ext cx="2413800" cy="101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relaciona cada categoría de signo con su descripción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5683300" y="1689300"/>
            <a:ext cx="32052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lograste identificar correctamente las características de cada categoría en la clasificación de signos. ahora vamos a ubicar los hallazgos del caso en cada categoría.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5683300" y="3327400"/>
            <a:ext cx="3488400" cy="1323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Lee detenidamente cada definición. la clasificación de los signos es fundamental para el diagnóstico clínico.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293" name="Google Shape;293;p37"/>
          <p:cNvGraphicFramePr/>
          <p:nvPr/>
        </p:nvGraphicFramePr>
        <p:xfrm>
          <a:off x="247825" y="77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1271050"/>
                <a:gridCol w="3974425"/>
              </a:tblGrid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inespecíficos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signos que nos indican enfermedad  sin embargo no señalan un órgano específico afectado.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específicos 		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son aquellos signos que nos guían a un sistema anatómico en concreto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patognomónicos 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signos exclusivos de una sola enfermedad y confirman el diagnóstico por sí mismos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clave		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son aquellos hallazgos que dominan el caso y brindan un fuerte valor diagnóstico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accidentales  		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aquellos encontrados durante la exploración y que no tienen una relación directa con el problema actual del paciente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639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signos complementarios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200">
                          <a:solidFill>
                            <a:srgbClr val="59595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son aquellos que aparecen con el progreso de la enfermedad o se obtienen realizando pruebas complementarias </a:t>
                      </a:r>
                      <a:endParaRPr sz="120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/>
          <p:nvPr/>
        </p:nvSpPr>
        <p:spPr>
          <a:xfrm>
            <a:off x="124401" y="451349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3. Pelo hirsuto  </a:t>
            </a:r>
            <a:endParaRPr sz="1000"/>
          </a:p>
        </p:txBody>
      </p:sp>
      <p:sp>
        <p:nvSpPr>
          <p:cNvPr id="299" name="Google Shape;299;p38"/>
          <p:cNvSpPr/>
          <p:nvPr/>
        </p:nvSpPr>
        <p:spPr>
          <a:xfrm>
            <a:off x="124401" y="40630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2. Pobre condición corporal </a:t>
            </a:r>
            <a:endParaRPr sz="1000"/>
          </a:p>
        </p:txBody>
      </p:sp>
      <p:sp>
        <p:nvSpPr>
          <p:cNvPr id="300" name="Google Shape;300;p38"/>
          <p:cNvSpPr/>
          <p:nvPr/>
        </p:nvSpPr>
        <p:spPr>
          <a:xfrm>
            <a:off x="1756676" y="40630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5. Hiporexia </a:t>
            </a:r>
            <a:endParaRPr sz="1000"/>
          </a:p>
        </p:txBody>
      </p:sp>
      <p:sp>
        <p:nvSpPr>
          <p:cNvPr id="301" name="Google Shape;301;p38"/>
          <p:cNvSpPr/>
          <p:nvPr/>
        </p:nvSpPr>
        <p:spPr>
          <a:xfrm>
            <a:off x="1756676" y="45456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6. Mucosas ligeramente  pálidas </a:t>
            </a:r>
            <a:endParaRPr sz="1000"/>
          </a:p>
        </p:txBody>
      </p:sp>
      <p:sp>
        <p:nvSpPr>
          <p:cNvPr id="302" name="Google Shape;302;p38"/>
          <p:cNvSpPr/>
          <p:nvPr/>
        </p:nvSpPr>
        <p:spPr>
          <a:xfrm>
            <a:off x="3297464" y="363844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7. Heces grisáceas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3297464" y="4059257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/>
              <a:t>8. Hipotonía ruminal </a:t>
            </a:r>
            <a:endParaRPr sz="1000"/>
          </a:p>
        </p:txBody>
      </p:sp>
      <p:sp>
        <p:nvSpPr>
          <p:cNvPr id="304" name="Google Shape;304;p38"/>
          <p:cNvSpPr/>
          <p:nvPr/>
        </p:nvSpPr>
        <p:spPr>
          <a:xfrm>
            <a:off x="3297464" y="4578396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 Hipoproteinemia </a:t>
            </a:r>
            <a:endParaRPr sz="1000"/>
          </a:p>
        </p:txBody>
      </p:sp>
      <p:sp>
        <p:nvSpPr>
          <p:cNvPr id="305" name="Google Shape;305;p38"/>
          <p:cNvSpPr/>
          <p:nvPr/>
        </p:nvSpPr>
        <p:spPr>
          <a:xfrm>
            <a:off x="4838250" y="3605676"/>
            <a:ext cx="1512818" cy="57268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s" sz="1000">
                <a:solidFill>
                  <a:schemeClr val="dk1"/>
                </a:solidFill>
              </a:rPr>
              <a:t>Deshidratación</a:t>
            </a:r>
            <a:endParaRPr sz="1000"/>
          </a:p>
        </p:txBody>
      </p:sp>
      <p:sp>
        <p:nvSpPr>
          <p:cNvPr id="306" name="Google Shape;306;p38"/>
          <p:cNvSpPr/>
          <p:nvPr/>
        </p:nvSpPr>
        <p:spPr>
          <a:xfrm>
            <a:off x="1756676" y="35804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4. Letargia </a:t>
            </a:r>
            <a:endParaRPr sz="1000"/>
          </a:p>
        </p:txBody>
      </p:sp>
      <p:sp>
        <p:nvSpPr>
          <p:cNvPr id="307" name="Google Shape;307;p38"/>
          <p:cNvSpPr/>
          <p:nvPr/>
        </p:nvSpPr>
        <p:spPr>
          <a:xfrm>
            <a:off x="124401" y="3508619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-292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Retraso en el crecimiento </a:t>
            </a:r>
            <a:endParaRPr sz="1000"/>
          </a:p>
        </p:txBody>
      </p:sp>
      <p:sp>
        <p:nvSpPr>
          <p:cNvPr id="308" name="Google Shape;308;p38"/>
          <p:cNvSpPr/>
          <p:nvPr/>
        </p:nvSpPr>
        <p:spPr>
          <a:xfrm>
            <a:off x="193675" y="12688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clave</a:t>
            </a:r>
            <a:endParaRPr sz="1014"/>
          </a:p>
        </p:txBody>
      </p:sp>
      <p:sp>
        <p:nvSpPr>
          <p:cNvPr id="309" name="Google Shape;309;p38"/>
          <p:cNvSpPr/>
          <p:nvPr/>
        </p:nvSpPr>
        <p:spPr>
          <a:xfrm rot="-5400000">
            <a:off x="1827647" y="3516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3532625" y="126886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inespecíficos</a:t>
            </a:r>
            <a:endParaRPr sz="1014"/>
          </a:p>
        </p:txBody>
      </p:sp>
      <p:sp>
        <p:nvSpPr>
          <p:cNvPr id="311" name="Google Shape;311;p38"/>
          <p:cNvSpPr/>
          <p:nvPr/>
        </p:nvSpPr>
        <p:spPr>
          <a:xfrm rot="-5400000">
            <a:off x="5166597" y="351637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193675" y="25434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especificos</a:t>
            </a:r>
            <a:endParaRPr sz="1014"/>
          </a:p>
        </p:txBody>
      </p:sp>
      <p:sp>
        <p:nvSpPr>
          <p:cNvPr id="313" name="Google Shape;313;p38"/>
          <p:cNvSpPr/>
          <p:nvPr/>
        </p:nvSpPr>
        <p:spPr>
          <a:xfrm rot="-5400000">
            <a:off x="1827647" y="16262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3532625" y="2543504"/>
            <a:ext cx="1042500" cy="5727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 complementarios</a:t>
            </a:r>
            <a:endParaRPr sz="1014"/>
          </a:p>
        </p:txBody>
      </p:sp>
      <p:sp>
        <p:nvSpPr>
          <p:cNvPr id="315" name="Google Shape;315;p38"/>
          <p:cNvSpPr/>
          <p:nvPr/>
        </p:nvSpPr>
        <p:spPr>
          <a:xfrm rot="-5400000">
            <a:off x="5166597" y="162626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7245650" y="10299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accidentales</a:t>
            </a:r>
            <a:endParaRPr sz="1014"/>
          </a:p>
        </p:txBody>
      </p:sp>
      <p:sp>
        <p:nvSpPr>
          <p:cNvPr id="317" name="Google Shape;317;p38"/>
          <p:cNvSpPr/>
          <p:nvPr/>
        </p:nvSpPr>
        <p:spPr>
          <a:xfrm>
            <a:off x="7245647" y="1420812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 txBox="1"/>
          <p:nvPr/>
        </p:nvSpPr>
        <p:spPr>
          <a:xfrm>
            <a:off x="3143300" y="138250"/>
            <a:ext cx="5654700" cy="5727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clasifica las manifestaciones clínicas del paciente: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247825" y="621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4838238" y="4254576"/>
            <a:ext cx="1512818" cy="57268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11. </a:t>
            </a:r>
            <a:r>
              <a:rPr lang="es" sz="1000">
                <a:solidFill>
                  <a:schemeClr val="dk1"/>
                </a:solidFill>
              </a:rPr>
              <a:t>anemia por probable desnutrición 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/>
          <p:nvPr/>
        </p:nvSpPr>
        <p:spPr>
          <a:xfrm>
            <a:off x="5671925" y="1035175"/>
            <a:ext cx="119890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3. Pelo hirsuto  </a:t>
            </a:r>
            <a:endParaRPr sz="1000"/>
          </a:p>
        </p:txBody>
      </p:sp>
      <p:sp>
        <p:nvSpPr>
          <p:cNvPr id="326" name="Google Shape;326;p39"/>
          <p:cNvSpPr/>
          <p:nvPr/>
        </p:nvSpPr>
        <p:spPr>
          <a:xfrm>
            <a:off x="4575125" y="969625"/>
            <a:ext cx="1096793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2. Pobre condición corporal </a:t>
            </a:r>
            <a:endParaRPr sz="1000"/>
          </a:p>
        </p:txBody>
      </p:sp>
      <p:sp>
        <p:nvSpPr>
          <p:cNvPr id="327" name="Google Shape;327;p39"/>
          <p:cNvSpPr/>
          <p:nvPr/>
        </p:nvSpPr>
        <p:spPr>
          <a:xfrm>
            <a:off x="4500801" y="1434759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5. Hiporexia </a:t>
            </a:r>
            <a:endParaRPr sz="1000"/>
          </a:p>
        </p:txBody>
      </p:sp>
      <p:sp>
        <p:nvSpPr>
          <p:cNvPr id="328" name="Google Shape;328;p39"/>
          <p:cNvSpPr/>
          <p:nvPr/>
        </p:nvSpPr>
        <p:spPr>
          <a:xfrm>
            <a:off x="4500801" y="1834356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6. Mucosas ligeramente  pálidas </a:t>
            </a:r>
            <a:endParaRPr sz="1000"/>
          </a:p>
        </p:txBody>
      </p:sp>
      <p:sp>
        <p:nvSpPr>
          <p:cNvPr id="329" name="Google Shape;329;p39"/>
          <p:cNvSpPr/>
          <p:nvPr/>
        </p:nvSpPr>
        <p:spPr>
          <a:xfrm>
            <a:off x="1326376" y="103292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7. Heces grisáceas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1236163" y="2112157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/>
              <a:t>8. Hipotonía ruminal </a:t>
            </a:r>
            <a:endParaRPr sz="1000"/>
          </a:p>
        </p:txBody>
      </p:sp>
      <p:sp>
        <p:nvSpPr>
          <p:cNvPr id="331" name="Google Shape;331;p39"/>
          <p:cNvSpPr/>
          <p:nvPr/>
        </p:nvSpPr>
        <p:spPr>
          <a:xfrm>
            <a:off x="6679738" y="3447571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 Hipoproteinemia </a:t>
            </a:r>
            <a:endParaRPr sz="1000"/>
          </a:p>
        </p:txBody>
      </p:sp>
      <p:sp>
        <p:nvSpPr>
          <p:cNvPr id="332" name="Google Shape;332;p39"/>
          <p:cNvSpPr/>
          <p:nvPr/>
        </p:nvSpPr>
        <p:spPr>
          <a:xfrm>
            <a:off x="5358739" y="1434759"/>
            <a:ext cx="1512818" cy="3849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4. Letargia </a:t>
            </a:r>
            <a:endParaRPr sz="1000"/>
          </a:p>
        </p:txBody>
      </p:sp>
      <p:sp>
        <p:nvSpPr>
          <p:cNvPr id="333" name="Google Shape;333;p39"/>
          <p:cNvSpPr/>
          <p:nvPr/>
        </p:nvSpPr>
        <p:spPr>
          <a:xfrm>
            <a:off x="1326376" y="1421744"/>
            <a:ext cx="1512818" cy="450475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-292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Retraso en el crecimiento </a:t>
            </a:r>
            <a:endParaRPr sz="1000"/>
          </a:p>
        </p:txBody>
      </p:sp>
      <p:sp>
        <p:nvSpPr>
          <p:cNvPr id="334" name="Google Shape;334;p39"/>
          <p:cNvSpPr/>
          <p:nvPr/>
        </p:nvSpPr>
        <p:spPr>
          <a:xfrm>
            <a:off x="193675" y="12688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clave</a:t>
            </a:r>
            <a:endParaRPr sz="1014"/>
          </a:p>
        </p:txBody>
      </p:sp>
      <p:sp>
        <p:nvSpPr>
          <p:cNvPr id="335" name="Google Shape;335;p39"/>
          <p:cNvSpPr/>
          <p:nvPr/>
        </p:nvSpPr>
        <p:spPr>
          <a:xfrm>
            <a:off x="3360325" y="1659791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inespecíficos</a:t>
            </a:r>
            <a:endParaRPr sz="1014"/>
          </a:p>
        </p:txBody>
      </p:sp>
      <p:sp>
        <p:nvSpPr>
          <p:cNvPr id="336" name="Google Shape;336;p39"/>
          <p:cNvSpPr/>
          <p:nvPr/>
        </p:nvSpPr>
        <p:spPr>
          <a:xfrm rot="-5400000">
            <a:off x="4685713" y="510250"/>
            <a:ext cx="1941600" cy="2507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193675" y="2262929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especificos</a:t>
            </a:r>
            <a:endParaRPr sz="1014"/>
          </a:p>
        </p:txBody>
      </p:sp>
      <p:sp>
        <p:nvSpPr>
          <p:cNvPr id="338" name="Google Shape;338;p39"/>
          <p:cNvSpPr/>
          <p:nvPr/>
        </p:nvSpPr>
        <p:spPr>
          <a:xfrm rot="-5400000">
            <a:off x="1716474" y="1619950"/>
            <a:ext cx="819600" cy="17802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9"/>
          <p:cNvSpPr/>
          <p:nvPr/>
        </p:nvSpPr>
        <p:spPr>
          <a:xfrm>
            <a:off x="5449388" y="2934404"/>
            <a:ext cx="1042500" cy="5727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 complementarios</a:t>
            </a:r>
            <a:endParaRPr sz="1014"/>
          </a:p>
        </p:txBody>
      </p:sp>
      <p:sp>
        <p:nvSpPr>
          <p:cNvPr id="340" name="Google Shape;340;p39"/>
          <p:cNvSpPr/>
          <p:nvPr/>
        </p:nvSpPr>
        <p:spPr>
          <a:xfrm rot="-5400000">
            <a:off x="7083347" y="2194037"/>
            <a:ext cx="10425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7245650" y="1029916"/>
            <a:ext cx="1042500" cy="3909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Signos </a:t>
            </a:r>
            <a:r>
              <a:rPr lang="es" sz="1158">
                <a:latin typeface="Calibri"/>
                <a:ea typeface="Calibri"/>
                <a:cs typeface="Calibri"/>
                <a:sym typeface="Calibri"/>
              </a:rPr>
              <a:t>accidentales</a:t>
            </a:r>
            <a:endParaRPr sz="1014"/>
          </a:p>
        </p:txBody>
      </p:sp>
      <p:sp>
        <p:nvSpPr>
          <p:cNvPr id="342" name="Google Shape;342;p39"/>
          <p:cNvSpPr/>
          <p:nvPr/>
        </p:nvSpPr>
        <p:spPr>
          <a:xfrm>
            <a:off x="7245650" y="1420807"/>
            <a:ext cx="1042500" cy="10425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9"/>
          <p:cNvSpPr txBox="1"/>
          <p:nvPr/>
        </p:nvSpPr>
        <p:spPr>
          <a:xfrm>
            <a:off x="3143300" y="138250"/>
            <a:ext cx="5654700" cy="5727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clasifica las manifestaciones clínicas del paciente: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247825" y="62175"/>
            <a:ext cx="311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Signología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345" name="Google Shape;345;p39"/>
          <p:cNvSpPr/>
          <p:nvPr/>
        </p:nvSpPr>
        <p:spPr>
          <a:xfrm rot="-5400000">
            <a:off x="1695025" y="506850"/>
            <a:ext cx="1042500" cy="19602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35875" y="3256950"/>
            <a:ext cx="3737400" cy="12930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correcta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lograste clasificar adecuadamente cada manifestación clínica. ahora intenta construir tu lista maestra.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tip:   Identifica los problemas de mayor trascendencia y cuáles de la lista completa se relacionan con ellos. </a:t>
            </a:r>
            <a:endParaRPr sz="12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3885800" y="3878700"/>
            <a:ext cx="37374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Analiza de nuevo las definiciones de las categorías de signos.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9"/>
          <p:cNvSpPr/>
          <p:nvPr/>
        </p:nvSpPr>
        <p:spPr>
          <a:xfrm>
            <a:off x="4711250" y="2323277"/>
            <a:ext cx="1512818" cy="330624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s" sz="1000">
                <a:solidFill>
                  <a:schemeClr val="dk1"/>
                </a:solidFill>
              </a:rPr>
              <a:t>Deshidratación</a:t>
            </a:r>
            <a:endParaRPr sz="1000"/>
          </a:p>
        </p:txBody>
      </p:sp>
      <p:sp>
        <p:nvSpPr>
          <p:cNvPr id="349" name="Google Shape;349;p39"/>
          <p:cNvSpPr/>
          <p:nvPr/>
        </p:nvSpPr>
        <p:spPr>
          <a:xfrm>
            <a:off x="6679738" y="2862276"/>
            <a:ext cx="1512818" cy="57268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latin typeface="Calibri"/>
                <a:ea typeface="Calibri"/>
                <a:cs typeface="Calibri"/>
                <a:sym typeface="Calibri"/>
              </a:rPr>
              <a:t>11. </a:t>
            </a:r>
            <a:r>
              <a:rPr lang="es" sz="1000">
                <a:solidFill>
                  <a:schemeClr val="dk1"/>
                </a:solidFill>
              </a:rPr>
              <a:t>anemia por probable desnutrición 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" name="Google Shape;354;p40"/>
          <p:cNvGraphicFramePr/>
          <p:nvPr/>
        </p:nvGraphicFramePr>
        <p:xfrm>
          <a:off x="315299" y="1246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40"/>
          <p:cNvSpPr txBox="1"/>
          <p:nvPr/>
        </p:nvSpPr>
        <p:spPr>
          <a:xfrm>
            <a:off x="129250" y="101575"/>
            <a:ext cx="4866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595959"/>
                </a:solidFill>
              </a:rPr>
              <a:t>Construye la lista maestra </a:t>
            </a:r>
            <a:endParaRPr sz="3500">
              <a:solidFill>
                <a:srgbClr val="595959"/>
              </a:solidFill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5202000" y="363175"/>
            <a:ext cx="33345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Escribe el o los problemas maestros 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357" name="Google Shape;357;p40"/>
          <p:cNvGraphicFramePr/>
          <p:nvPr/>
        </p:nvGraphicFramePr>
        <p:xfrm>
          <a:off x="5202000" y="110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condición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hipotonía 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Deshidratación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/>
        </p:nvSpPr>
        <p:spPr>
          <a:xfrm>
            <a:off x="4291450" y="1130073"/>
            <a:ext cx="43581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¡Bien hecho! Lograste identificar los problemas maestros a la perfección.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Recuerda que aquí cambia la numeración romana.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4365550" y="3096123"/>
            <a:ext cx="4358100" cy="1262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incorrecta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¡Ups! Vuelve a analizar tu lista de problemas.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Un problema maestro es aquel que domina por entre los demás. 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211525" y="109300"/>
            <a:ext cx="210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Construye la lista maestra </a:t>
            </a:r>
            <a:endParaRPr sz="2500">
              <a:solidFill>
                <a:srgbClr val="000000"/>
              </a:solidFill>
            </a:endParaRPr>
          </a:p>
        </p:txBody>
      </p:sp>
      <p:graphicFrame>
        <p:nvGraphicFramePr>
          <p:cNvPr id="365" name="Google Shape;365;p41"/>
          <p:cNvGraphicFramePr/>
          <p:nvPr/>
        </p:nvGraphicFramePr>
        <p:xfrm>
          <a:off x="224574" y="1529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Retraso en el crecimiento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Heces grisáceas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/>
        </p:nvSpPr>
        <p:spPr>
          <a:xfrm>
            <a:off x="315300" y="195550"/>
            <a:ext cx="29607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</a:rPr>
              <a:t>Construye la lista maestra 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3383850" y="0"/>
            <a:ext cx="2612400" cy="10158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</a:rPr>
              <a:t>Escribe los problemas asociados a cada problema maestro. </a:t>
            </a:r>
            <a:endParaRPr sz="1800">
              <a:solidFill>
                <a:srgbClr val="000000"/>
              </a:solidFill>
            </a:endParaRPr>
          </a:p>
        </p:txBody>
      </p:sp>
      <p:graphicFrame>
        <p:nvGraphicFramePr>
          <p:cNvPr id="372" name="Google Shape;372;p42"/>
          <p:cNvGraphicFramePr/>
          <p:nvPr/>
        </p:nvGraphicFramePr>
        <p:xfrm>
          <a:off x="315299" y="1246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Retraso en el crecimiento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Heces grisáceas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3" name="Google Shape;373;p42"/>
          <p:cNvGraphicFramePr/>
          <p:nvPr/>
        </p:nvGraphicFramePr>
        <p:xfrm>
          <a:off x="5384800" y="108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611450"/>
                <a:gridCol w="3008050"/>
              </a:tblGrid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retraso en el crecimiento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2.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pobre condición corporal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pelo hirsuto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letargia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hiporexia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mucosas pálidas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7.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heces grisáceas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hipotonía ruminal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hipoproteinemia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Deshidratación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 anemia por probable desnutrición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124650" y="223475"/>
            <a:ext cx="42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construye la lista maestra </a:t>
            </a:r>
            <a:endParaRPr sz="1800"/>
          </a:p>
        </p:txBody>
      </p:sp>
      <p:sp>
        <p:nvSpPr>
          <p:cNvPr id="379" name="Google Shape;379;p43"/>
          <p:cNvSpPr txBox="1"/>
          <p:nvPr/>
        </p:nvSpPr>
        <p:spPr>
          <a:xfrm>
            <a:off x="4691125" y="1074250"/>
            <a:ext cx="39561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¡Muy bien! Has  establecido tu lista maestra correctamente. </a:t>
            </a:r>
            <a:endParaRPr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 ¡Estás cerca!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380" name="Google Shape;380;p43"/>
          <p:cNvSpPr txBox="1"/>
          <p:nvPr/>
        </p:nvSpPr>
        <p:spPr>
          <a:xfrm>
            <a:off x="4782767" y="2807150"/>
            <a:ext cx="3956100" cy="1477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Retroalimentación incorrecta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¡Ups! Vuelve a analizar tu lista de problemas. 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</a:rPr>
              <a:t>tip: Un problema asociado puede estar relacionado con uno o más problemas maestros.  </a:t>
            </a:r>
            <a:endParaRPr>
              <a:solidFill>
                <a:srgbClr val="595959"/>
              </a:solidFill>
            </a:endParaRPr>
          </a:p>
        </p:txBody>
      </p:sp>
      <p:graphicFrame>
        <p:nvGraphicFramePr>
          <p:cNvPr id="381" name="Google Shape;381;p43"/>
          <p:cNvGraphicFramePr/>
          <p:nvPr/>
        </p:nvGraphicFramePr>
        <p:xfrm>
          <a:off x="315299" y="12611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672300"/>
                <a:gridCol w="3316675"/>
              </a:tblGrid>
              <a:tr h="63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Problemas maestros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Retraso en el crecimiento 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3. Pelo hirsuto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4. Letargia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5. Hiporexia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6. Mucosas ligeramente pálidas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8. Hipotonía ruminal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9. Hipoproteinemia 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10. Deshidratación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11. Anemia por probable desnutrición 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38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II.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Heces grisáceas 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2. Pobre condición corporal 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5. Hiporexia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8. Hipotonía ruminal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11. Anemia por probable desnutrición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 maestra </a:t>
            </a:r>
            <a:endParaRPr/>
          </a:p>
        </p:txBody>
      </p:sp>
      <p:sp>
        <p:nvSpPr>
          <p:cNvPr id="387" name="Google Shape;387;p44"/>
          <p:cNvSpPr txBox="1"/>
          <p:nvPr>
            <p:ph idx="1" type="body"/>
          </p:nvPr>
        </p:nvSpPr>
        <p:spPr>
          <a:xfrm>
            <a:off x="391075" y="1371225"/>
            <a:ext cx="8520600" cy="2585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Retraso en el crecimiento / pobre  CC ????</a:t>
            </a:r>
            <a:r>
              <a:rPr lang="es"/>
              <a:t>  ( 3, 4, 5, 6, 8, 9, 10, 11).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Heces grisáceas  </a:t>
            </a:r>
            <a:r>
              <a:rPr lang="es"/>
              <a:t>( 2, 5, 8, 11 ).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idx="1" type="body"/>
          </p:nvPr>
        </p:nvSpPr>
        <p:spPr>
          <a:xfrm>
            <a:off x="311700" y="1152475"/>
            <a:ext cx="8520600" cy="22863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estas alturas, seguramente ya tienes en mente algunos diagnósticos diferenciales que cubren y justifican todas o algunas de las alteraciones clínicas del paciente.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continuación se debe plantear una lista de diagnósticos diferenciales para cada uno de los problemas maestros. existe una nemotecnia que te ayudará a recordar los procesos fisiopatológicos que podrían estar involucrados: DAMNIT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Proceso diagnóstico / Razonamiento  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311700" y="3740275"/>
            <a:ext cx="8641800" cy="7389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Coloca debajo de cada letra de la mnemotecnia ´DAMNIT´, los procesos a los que hacen referencia.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/>
          <p:nvPr/>
        </p:nvSpPr>
        <p:spPr>
          <a:xfrm flipH="1" rot="-989">
            <a:off x="3087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/>
          </a:p>
        </p:txBody>
      </p:sp>
      <p:sp>
        <p:nvSpPr>
          <p:cNvPr id="400" name="Google Shape;400;p46"/>
          <p:cNvSpPr/>
          <p:nvPr/>
        </p:nvSpPr>
        <p:spPr>
          <a:xfrm>
            <a:off x="1755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168870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32018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471495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62280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76731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6"/>
          <p:cNvSpPr/>
          <p:nvPr/>
        </p:nvSpPr>
        <p:spPr>
          <a:xfrm flipH="1" rot="-989">
            <a:off x="182188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/>
          </a:p>
        </p:txBody>
      </p:sp>
      <p:sp>
        <p:nvSpPr>
          <p:cNvPr id="407" name="Google Shape;407;p46"/>
          <p:cNvSpPr/>
          <p:nvPr/>
        </p:nvSpPr>
        <p:spPr>
          <a:xfrm flipH="1" rot="-989">
            <a:off x="33350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1800"/>
          </a:p>
        </p:txBody>
      </p:sp>
      <p:sp>
        <p:nvSpPr>
          <p:cNvPr id="408" name="Google Shape;408;p46"/>
          <p:cNvSpPr/>
          <p:nvPr/>
        </p:nvSpPr>
        <p:spPr>
          <a:xfrm flipH="1" rot="-989">
            <a:off x="484813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/>
          </a:p>
        </p:txBody>
      </p:sp>
      <p:sp>
        <p:nvSpPr>
          <p:cNvPr id="409" name="Google Shape;409;p46"/>
          <p:cNvSpPr/>
          <p:nvPr/>
        </p:nvSpPr>
        <p:spPr>
          <a:xfrm flipH="1" rot="-989">
            <a:off x="63612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/>
          </a:p>
        </p:txBody>
      </p:sp>
      <p:sp>
        <p:nvSpPr>
          <p:cNvPr id="410" name="Google Shape;410;p46"/>
          <p:cNvSpPr/>
          <p:nvPr/>
        </p:nvSpPr>
        <p:spPr>
          <a:xfrm flipH="1" rot="-989">
            <a:off x="78063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/>
          </a:p>
        </p:txBody>
      </p:sp>
      <p:sp>
        <p:nvSpPr>
          <p:cNvPr id="411" name="Google Shape;411;p46"/>
          <p:cNvSpPr/>
          <p:nvPr/>
        </p:nvSpPr>
        <p:spPr>
          <a:xfrm>
            <a:off x="328857" y="1072134"/>
            <a:ext cx="1512818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Degenerativo</a:t>
            </a:r>
            <a:endParaRPr/>
          </a:p>
        </p:txBody>
      </p:sp>
      <p:sp>
        <p:nvSpPr>
          <p:cNvPr id="412" name="Google Shape;412;p46"/>
          <p:cNvSpPr/>
          <p:nvPr/>
        </p:nvSpPr>
        <p:spPr>
          <a:xfrm>
            <a:off x="4022989" y="187809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Alérgico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6"/>
          <p:cNvSpPr/>
          <p:nvPr/>
        </p:nvSpPr>
        <p:spPr>
          <a:xfrm>
            <a:off x="4022989" y="887309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6"/>
          <p:cNvSpPr/>
          <p:nvPr/>
        </p:nvSpPr>
        <p:spPr>
          <a:xfrm>
            <a:off x="2176207" y="770678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Traumático</a:t>
            </a:r>
            <a:endParaRPr/>
          </a:p>
        </p:txBody>
      </p:sp>
      <p:sp>
        <p:nvSpPr>
          <p:cNvPr id="415" name="Google Shape;415;p46"/>
          <p:cNvSpPr/>
          <p:nvPr/>
        </p:nvSpPr>
        <p:spPr>
          <a:xfrm>
            <a:off x="328857" y="1415304"/>
            <a:ext cx="1512818" cy="23675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Tisular</a:t>
            </a:r>
            <a:endParaRPr/>
          </a:p>
        </p:txBody>
      </p:sp>
      <p:sp>
        <p:nvSpPr>
          <p:cNvPr id="416" name="Google Shape;416;p46"/>
          <p:cNvSpPr/>
          <p:nvPr/>
        </p:nvSpPr>
        <p:spPr>
          <a:xfrm>
            <a:off x="4022989" y="51597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Valvular</a:t>
            </a:r>
            <a:endParaRPr/>
          </a:p>
        </p:txBody>
      </p:sp>
      <p:sp>
        <p:nvSpPr>
          <p:cNvPr id="417" name="Google Shape;417;p46"/>
          <p:cNvSpPr/>
          <p:nvPr/>
        </p:nvSpPr>
        <p:spPr>
          <a:xfrm>
            <a:off x="5712132" y="51493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6"/>
          <p:cNvSpPr/>
          <p:nvPr/>
        </p:nvSpPr>
        <p:spPr>
          <a:xfrm>
            <a:off x="5712132" y="108922"/>
            <a:ext cx="1512818" cy="261547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Metabólico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6"/>
          <p:cNvSpPr/>
          <p:nvPr/>
        </p:nvSpPr>
        <p:spPr>
          <a:xfrm>
            <a:off x="7558364" y="15012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Mecánico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6"/>
          <p:cNvSpPr/>
          <p:nvPr/>
        </p:nvSpPr>
        <p:spPr>
          <a:xfrm>
            <a:off x="7558364" y="54590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Misceláneo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6"/>
          <p:cNvSpPr/>
          <p:nvPr/>
        </p:nvSpPr>
        <p:spPr>
          <a:xfrm>
            <a:off x="7558364" y="94168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Neoplásico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6"/>
          <p:cNvSpPr/>
          <p:nvPr/>
        </p:nvSpPr>
        <p:spPr>
          <a:xfrm>
            <a:off x="5712132" y="91033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Inmunomediado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6"/>
          <p:cNvSpPr/>
          <p:nvPr/>
        </p:nvSpPr>
        <p:spPr>
          <a:xfrm>
            <a:off x="5712132" y="129974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Tóxico</a:t>
            </a:r>
            <a:endParaRPr/>
          </a:p>
        </p:txBody>
      </p:sp>
      <p:sp>
        <p:nvSpPr>
          <p:cNvPr id="424" name="Google Shape;424;p46"/>
          <p:cNvSpPr/>
          <p:nvPr/>
        </p:nvSpPr>
        <p:spPr>
          <a:xfrm>
            <a:off x="7559492" y="1350235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Distrófico</a:t>
            </a: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2176195" y="1433232"/>
            <a:ext cx="1512818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6"/>
          <p:cNvSpPr/>
          <p:nvPr/>
        </p:nvSpPr>
        <p:spPr>
          <a:xfrm>
            <a:off x="2176195" y="1852868"/>
            <a:ext cx="1512818" cy="237341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Idiopático</a:t>
            </a:r>
            <a:endParaRPr/>
          </a:p>
        </p:txBody>
      </p:sp>
      <p:sp>
        <p:nvSpPr>
          <p:cNvPr id="427" name="Google Shape;427;p46"/>
          <p:cNvSpPr/>
          <p:nvPr/>
        </p:nvSpPr>
        <p:spPr>
          <a:xfrm>
            <a:off x="4023555" y="1165891"/>
            <a:ext cx="1512818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Inflamatorio</a:t>
            </a:r>
            <a:endParaRPr/>
          </a:p>
        </p:txBody>
      </p:sp>
      <p:sp>
        <p:nvSpPr>
          <p:cNvPr id="428" name="Google Shape;428;p46"/>
          <p:cNvSpPr/>
          <p:nvPr/>
        </p:nvSpPr>
        <p:spPr>
          <a:xfrm>
            <a:off x="4023555" y="1903897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Infeccioso</a:t>
            </a:r>
            <a:endParaRPr/>
          </a:p>
        </p:txBody>
      </p:sp>
      <p:sp>
        <p:nvSpPr>
          <p:cNvPr id="429" name="Google Shape;429;p46"/>
          <p:cNvSpPr/>
          <p:nvPr/>
        </p:nvSpPr>
        <p:spPr>
          <a:xfrm>
            <a:off x="2176195" y="1065938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Nutraceútico</a:t>
            </a:r>
            <a:endParaRPr/>
          </a:p>
        </p:txBody>
      </p:sp>
      <p:sp>
        <p:nvSpPr>
          <p:cNvPr id="430" name="Google Shape;430;p46"/>
          <p:cNvSpPr/>
          <p:nvPr/>
        </p:nvSpPr>
        <p:spPr>
          <a:xfrm>
            <a:off x="4023555" y="1530603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Innato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6"/>
          <p:cNvSpPr/>
          <p:nvPr/>
        </p:nvSpPr>
        <p:spPr>
          <a:xfrm>
            <a:off x="7559492" y="1746996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Vascular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6"/>
          <p:cNvSpPr/>
          <p:nvPr/>
        </p:nvSpPr>
        <p:spPr>
          <a:xfrm>
            <a:off x="5712132" y="1717320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Mórbido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6"/>
          <p:cNvSpPr/>
          <p:nvPr/>
        </p:nvSpPr>
        <p:spPr>
          <a:xfrm>
            <a:off x="328857" y="1717322"/>
            <a:ext cx="151281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Atenuante</a:t>
            </a:r>
            <a:endParaRPr/>
          </a:p>
        </p:txBody>
      </p:sp>
      <p:sp>
        <p:nvSpPr>
          <p:cNvPr id="434" name="Google Shape;434;p46"/>
          <p:cNvSpPr txBox="1"/>
          <p:nvPr/>
        </p:nvSpPr>
        <p:spPr>
          <a:xfrm>
            <a:off x="175575" y="44125"/>
            <a:ext cx="26889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Posibles causas de enfermedad 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/>
          <p:nvPr/>
        </p:nvSpPr>
        <p:spPr>
          <a:xfrm flipH="1" rot="-989">
            <a:off x="3087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/>
          </a:p>
        </p:txBody>
      </p:sp>
      <p:sp>
        <p:nvSpPr>
          <p:cNvPr id="440" name="Google Shape;440;p47"/>
          <p:cNvSpPr/>
          <p:nvPr/>
        </p:nvSpPr>
        <p:spPr>
          <a:xfrm>
            <a:off x="1755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168870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32018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4714951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622807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7673126" y="2782025"/>
            <a:ext cx="1308900" cy="2225400"/>
          </a:xfrm>
          <a:prstGeom prst="roundRect">
            <a:avLst>
              <a:gd fmla="val 16667" name="adj"/>
            </a:avLst>
          </a:prstGeom>
          <a:noFill/>
          <a:ln cap="flat" cmpd="sng" w="9175">
            <a:solidFill>
              <a:srgbClr val="1C305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7"/>
          <p:cNvSpPr/>
          <p:nvPr/>
        </p:nvSpPr>
        <p:spPr>
          <a:xfrm flipH="1" rot="-989">
            <a:off x="182188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/>
          </a:p>
        </p:txBody>
      </p:sp>
      <p:sp>
        <p:nvSpPr>
          <p:cNvPr id="447" name="Google Shape;447;p47"/>
          <p:cNvSpPr/>
          <p:nvPr/>
        </p:nvSpPr>
        <p:spPr>
          <a:xfrm flipH="1" rot="-989">
            <a:off x="33350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1800"/>
          </a:p>
        </p:txBody>
      </p:sp>
      <p:sp>
        <p:nvSpPr>
          <p:cNvPr id="448" name="Google Shape;448;p47"/>
          <p:cNvSpPr/>
          <p:nvPr/>
        </p:nvSpPr>
        <p:spPr>
          <a:xfrm flipH="1" rot="-989">
            <a:off x="4848139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/>
          </a:p>
        </p:txBody>
      </p:sp>
      <p:sp>
        <p:nvSpPr>
          <p:cNvPr id="449" name="Google Shape;449;p47"/>
          <p:cNvSpPr/>
          <p:nvPr/>
        </p:nvSpPr>
        <p:spPr>
          <a:xfrm flipH="1" rot="-989">
            <a:off x="636126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/>
          </a:p>
        </p:txBody>
      </p:sp>
      <p:sp>
        <p:nvSpPr>
          <p:cNvPr id="450" name="Google Shape;450;p47"/>
          <p:cNvSpPr/>
          <p:nvPr/>
        </p:nvSpPr>
        <p:spPr>
          <a:xfrm flipH="1" rot="-989">
            <a:off x="7806314" y="2114231"/>
            <a:ext cx="1042500" cy="573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17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100" lIns="66175" spcFirstLastPara="1" rIns="66175" wrap="square" tIns="33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/>
          </a:p>
        </p:txBody>
      </p:sp>
      <p:sp>
        <p:nvSpPr>
          <p:cNvPr id="451" name="Google Shape;451;p47"/>
          <p:cNvSpPr/>
          <p:nvPr/>
        </p:nvSpPr>
        <p:spPr>
          <a:xfrm>
            <a:off x="308098" y="2847975"/>
            <a:ext cx="1043844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Degenerativo</a:t>
            </a:r>
            <a:endParaRPr/>
          </a:p>
        </p:txBody>
      </p:sp>
      <p:sp>
        <p:nvSpPr>
          <p:cNvPr id="452" name="Google Shape;452;p47"/>
          <p:cNvSpPr/>
          <p:nvPr/>
        </p:nvSpPr>
        <p:spPr>
          <a:xfrm>
            <a:off x="1841671" y="2927175"/>
            <a:ext cx="1021152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Alérgico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7"/>
          <p:cNvSpPr/>
          <p:nvPr/>
        </p:nvSpPr>
        <p:spPr>
          <a:xfrm>
            <a:off x="1821897" y="33150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7"/>
          <p:cNvSpPr/>
          <p:nvPr/>
        </p:nvSpPr>
        <p:spPr>
          <a:xfrm>
            <a:off x="7810403" y="3442575"/>
            <a:ext cx="866088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Traumático</a:t>
            </a:r>
            <a:endParaRPr/>
          </a:p>
        </p:txBody>
      </p:sp>
      <p:sp>
        <p:nvSpPr>
          <p:cNvPr id="455" name="Google Shape;455;p47"/>
          <p:cNvSpPr/>
          <p:nvPr/>
        </p:nvSpPr>
        <p:spPr>
          <a:xfrm>
            <a:off x="328852" y="3163350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7"/>
          <p:cNvSpPr/>
          <p:nvPr/>
        </p:nvSpPr>
        <p:spPr>
          <a:xfrm>
            <a:off x="4849722" y="292717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Neoplásico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7"/>
          <p:cNvSpPr/>
          <p:nvPr/>
        </p:nvSpPr>
        <p:spPr>
          <a:xfrm>
            <a:off x="1821902" y="36052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Inmunomediado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7"/>
          <p:cNvSpPr/>
          <p:nvPr/>
        </p:nvSpPr>
        <p:spPr>
          <a:xfrm>
            <a:off x="7807475" y="2948074"/>
            <a:ext cx="866088" cy="233798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Tóxico</a:t>
            </a:r>
            <a:endParaRPr/>
          </a:p>
        </p:txBody>
      </p:sp>
      <p:sp>
        <p:nvSpPr>
          <p:cNvPr id="459" name="Google Shape;459;p47"/>
          <p:cNvSpPr/>
          <p:nvPr/>
        </p:nvSpPr>
        <p:spPr>
          <a:xfrm>
            <a:off x="4846798" y="3265550"/>
            <a:ext cx="1043844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7"/>
          <p:cNvSpPr/>
          <p:nvPr/>
        </p:nvSpPr>
        <p:spPr>
          <a:xfrm>
            <a:off x="6298351" y="3011100"/>
            <a:ext cx="1104357" cy="254462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Inflamatorio</a:t>
            </a:r>
            <a:endParaRPr/>
          </a:p>
        </p:txBody>
      </p:sp>
      <p:sp>
        <p:nvSpPr>
          <p:cNvPr id="461" name="Google Shape;461;p47"/>
          <p:cNvSpPr/>
          <p:nvPr/>
        </p:nvSpPr>
        <p:spPr>
          <a:xfrm>
            <a:off x="3313602" y="2914475"/>
            <a:ext cx="1043844" cy="261547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Metabólico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7"/>
          <p:cNvSpPr/>
          <p:nvPr/>
        </p:nvSpPr>
        <p:spPr>
          <a:xfrm>
            <a:off x="3260522" y="3291825"/>
            <a:ext cx="1043844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Mecánico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7"/>
          <p:cNvSpPr/>
          <p:nvPr/>
        </p:nvSpPr>
        <p:spPr>
          <a:xfrm>
            <a:off x="6298351" y="3460425"/>
            <a:ext cx="1104357" cy="236160"/>
          </a:xfrm>
          <a:custGeom>
            <a:rect b="b" l="l" r="r" t="t"/>
            <a:pathLst>
              <a:path extrusionOk="0" h="236160" w="1512818">
                <a:moveTo>
                  <a:pt x="0" y="39361"/>
                </a:moveTo>
                <a:cubicBezTo>
                  <a:pt x="0" y="17623"/>
                  <a:pt x="17623" y="0"/>
                  <a:pt x="39361" y="0"/>
                </a:cubicBezTo>
                <a:lnTo>
                  <a:pt x="1473457" y="0"/>
                </a:lnTo>
                <a:cubicBezTo>
                  <a:pt x="1495195" y="0"/>
                  <a:pt x="1512818" y="17623"/>
                  <a:pt x="1512818" y="39361"/>
                </a:cubicBezTo>
                <a:lnTo>
                  <a:pt x="1512818" y="196799"/>
                </a:lnTo>
                <a:cubicBezTo>
                  <a:pt x="1512818" y="218537"/>
                  <a:pt x="1495195" y="236160"/>
                  <a:pt x="1473457" y="236160"/>
                </a:cubicBezTo>
                <a:lnTo>
                  <a:pt x="39361" y="236160"/>
                </a:lnTo>
                <a:cubicBezTo>
                  <a:pt x="17623" y="236160"/>
                  <a:pt x="0" y="218537"/>
                  <a:pt x="0" y="196799"/>
                </a:cubicBezTo>
                <a:lnTo>
                  <a:pt x="0" y="39361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3A66B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1525" lIns="68700" spcFirstLastPara="1" rIns="68700" wrap="square" tIns="115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Infeccioso</a:t>
            </a:r>
            <a:endParaRPr/>
          </a:p>
        </p:txBody>
      </p:sp>
      <p:sp>
        <p:nvSpPr>
          <p:cNvPr id="464" name="Google Shape;464;p47"/>
          <p:cNvSpPr txBox="1"/>
          <p:nvPr/>
        </p:nvSpPr>
        <p:spPr>
          <a:xfrm>
            <a:off x="2819250" y="49250"/>
            <a:ext cx="60420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¡Excelente! Ahora tenemos bien ubicados los procesos fisiopatológicos del método DAMNIT.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47"/>
          <p:cNvSpPr txBox="1"/>
          <p:nvPr/>
        </p:nvSpPr>
        <p:spPr>
          <a:xfrm>
            <a:off x="2819250" y="1024725"/>
            <a:ext cx="6162900" cy="615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con detenimiento cada proceso fisiopatológico de nuevo.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7"/>
          <p:cNvSpPr txBox="1"/>
          <p:nvPr/>
        </p:nvSpPr>
        <p:spPr>
          <a:xfrm rot="-1789187">
            <a:off x="-20400" y="446464"/>
            <a:ext cx="3159428" cy="1093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Posibles causas de enfermedad 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"/>
          <p:cNvSpPr txBox="1"/>
          <p:nvPr>
            <p:ph type="title"/>
          </p:nvPr>
        </p:nvSpPr>
        <p:spPr>
          <a:xfrm>
            <a:off x="311700" y="1079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DAMNIT vs lista maestra </a:t>
            </a:r>
            <a:endParaRPr/>
          </a:p>
        </p:txBody>
      </p:sp>
      <p:graphicFrame>
        <p:nvGraphicFramePr>
          <p:cNvPr id="472" name="Google Shape;472;p48"/>
          <p:cNvGraphicFramePr/>
          <p:nvPr/>
        </p:nvGraphicFramePr>
        <p:xfrm>
          <a:off x="311711" y="651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{A74CB5BF-3CBD-4F32-A93B-54B327CDD2E8}</a:tableStyleId>
              </a:tblPr>
              <a:tblGrid>
                <a:gridCol w="4028050"/>
                <a:gridCol w="459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Degenerativo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Desarrollo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Alérgico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Autoinmune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Metabólico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Mecánico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Neoplásico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Nutricional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Idiopático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Inmunomediado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Inflamatorio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Infeccioso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Traumático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Tóxico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3" name="Google Shape;473;p48"/>
          <p:cNvSpPr txBox="1"/>
          <p:nvPr/>
        </p:nvSpPr>
        <p:spPr>
          <a:xfrm>
            <a:off x="4915450" y="1516550"/>
            <a:ext cx="3911100" cy="1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UcPeriod"/>
            </a:pPr>
            <a:r>
              <a:rPr b="1" lang="es" sz="1800">
                <a:solidFill>
                  <a:schemeClr val="dk2"/>
                </a:solidFill>
              </a:rPr>
              <a:t>Retraso en el crecimiento.  ( 3, 4, 5, 6, 8, 9, 10, 11).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romanUcPeriod"/>
            </a:pPr>
            <a:r>
              <a:rPr lang="es" sz="1600">
                <a:solidFill>
                  <a:schemeClr val="dk2"/>
                </a:solidFill>
              </a:rPr>
              <a:t>Heces grisáceas  ( 2, 5, 8, 11 ).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474" name="Google Shape;474;p48"/>
          <p:cNvSpPr txBox="1"/>
          <p:nvPr/>
        </p:nvSpPr>
        <p:spPr>
          <a:xfrm>
            <a:off x="4915450" y="145100"/>
            <a:ext cx="4260300" cy="129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 la lista de procesos DAMNIT, selecciona aquellos que </a:t>
            </a:r>
            <a:r>
              <a:rPr lang="es" sz="1800">
                <a:solidFill>
                  <a:schemeClr val="dk2"/>
                </a:solidFill>
              </a:rPr>
              <a:t>están</a:t>
            </a:r>
            <a:r>
              <a:rPr lang="es" sz="1800">
                <a:solidFill>
                  <a:schemeClr val="dk2"/>
                </a:solidFill>
              </a:rPr>
              <a:t> relacionados con cada problema maestro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 txBox="1"/>
          <p:nvPr>
            <p:ph type="title"/>
          </p:nvPr>
        </p:nvSpPr>
        <p:spPr>
          <a:xfrm>
            <a:off x="311700" y="1079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DAMNIT vs lista maestra </a:t>
            </a:r>
            <a:endParaRPr/>
          </a:p>
        </p:txBody>
      </p:sp>
      <p:graphicFrame>
        <p:nvGraphicFramePr>
          <p:cNvPr id="480" name="Google Shape;480;p49"/>
          <p:cNvGraphicFramePr/>
          <p:nvPr/>
        </p:nvGraphicFramePr>
        <p:xfrm>
          <a:off x="311711" y="639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{A74CB5BF-3CBD-4F32-A93B-54B327CDD2E8}</a:tableStyleId>
              </a:tblPr>
              <a:tblGrid>
                <a:gridCol w="4028050"/>
                <a:gridCol w="459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Degenerativo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Desarrollo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Alérgico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Autoinmune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Metabólico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Mecánico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Neoplásico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Nutricional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Idiopático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Inmunomediado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Inflamatorio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Infeccioso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*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Traumático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s" sz="1800"/>
                        <a:t>Tóxico</a:t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*</a:t>
                      </a:r>
                      <a:endParaRPr sz="18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p49"/>
          <p:cNvSpPr txBox="1"/>
          <p:nvPr/>
        </p:nvSpPr>
        <p:spPr>
          <a:xfrm>
            <a:off x="4915450" y="1570150"/>
            <a:ext cx="4043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romanUcPeriod"/>
            </a:pPr>
            <a:r>
              <a:rPr lang="es" sz="1600">
                <a:solidFill>
                  <a:schemeClr val="dk2"/>
                </a:solidFill>
              </a:rPr>
              <a:t>Retraso en el crecimiento  ( 3, 4, 5, 6, 8, 9, 10, 11).</a:t>
            </a:r>
            <a:endParaRPr sz="16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AutoNum type="romanUcPeriod"/>
            </a:pPr>
            <a:r>
              <a:rPr b="1" lang="es" sz="1900">
                <a:solidFill>
                  <a:schemeClr val="dk2"/>
                </a:solidFill>
              </a:rPr>
              <a:t>Heces grisáceas ( 2, 5, 8, 11).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482" name="Google Shape;482;p49"/>
          <p:cNvSpPr txBox="1"/>
          <p:nvPr/>
        </p:nvSpPr>
        <p:spPr>
          <a:xfrm>
            <a:off x="4915450" y="145100"/>
            <a:ext cx="4260300" cy="129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de la lista de procesos DAMNIT, selecciona aquellos que </a:t>
            </a:r>
            <a:r>
              <a:rPr lang="es" sz="1800">
                <a:solidFill>
                  <a:schemeClr val="dk2"/>
                </a:solidFill>
              </a:rPr>
              <a:t>están</a:t>
            </a:r>
            <a:r>
              <a:rPr lang="es" sz="1800">
                <a:solidFill>
                  <a:schemeClr val="dk2"/>
                </a:solidFill>
              </a:rPr>
              <a:t> relacionados con cada problema maestro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3" name="Google Shape;483;p49"/>
          <p:cNvSpPr txBox="1"/>
          <p:nvPr/>
        </p:nvSpPr>
        <p:spPr>
          <a:xfrm>
            <a:off x="5179450" y="2978100"/>
            <a:ext cx="3383100" cy="1108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¡Perfecto! Lograste relacionar el problema maestro de tu paciente con los procesos patológicos del DAMNIT correctamente.</a:t>
            </a:r>
            <a:r>
              <a:rPr lang="es" sz="1800">
                <a:solidFill>
                  <a:srgbClr val="595959"/>
                </a:solidFill>
              </a:rPr>
              <a:t>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484" name="Google Shape;484;p49"/>
          <p:cNvSpPr txBox="1"/>
          <p:nvPr/>
        </p:nvSpPr>
        <p:spPr>
          <a:xfrm>
            <a:off x="5179450" y="4195251"/>
            <a:ext cx="33831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Analiza detenidamente todos los datos que tienes y qué proceso fisiopatológico puede estar relacionado.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lluvia de enfermedades </a:t>
            </a:r>
            <a:endParaRPr/>
          </a:p>
        </p:txBody>
      </p:sp>
      <p:graphicFrame>
        <p:nvGraphicFramePr>
          <p:cNvPr id="490" name="Google Shape;490;p50"/>
          <p:cNvGraphicFramePr/>
          <p:nvPr/>
        </p:nvGraphicFramePr>
        <p:xfrm>
          <a:off x="311692" y="1126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1915150"/>
                <a:gridCol w="2894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Lista maestra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Diagnósticos diferenciales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romanUcPeriod"/>
                      </a:pP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10, 11).</a:t>
                      </a:r>
                      <a:endParaRPr sz="160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11 ).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1" name="Google Shape;491;p50"/>
          <p:cNvGraphicFramePr/>
          <p:nvPr/>
        </p:nvGraphicFramePr>
        <p:xfrm>
          <a:off x="5253850" y="149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1489600"/>
                <a:gridCol w="1489600"/>
              </a:tblGrid>
              <a:tr h="26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Parasitosis severa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Acidosis ruminal </a:t>
                      </a:r>
                      <a:r>
                        <a:rPr lang="es" sz="1200"/>
                        <a:t>subclínica</a:t>
                      </a: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cobalto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SE y Vit 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Fasciolasis </a:t>
                      </a: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Acidosis ruminal 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Pododermatitis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8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Coccidiosis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Deficiencia de cobre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Paratuberculosis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2" name="Google Shape;492;p50"/>
          <p:cNvSpPr txBox="1"/>
          <p:nvPr/>
        </p:nvSpPr>
        <p:spPr>
          <a:xfrm>
            <a:off x="5446050" y="352000"/>
            <a:ext cx="3721800" cy="110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D</a:t>
            </a:r>
            <a:r>
              <a:rPr lang="es" sz="1500">
                <a:solidFill>
                  <a:schemeClr val="dk2"/>
                </a:solidFill>
              </a:rPr>
              <a:t>e las enfermedades enlistadas a la derecha, selecciona y coloca aquellas que puedan explicar cada problema maestro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1"/>
          <p:cNvSpPr txBox="1"/>
          <p:nvPr/>
        </p:nvSpPr>
        <p:spPr>
          <a:xfrm>
            <a:off x="5265350" y="1294400"/>
            <a:ext cx="35055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¡Muy bien! Has establecido ahora tus diagnósticos diferenciales para cada uno de los problemas maestros 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51"/>
          <p:cNvSpPr txBox="1"/>
          <p:nvPr/>
        </p:nvSpPr>
        <p:spPr>
          <a:xfrm>
            <a:off x="5265350" y="2617775"/>
            <a:ext cx="3505500" cy="8313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toma en consideración los sistemas y aparatos que están mayormente afectados 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Lluvia de enfermedades 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graphicFrame>
        <p:nvGraphicFramePr>
          <p:cNvPr id="500" name="Google Shape;500;p51"/>
          <p:cNvGraphicFramePr/>
          <p:nvPr/>
        </p:nvGraphicFramePr>
        <p:xfrm>
          <a:off x="311692" y="1126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1915150"/>
                <a:gridCol w="2894975"/>
              </a:tblGrid>
              <a:tr h="445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Lista maestra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/>
                        <a:t>Diagnósticos diferenciales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1513375"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romanUcPeriod"/>
                      </a:pP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10, 11).</a:t>
                      </a:r>
                      <a:endParaRPr sz="160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lang="es" sz="1800">
                          <a:solidFill>
                            <a:schemeClr val="dk1"/>
                          </a:solidFill>
                        </a:rPr>
                        <a:t>arasitosis severa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Coccidiosis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Deficiencia de vit E y Se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Paratuberculosis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</a:rPr>
                        <a:t>Pododermatitis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151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11 ).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Acidosis ruminal subclínica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Fasciolasis 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800"/>
                        <a:t>Deficiencia de Cu 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2"/>
          <p:cNvSpPr txBox="1"/>
          <p:nvPr/>
        </p:nvSpPr>
        <p:spPr>
          <a:xfrm>
            <a:off x="791625" y="1495425"/>
            <a:ext cx="7502700" cy="1435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De acuerdo a tus diagnósticos diferenciales,  determina ahora que tipo de prueba complementaria del laboratorio de diagnóstico veterinario te puede ser útil para ir descartando / confirmando los posibles diagnósticos.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507" name="Google Shape;507;p52"/>
          <p:cNvSpPr txBox="1"/>
          <p:nvPr/>
        </p:nvSpPr>
        <p:spPr>
          <a:xfrm>
            <a:off x="930975" y="3213575"/>
            <a:ext cx="7502700" cy="8523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Ubica en la lista de la izquierda las pruebas diagnósticas que necesitas y las que no.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p53"/>
          <p:cNvGraphicFramePr/>
          <p:nvPr/>
        </p:nvGraphicFramePr>
        <p:xfrm>
          <a:off x="3242250" y="955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1343500"/>
                <a:gridCol w="1275900"/>
                <a:gridCol w="625000"/>
                <a:gridCol w="625000"/>
                <a:gridCol w="625000"/>
                <a:gridCol w="625000"/>
                <a:gridCol w="625000"/>
              </a:tblGrid>
              <a:tr h="4262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D96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</a:tr>
              <a:tr h="255750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( 3, 4, 5, 6, 8, 9, 10, 11).</a:t>
                      </a:r>
                      <a:endParaRPr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A5A5A5"/>
                          </a:solidFill>
                        </a:rPr>
                        <a:t>Co</a:t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426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11 ).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255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  <a:tr h="5121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513" name="Google Shape;513;p53"/>
          <p:cNvSpPr txBox="1"/>
          <p:nvPr/>
        </p:nvSpPr>
        <p:spPr>
          <a:xfrm>
            <a:off x="3259900" y="209450"/>
            <a:ext cx="56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Herramientas diagnósticas</a:t>
            </a:r>
            <a:endParaRPr sz="2800">
              <a:solidFill>
                <a:srgbClr val="000000"/>
              </a:solidFill>
            </a:endParaRPr>
          </a:p>
        </p:txBody>
      </p:sp>
      <p:graphicFrame>
        <p:nvGraphicFramePr>
          <p:cNvPr id="514" name="Google Shape;514;p53"/>
          <p:cNvGraphicFramePr/>
          <p:nvPr/>
        </p:nvGraphicFramePr>
        <p:xfrm>
          <a:off x="122225" y="14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909175"/>
                <a:gridCol w="909175"/>
                <a:gridCol w="909175"/>
              </a:tblGrid>
              <a:tr h="34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pruebas: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examen coproparasitoscópico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flotación 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McMaster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sedimentación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Biometría hemática   HG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Perfil bioquímico     BQ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medición de pH ruminal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y aislamiento 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230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9" name="Google Shape;519;p54"/>
          <p:cNvGraphicFramePr/>
          <p:nvPr/>
        </p:nvGraphicFramePr>
        <p:xfrm>
          <a:off x="512838" y="130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1431475"/>
                <a:gridCol w="1359450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</a:tblGrid>
              <a:tr h="4723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3C47D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coproparasitoscópico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BQ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pH ruminal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bacteriológico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 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</a:tr>
              <a:tr h="283425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 3, 4, 5, 6, 8, 9, 10, 11)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11 ).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520" name="Google Shape;520;p54"/>
          <p:cNvSpPr/>
          <p:nvPr/>
        </p:nvSpPr>
        <p:spPr>
          <a:xfrm>
            <a:off x="420413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4"/>
          <p:cNvSpPr/>
          <p:nvPr/>
        </p:nvSpPr>
        <p:spPr>
          <a:xfrm>
            <a:off x="420413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4"/>
          <p:cNvSpPr/>
          <p:nvPr/>
        </p:nvSpPr>
        <p:spPr>
          <a:xfrm>
            <a:off x="4236538" y="3461526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4"/>
          <p:cNvSpPr/>
          <p:nvPr/>
        </p:nvSpPr>
        <p:spPr>
          <a:xfrm>
            <a:off x="4204138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4"/>
          <p:cNvSpPr/>
          <p:nvPr/>
        </p:nvSpPr>
        <p:spPr>
          <a:xfrm>
            <a:off x="749611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4"/>
          <p:cNvSpPr/>
          <p:nvPr/>
        </p:nvSpPr>
        <p:spPr>
          <a:xfrm>
            <a:off x="490898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4"/>
          <p:cNvSpPr/>
          <p:nvPr/>
        </p:nvSpPr>
        <p:spPr>
          <a:xfrm>
            <a:off x="490898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4"/>
          <p:cNvSpPr/>
          <p:nvPr/>
        </p:nvSpPr>
        <p:spPr>
          <a:xfrm>
            <a:off x="4908988" y="3445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4"/>
          <p:cNvSpPr/>
          <p:nvPr/>
        </p:nvSpPr>
        <p:spPr>
          <a:xfrm>
            <a:off x="4825838" y="39239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4"/>
          <p:cNvSpPr/>
          <p:nvPr/>
        </p:nvSpPr>
        <p:spPr>
          <a:xfrm>
            <a:off x="3481288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4"/>
          <p:cNvSpPr/>
          <p:nvPr/>
        </p:nvSpPr>
        <p:spPr>
          <a:xfrm>
            <a:off x="420413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4"/>
          <p:cNvSpPr/>
          <p:nvPr/>
        </p:nvSpPr>
        <p:spPr>
          <a:xfrm>
            <a:off x="490898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4"/>
          <p:cNvSpPr/>
          <p:nvPr/>
        </p:nvSpPr>
        <p:spPr>
          <a:xfrm>
            <a:off x="7496113" y="28807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4"/>
          <p:cNvSpPr/>
          <p:nvPr/>
        </p:nvSpPr>
        <p:spPr>
          <a:xfrm>
            <a:off x="8253263" y="4613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4"/>
          <p:cNvSpPr/>
          <p:nvPr/>
        </p:nvSpPr>
        <p:spPr>
          <a:xfrm>
            <a:off x="8253263" y="4262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4"/>
          <p:cNvSpPr/>
          <p:nvPr/>
        </p:nvSpPr>
        <p:spPr>
          <a:xfrm>
            <a:off x="8253263" y="3762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4"/>
          <p:cNvSpPr/>
          <p:nvPr/>
        </p:nvSpPr>
        <p:spPr>
          <a:xfrm>
            <a:off x="817156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4"/>
          <p:cNvSpPr/>
          <p:nvPr/>
        </p:nvSpPr>
        <p:spPr>
          <a:xfrm>
            <a:off x="48258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4"/>
          <p:cNvSpPr/>
          <p:nvPr/>
        </p:nvSpPr>
        <p:spPr>
          <a:xfrm>
            <a:off x="817156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4"/>
          <p:cNvSpPr/>
          <p:nvPr/>
        </p:nvSpPr>
        <p:spPr>
          <a:xfrm>
            <a:off x="8171563" y="2213525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4"/>
          <p:cNvSpPr/>
          <p:nvPr/>
        </p:nvSpPr>
        <p:spPr>
          <a:xfrm>
            <a:off x="42041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4"/>
          <p:cNvSpPr/>
          <p:nvPr/>
        </p:nvSpPr>
        <p:spPr>
          <a:xfrm>
            <a:off x="8171563" y="141775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4"/>
          <p:cNvSpPr/>
          <p:nvPr/>
        </p:nvSpPr>
        <p:spPr>
          <a:xfrm>
            <a:off x="4204138" y="3892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4"/>
          <p:cNvSpPr/>
          <p:nvPr/>
        </p:nvSpPr>
        <p:spPr>
          <a:xfrm>
            <a:off x="3481288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4"/>
          <p:cNvSpPr/>
          <p:nvPr/>
        </p:nvSpPr>
        <p:spPr>
          <a:xfrm>
            <a:off x="6151963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4"/>
          <p:cNvSpPr/>
          <p:nvPr/>
        </p:nvSpPr>
        <p:spPr>
          <a:xfrm>
            <a:off x="5538713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4"/>
          <p:cNvSpPr/>
          <p:nvPr/>
        </p:nvSpPr>
        <p:spPr>
          <a:xfrm>
            <a:off x="6202550" y="28003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4"/>
          <p:cNvSpPr/>
          <p:nvPr/>
        </p:nvSpPr>
        <p:spPr>
          <a:xfrm>
            <a:off x="5482838" y="14177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4"/>
          <p:cNvSpPr/>
          <p:nvPr/>
        </p:nvSpPr>
        <p:spPr>
          <a:xfrm>
            <a:off x="8171563" y="2944571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4"/>
          <p:cNvSpPr/>
          <p:nvPr/>
        </p:nvSpPr>
        <p:spPr>
          <a:xfrm>
            <a:off x="8171563" y="3413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4"/>
          <p:cNvSpPr/>
          <p:nvPr/>
        </p:nvSpPr>
        <p:spPr>
          <a:xfrm>
            <a:off x="8171563" y="48365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4"/>
          <p:cNvSpPr/>
          <p:nvPr/>
        </p:nvSpPr>
        <p:spPr>
          <a:xfrm>
            <a:off x="8253263" y="51669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4"/>
          <p:cNvSpPr/>
          <p:nvPr/>
        </p:nvSpPr>
        <p:spPr>
          <a:xfrm>
            <a:off x="749611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/>
          <p:nvPr/>
        </p:nvSpPr>
        <p:spPr>
          <a:xfrm>
            <a:off x="420413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5"/>
          <p:cNvSpPr/>
          <p:nvPr/>
        </p:nvSpPr>
        <p:spPr>
          <a:xfrm>
            <a:off x="420413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5"/>
          <p:cNvSpPr/>
          <p:nvPr/>
        </p:nvSpPr>
        <p:spPr>
          <a:xfrm>
            <a:off x="4236538" y="3461526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5"/>
          <p:cNvSpPr/>
          <p:nvPr/>
        </p:nvSpPr>
        <p:spPr>
          <a:xfrm>
            <a:off x="4204138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5"/>
          <p:cNvSpPr/>
          <p:nvPr/>
        </p:nvSpPr>
        <p:spPr>
          <a:xfrm>
            <a:off x="749611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5"/>
          <p:cNvSpPr/>
          <p:nvPr/>
        </p:nvSpPr>
        <p:spPr>
          <a:xfrm>
            <a:off x="490898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5"/>
          <p:cNvSpPr/>
          <p:nvPr/>
        </p:nvSpPr>
        <p:spPr>
          <a:xfrm>
            <a:off x="490898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5"/>
          <p:cNvSpPr/>
          <p:nvPr/>
        </p:nvSpPr>
        <p:spPr>
          <a:xfrm>
            <a:off x="4908988" y="3445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5"/>
          <p:cNvSpPr/>
          <p:nvPr/>
        </p:nvSpPr>
        <p:spPr>
          <a:xfrm>
            <a:off x="4825838" y="39239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5"/>
          <p:cNvSpPr/>
          <p:nvPr/>
        </p:nvSpPr>
        <p:spPr>
          <a:xfrm>
            <a:off x="3481288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5"/>
          <p:cNvSpPr/>
          <p:nvPr/>
        </p:nvSpPr>
        <p:spPr>
          <a:xfrm>
            <a:off x="420413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5"/>
          <p:cNvSpPr/>
          <p:nvPr/>
        </p:nvSpPr>
        <p:spPr>
          <a:xfrm>
            <a:off x="490898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5"/>
          <p:cNvSpPr/>
          <p:nvPr/>
        </p:nvSpPr>
        <p:spPr>
          <a:xfrm>
            <a:off x="7496113" y="28807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5"/>
          <p:cNvSpPr/>
          <p:nvPr/>
        </p:nvSpPr>
        <p:spPr>
          <a:xfrm>
            <a:off x="8253263" y="4613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5"/>
          <p:cNvSpPr/>
          <p:nvPr/>
        </p:nvSpPr>
        <p:spPr>
          <a:xfrm>
            <a:off x="8253263" y="4262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5"/>
          <p:cNvSpPr/>
          <p:nvPr/>
        </p:nvSpPr>
        <p:spPr>
          <a:xfrm>
            <a:off x="8253263" y="3762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5"/>
          <p:cNvSpPr/>
          <p:nvPr/>
        </p:nvSpPr>
        <p:spPr>
          <a:xfrm>
            <a:off x="817156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5"/>
          <p:cNvSpPr/>
          <p:nvPr/>
        </p:nvSpPr>
        <p:spPr>
          <a:xfrm>
            <a:off x="48258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5"/>
          <p:cNvSpPr/>
          <p:nvPr/>
        </p:nvSpPr>
        <p:spPr>
          <a:xfrm>
            <a:off x="817156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5"/>
          <p:cNvSpPr/>
          <p:nvPr/>
        </p:nvSpPr>
        <p:spPr>
          <a:xfrm>
            <a:off x="8171563" y="2213525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42041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5"/>
          <p:cNvSpPr/>
          <p:nvPr/>
        </p:nvSpPr>
        <p:spPr>
          <a:xfrm>
            <a:off x="8171563" y="141775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5"/>
          <p:cNvSpPr/>
          <p:nvPr/>
        </p:nvSpPr>
        <p:spPr>
          <a:xfrm>
            <a:off x="4204138" y="3892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5"/>
          <p:cNvSpPr/>
          <p:nvPr/>
        </p:nvSpPr>
        <p:spPr>
          <a:xfrm>
            <a:off x="3481288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5"/>
          <p:cNvSpPr/>
          <p:nvPr/>
        </p:nvSpPr>
        <p:spPr>
          <a:xfrm>
            <a:off x="6151963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5"/>
          <p:cNvSpPr/>
          <p:nvPr/>
        </p:nvSpPr>
        <p:spPr>
          <a:xfrm>
            <a:off x="5538713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5"/>
          <p:cNvSpPr/>
          <p:nvPr/>
        </p:nvSpPr>
        <p:spPr>
          <a:xfrm>
            <a:off x="6202550" y="28003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5"/>
          <p:cNvSpPr/>
          <p:nvPr/>
        </p:nvSpPr>
        <p:spPr>
          <a:xfrm>
            <a:off x="5482838" y="14177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5"/>
          <p:cNvSpPr/>
          <p:nvPr/>
        </p:nvSpPr>
        <p:spPr>
          <a:xfrm>
            <a:off x="8171563" y="2944571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5"/>
          <p:cNvSpPr/>
          <p:nvPr/>
        </p:nvSpPr>
        <p:spPr>
          <a:xfrm>
            <a:off x="8171563" y="3413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5"/>
          <p:cNvSpPr/>
          <p:nvPr/>
        </p:nvSpPr>
        <p:spPr>
          <a:xfrm>
            <a:off x="8171563" y="48365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5"/>
          <p:cNvSpPr/>
          <p:nvPr/>
        </p:nvSpPr>
        <p:spPr>
          <a:xfrm>
            <a:off x="8253263" y="51669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5"/>
          <p:cNvSpPr/>
          <p:nvPr/>
        </p:nvSpPr>
        <p:spPr>
          <a:xfrm>
            <a:off x="749611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90" name="Google Shape;590;p55"/>
          <p:cNvGraphicFramePr/>
          <p:nvPr/>
        </p:nvGraphicFramePr>
        <p:xfrm>
          <a:off x="512838" y="130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{3930381F-C21E-4C99-AD40-AD6B41F486F5}</a:tableStyleId>
              </a:tblPr>
              <a:tblGrid>
                <a:gridCol w="1431475"/>
                <a:gridCol w="1359450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  <a:gridCol w="665925"/>
              </a:tblGrid>
              <a:tr h="4723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rgbClr val="FFFFFF"/>
                          </a:solidFill>
                        </a:rPr>
                        <a:t>Pruebas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3C47D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coproparasitoscópico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PCR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ELISA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HG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BQ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pH ruminal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Cultivo bacteriológico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Necropsia 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93C47D"/>
                    </a:solidFill>
                  </a:tcPr>
                </a:tc>
              </a:tr>
              <a:tr h="283425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I.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 en el crecimiento  (  3, 4, 5, 6, 8, 9, 10, 11)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Parasitosis severa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Coccidiosis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cobalto 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Paratuberculosis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Pododermatitis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472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Deficiencia de vit E y Se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II. </a:t>
                      </a:r>
                      <a:r>
                        <a:rPr lang="es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Heces grisáceas  ( 2, 5, 8, 11 ).</a:t>
                      </a:r>
                      <a:endParaRPr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Acidosis ruminal subclínica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Fasciolasis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  <a:tr h="2834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</a:rPr>
                        <a:t>Deficiencia de cobre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A5A5A5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p55"/>
          <p:cNvSpPr/>
          <p:nvPr/>
        </p:nvSpPr>
        <p:spPr>
          <a:xfrm>
            <a:off x="420413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5"/>
          <p:cNvSpPr/>
          <p:nvPr/>
        </p:nvSpPr>
        <p:spPr>
          <a:xfrm>
            <a:off x="420413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5"/>
          <p:cNvSpPr/>
          <p:nvPr/>
        </p:nvSpPr>
        <p:spPr>
          <a:xfrm>
            <a:off x="4236538" y="3461526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5"/>
          <p:cNvSpPr/>
          <p:nvPr/>
        </p:nvSpPr>
        <p:spPr>
          <a:xfrm>
            <a:off x="4204138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5"/>
          <p:cNvSpPr/>
          <p:nvPr/>
        </p:nvSpPr>
        <p:spPr>
          <a:xfrm>
            <a:off x="749611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5"/>
          <p:cNvSpPr/>
          <p:nvPr/>
        </p:nvSpPr>
        <p:spPr>
          <a:xfrm>
            <a:off x="4908988" y="1944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5"/>
          <p:cNvSpPr/>
          <p:nvPr/>
        </p:nvSpPr>
        <p:spPr>
          <a:xfrm>
            <a:off x="4908988" y="2639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5"/>
          <p:cNvSpPr/>
          <p:nvPr/>
        </p:nvSpPr>
        <p:spPr>
          <a:xfrm>
            <a:off x="4908988" y="3445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5"/>
          <p:cNvSpPr/>
          <p:nvPr/>
        </p:nvSpPr>
        <p:spPr>
          <a:xfrm>
            <a:off x="4825838" y="39239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5"/>
          <p:cNvSpPr/>
          <p:nvPr/>
        </p:nvSpPr>
        <p:spPr>
          <a:xfrm>
            <a:off x="3481288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5"/>
          <p:cNvSpPr/>
          <p:nvPr/>
        </p:nvSpPr>
        <p:spPr>
          <a:xfrm>
            <a:off x="420413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5"/>
          <p:cNvSpPr/>
          <p:nvPr/>
        </p:nvSpPr>
        <p:spPr>
          <a:xfrm>
            <a:off x="4908988" y="224070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5"/>
          <p:cNvSpPr/>
          <p:nvPr/>
        </p:nvSpPr>
        <p:spPr>
          <a:xfrm>
            <a:off x="7496113" y="28807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5"/>
          <p:cNvSpPr/>
          <p:nvPr/>
        </p:nvSpPr>
        <p:spPr>
          <a:xfrm>
            <a:off x="8253263" y="4613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5"/>
          <p:cNvSpPr/>
          <p:nvPr/>
        </p:nvSpPr>
        <p:spPr>
          <a:xfrm>
            <a:off x="8253263" y="42621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5"/>
          <p:cNvSpPr/>
          <p:nvPr/>
        </p:nvSpPr>
        <p:spPr>
          <a:xfrm>
            <a:off x="8253263" y="3762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5"/>
          <p:cNvSpPr/>
          <p:nvPr/>
        </p:nvSpPr>
        <p:spPr>
          <a:xfrm>
            <a:off x="8171563" y="10198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5"/>
          <p:cNvSpPr/>
          <p:nvPr/>
        </p:nvSpPr>
        <p:spPr>
          <a:xfrm>
            <a:off x="48258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5"/>
          <p:cNvSpPr/>
          <p:nvPr/>
        </p:nvSpPr>
        <p:spPr>
          <a:xfrm>
            <a:off x="817156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5"/>
          <p:cNvSpPr/>
          <p:nvPr/>
        </p:nvSpPr>
        <p:spPr>
          <a:xfrm>
            <a:off x="8171563" y="2213525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5"/>
          <p:cNvSpPr/>
          <p:nvPr/>
        </p:nvSpPr>
        <p:spPr>
          <a:xfrm>
            <a:off x="4204138" y="484251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5"/>
          <p:cNvSpPr/>
          <p:nvPr/>
        </p:nvSpPr>
        <p:spPr>
          <a:xfrm>
            <a:off x="8171563" y="1417750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5"/>
          <p:cNvSpPr/>
          <p:nvPr/>
        </p:nvSpPr>
        <p:spPr>
          <a:xfrm>
            <a:off x="4204138" y="38922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5"/>
          <p:cNvSpPr/>
          <p:nvPr/>
        </p:nvSpPr>
        <p:spPr>
          <a:xfrm>
            <a:off x="3481288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5"/>
          <p:cNvSpPr/>
          <p:nvPr/>
        </p:nvSpPr>
        <p:spPr>
          <a:xfrm>
            <a:off x="6151963" y="52229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5"/>
          <p:cNvSpPr/>
          <p:nvPr/>
        </p:nvSpPr>
        <p:spPr>
          <a:xfrm>
            <a:off x="5538713" y="45061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5"/>
          <p:cNvSpPr/>
          <p:nvPr/>
        </p:nvSpPr>
        <p:spPr>
          <a:xfrm>
            <a:off x="6202550" y="28003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5"/>
          <p:cNvSpPr/>
          <p:nvPr/>
        </p:nvSpPr>
        <p:spPr>
          <a:xfrm>
            <a:off x="5482838" y="14177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5"/>
          <p:cNvSpPr/>
          <p:nvPr/>
        </p:nvSpPr>
        <p:spPr>
          <a:xfrm>
            <a:off x="8171563" y="2944571"/>
            <a:ext cx="234600" cy="1284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5"/>
          <p:cNvSpPr/>
          <p:nvPr/>
        </p:nvSpPr>
        <p:spPr>
          <a:xfrm>
            <a:off x="8171563" y="34136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5"/>
          <p:cNvSpPr/>
          <p:nvPr/>
        </p:nvSpPr>
        <p:spPr>
          <a:xfrm>
            <a:off x="8171563" y="4836563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5"/>
          <p:cNvSpPr/>
          <p:nvPr/>
        </p:nvSpPr>
        <p:spPr>
          <a:xfrm>
            <a:off x="8253263" y="516698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5"/>
          <p:cNvSpPr/>
          <p:nvPr/>
        </p:nvSpPr>
        <p:spPr>
          <a:xfrm>
            <a:off x="7496113" y="1815638"/>
            <a:ext cx="234600" cy="1611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5"/>
          <p:cNvSpPr txBox="1"/>
          <p:nvPr/>
        </p:nvSpPr>
        <p:spPr>
          <a:xfrm>
            <a:off x="4537850" y="261175"/>
            <a:ext cx="4388400" cy="1580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114450" lIns="114450" spcFirstLastPara="1" rIns="114450" wrap="square" tIns="114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correcta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¡Correcto! Ahora tenemos una batería de herramientas diagnósticas útiles que nos ayudan a determinar la o las enfermedades que presenta el paciente. 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55"/>
          <p:cNvSpPr txBox="1"/>
          <p:nvPr/>
        </p:nvSpPr>
        <p:spPr>
          <a:xfrm>
            <a:off x="4537850" y="1917870"/>
            <a:ext cx="4388400" cy="1310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114450" lIns="114450" spcFirstLastPara="1" rIns="114450" wrap="square" tIns="114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Retroalimentación incorrecta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5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¡Ups! Revisa de nuevo la lista de herramientas. Toma en cuenta la situación y las muestras que puedes tomar. </a:t>
            </a:r>
            <a:endParaRPr sz="175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iagnóstico</a:t>
            </a:r>
            <a:r>
              <a:rPr lang="es"/>
              <a:t> definitivo</a:t>
            </a:r>
            <a:endParaRPr/>
          </a:p>
        </p:txBody>
      </p:sp>
      <p:sp>
        <p:nvSpPr>
          <p:cNvPr id="631" name="Google Shape;631;p56"/>
          <p:cNvSpPr txBox="1"/>
          <p:nvPr>
            <p:ph idx="1" type="body"/>
          </p:nvPr>
        </p:nvSpPr>
        <p:spPr>
          <a:xfrm>
            <a:off x="311700" y="1152475"/>
            <a:ext cx="8520600" cy="28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todos los datos recolectados y </a:t>
            </a:r>
            <a:r>
              <a:rPr lang="es"/>
              <a:t>metodologías</a:t>
            </a:r>
            <a:r>
              <a:rPr lang="es"/>
              <a:t> utilizadas… cual de estos </a:t>
            </a:r>
            <a:r>
              <a:rPr lang="es"/>
              <a:t>diagnósticos</a:t>
            </a:r>
            <a:r>
              <a:rPr lang="es"/>
              <a:t> es el definitivo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2" name="Google Shape;632;p56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{D6626CEA-20D4-4C6C-ADD3-313CCC7383A5}</a:tableStyleId>
              </a:tblPr>
              <a:tblGrid>
                <a:gridCol w="3815600"/>
                <a:gridCol w="733975"/>
              </a:tblGrid>
              <a:tr h="38100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AutoNum type="alphaLcParenR"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acidosis ruminal </a:t>
                      </a:r>
                      <a:r>
                        <a:rPr lang="es" sz="1800">
                          <a:solidFill>
                            <a:schemeClr val="dk2"/>
                          </a:solidFill>
                        </a:rPr>
                        <a:t>subclínica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b)   Indigestión vagal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2"/>
                          </a:solidFill>
                        </a:rPr>
                        <a:t>c)   paratuberculosis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633" name="Google Shape;633;p56"/>
          <p:cNvSpPr/>
          <p:nvPr/>
        </p:nvSpPr>
        <p:spPr>
          <a:xfrm>
            <a:off x="4861700" y="2237839"/>
            <a:ext cx="533700" cy="333900"/>
          </a:xfrm>
          <a:prstGeom prst="diamond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Recomendaciones al productor: 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639" name="Google Shape;639;p57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Obligatorio. Todos los animales de nuevo ingreso deberán someterse a un programa de medicina preventiva integral: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Desparasitación contra parásitos internos  y externos  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Ajustar el porcentaje de ingredientes en la dieta dando mayor peso al forraje (fibra) y menor peso al concentrado, en un balance aproximado de   60 % - 40%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Establecer  un periodo de adaptación adecuado en los corderos que se destetan.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Vacunación:</a:t>
            </a:r>
            <a:endParaRPr sz="1800">
              <a:solidFill>
                <a:srgbClr val="595959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s" sz="1800">
                <a:solidFill>
                  <a:srgbClr val="595959"/>
                </a:solidFill>
              </a:rPr>
              <a:t> Bacterina triple bovina (contra carbón sintomático, edema maligno y pasteurelosis) de laboratorio Biozoo  </a:t>
            </a:r>
            <a:endParaRPr sz="1800">
              <a:solidFill>
                <a:srgbClr val="595959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es" sz="1800">
                <a:solidFill>
                  <a:srgbClr val="595959"/>
                </a:solidFill>
              </a:rPr>
              <a:t>Refuerzo de Bacterina Triple Bovina de laboratorio Biozoo </a:t>
            </a:r>
            <a:endParaRPr sz="18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Realizar la vacunación a la hembra gestante 30 días previos al parto disminuye drásticamente la incidencia de enfermedades en corderos recién nacidos.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El intervalo mínimo entre una vacunación y otra debe ser de al menos 15 días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/>
        </p:nvSpPr>
        <p:spPr>
          <a:xfrm>
            <a:off x="583725" y="776625"/>
            <a:ext cx="9018600" cy="2569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¡Bien hecho!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595959"/>
                </a:solidFill>
              </a:rPr>
              <a:t>Has llegado a la conclusión del caso clínico. A continuación te presentamos algunos hallazgos post mortem y una pequeña reseña para complementar tu aprendizaje.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9"/>
          <p:cNvSpPr txBox="1"/>
          <p:nvPr/>
        </p:nvSpPr>
        <p:spPr>
          <a:xfrm>
            <a:off x="101275" y="57375"/>
            <a:ext cx="4900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Hallazgos post mortem: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650" name="Google Shape;650;p59"/>
          <p:cNvSpPr txBox="1"/>
          <p:nvPr/>
        </p:nvSpPr>
        <p:spPr>
          <a:xfrm>
            <a:off x="101275" y="1269275"/>
            <a:ext cx="2101500" cy="29553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 la descripción macroscópica se evaluó cavidad </a:t>
            </a:r>
            <a:r>
              <a:rPr lang="es" sz="1800">
                <a:solidFill>
                  <a:schemeClr val="dk2"/>
                </a:solidFill>
              </a:rPr>
              <a:t>torácica</a:t>
            </a:r>
            <a:r>
              <a:rPr lang="es" sz="1800">
                <a:solidFill>
                  <a:schemeClr val="dk2"/>
                </a:solidFill>
              </a:rPr>
              <a:t>, cavidad abdominal y cavidad craneana,  presentando alteraciones patológicas relevantes.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51" name="Google Shape;65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777" y="977900"/>
            <a:ext cx="5718600" cy="24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9"/>
          <p:cNvSpPr txBox="1"/>
          <p:nvPr/>
        </p:nvSpPr>
        <p:spPr>
          <a:xfrm>
            <a:off x="2272975" y="3771175"/>
            <a:ext cx="4456800" cy="10158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resto de los </a:t>
            </a:r>
            <a:r>
              <a:rPr lang="es" sz="1800">
                <a:solidFill>
                  <a:schemeClr val="dk2"/>
                </a:solidFill>
              </a:rPr>
              <a:t>órganos</a:t>
            </a:r>
            <a:r>
              <a:rPr lang="es" sz="1800">
                <a:solidFill>
                  <a:schemeClr val="dk2"/>
                </a:solidFill>
              </a:rPr>
              <a:t> evaluados no presentaron alteraciones </a:t>
            </a:r>
            <a:r>
              <a:rPr lang="es" sz="1800">
                <a:solidFill>
                  <a:schemeClr val="dk2"/>
                </a:solidFill>
              </a:rPr>
              <a:t>patológicas</a:t>
            </a:r>
            <a:r>
              <a:rPr lang="es" sz="1800">
                <a:solidFill>
                  <a:schemeClr val="dk2"/>
                </a:solidFill>
              </a:rPr>
              <a:t> macroscópicas relevantes.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60" title="Captura de pantalla 2026-04-07 1634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88" y="1098538"/>
            <a:ext cx="505777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60" title="Captura de pantalla 2026-04-07 1637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3680" y="695900"/>
            <a:ext cx="2603025" cy="43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0"/>
          <p:cNvSpPr txBox="1"/>
          <p:nvPr/>
        </p:nvSpPr>
        <p:spPr>
          <a:xfrm>
            <a:off x="101275" y="57375"/>
            <a:ext cx="4900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Hallazgos post mortem: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660" name="Google Shape;660;p60"/>
          <p:cNvSpPr txBox="1"/>
          <p:nvPr/>
        </p:nvSpPr>
        <p:spPr>
          <a:xfrm>
            <a:off x="305175" y="4230250"/>
            <a:ext cx="49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1"/>
          <p:cNvSpPr txBox="1"/>
          <p:nvPr/>
        </p:nvSpPr>
        <p:spPr>
          <a:xfrm>
            <a:off x="101275" y="958150"/>
            <a:ext cx="2101500" cy="434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 la descripción </a:t>
            </a:r>
            <a:r>
              <a:rPr lang="es" sz="1800">
                <a:solidFill>
                  <a:schemeClr val="dk2"/>
                </a:solidFill>
              </a:rPr>
              <a:t>microscópica</a:t>
            </a:r>
            <a:r>
              <a:rPr lang="es" sz="1800">
                <a:solidFill>
                  <a:schemeClr val="dk2"/>
                </a:solidFill>
              </a:rPr>
              <a:t> además de higado y rumen, se evaluó intestino delgado, pulmones, riñones, timo, linfonodos, traquea, y adrenales presentando cambios patologicos relevantes.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6" name="Google Shape;666;p61"/>
          <p:cNvSpPr txBox="1"/>
          <p:nvPr/>
        </p:nvSpPr>
        <p:spPr>
          <a:xfrm>
            <a:off x="101275" y="57375"/>
            <a:ext cx="4900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Hallazgos post mortem:</a:t>
            </a:r>
            <a:endParaRPr sz="3500">
              <a:solidFill>
                <a:srgbClr val="000000"/>
              </a:solidFill>
            </a:endParaRPr>
          </a:p>
        </p:txBody>
      </p:sp>
      <p:pic>
        <p:nvPicPr>
          <p:cNvPr id="667" name="Google Shape;6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300" y="792975"/>
            <a:ext cx="5152924" cy="31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1"/>
          <p:cNvSpPr txBox="1"/>
          <p:nvPr/>
        </p:nvSpPr>
        <p:spPr>
          <a:xfrm>
            <a:off x="2525925" y="4236850"/>
            <a:ext cx="6643500" cy="1169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Se revisaron </a:t>
            </a:r>
            <a:r>
              <a:rPr lang="es" sz="1600">
                <a:solidFill>
                  <a:schemeClr val="dk2"/>
                </a:solidFill>
              </a:rPr>
              <a:t>también</a:t>
            </a:r>
            <a:r>
              <a:rPr lang="es" sz="1600">
                <a:solidFill>
                  <a:schemeClr val="dk2"/>
                </a:solidFill>
              </a:rPr>
              <a:t> cortes histológicos de timo, retículo, omaso y encéfalo mismas que se encontraron dentro de los parámetros </a:t>
            </a:r>
            <a:r>
              <a:rPr lang="es" sz="1600">
                <a:solidFill>
                  <a:schemeClr val="dk2"/>
                </a:solidFill>
              </a:rPr>
              <a:t>histomorfológicos</a:t>
            </a:r>
            <a:r>
              <a:rPr lang="es" sz="1600">
                <a:solidFill>
                  <a:schemeClr val="dk2"/>
                </a:solidFill>
              </a:rPr>
              <a:t> considerados como normales o con cambios autolíticos.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2"/>
          <p:cNvSpPr txBox="1"/>
          <p:nvPr/>
        </p:nvSpPr>
        <p:spPr>
          <a:xfrm>
            <a:off x="311700" y="445025"/>
            <a:ext cx="441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000000"/>
                </a:solidFill>
              </a:rPr>
              <a:t>Resultado de la Necropsia 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674" name="Google Shape;674;p62"/>
          <p:cNvPicPr preferRelativeResize="0"/>
          <p:nvPr/>
        </p:nvPicPr>
        <p:blipFill rotWithShape="1">
          <a:blip r:embed="rId3">
            <a:alphaModFix/>
          </a:blip>
          <a:srcRect b="0" l="4470" r="-4470" t="12618"/>
          <a:stretch/>
        </p:blipFill>
        <p:spPr>
          <a:xfrm>
            <a:off x="260500" y="1353775"/>
            <a:ext cx="4467500" cy="23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2" title="Captura de pantalla 2026-03-27 193627.png"/>
          <p:cNvPicPr preferRelativeResize="0"/>
          <p:nvPr/>
        </p:nvPicPr>
        <p:blipFill rotWithShape="1">
          <a:blip r:embed="rId4">
            <a:alphaModFix/>
          </a:blip>
          <a:srcRect b="0" l="3350" r="11195" t="0"/>
          <a:stretch/>
        </p:blipFill>
        <p:spPr>
          <a:xfrm>
            <a:off x="4862775" y="1017725"/>
            <a:ext cx="3435075" cy="2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Google Shape;680;p63" title="Captura de pantalla 2026-04-07 1635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70400"/>
            <a:ext cx="53054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63" title="Captura de pantalla 2026-04-07 1635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0225" y="152400"/>
            <a:ext cx="3210850" cy="47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3"/>
          <p:cNvSpPr txBox="1"/>
          <p:nvPr/>
        </p:nvSpPr>
        <p:spPr>
          <a:xfrm>
            <a:off x="101275" y="57375"/>
            <a:ext cx="4900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000000"/>
                </a:solidFill>
              </a:rPr>
              <a:t>Hallazgos post mortem: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