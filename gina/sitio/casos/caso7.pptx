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B18CB4-C942-4677-B446-B40BB0A2A31A}">
  <a:tblStyle styleId="{92B18CB4-C942-4677-B446-B40BB0A2A31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9DDAC80-695F-4E1E-A50D-8878856A436B}" styleName="Table_1">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 styleId="{4DF54483-8325-43BE-8346-27B4DF7EC6F3}" styleName="Table_2">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7bb7e920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7bb7e920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f3ce504f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f3ce504f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5b9e52b2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5b9e52b2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f3ce504fe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f3ce504fe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f3ce504f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f3ce504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f3ce504f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f3ce504f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f3ce504f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f3ce504f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f3ce504f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f3ce504f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f3ce504f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f3ce504fe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f3ce504f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f3ce504f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7bb7e920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7bb7e920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cf3ce504f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cf3ce504f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7bb7e920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7bb7e920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f3ce504fe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f3ce504fe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f3ce504fe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f3ce504fe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da4cf0ed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da4cf0ed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f3ce504f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cf3ce504f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da4cf0ed3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da4cf0ed3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f3ce504fe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cf3ce504fe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df6dddcd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df6dddcd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d2c01c804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d2c01c804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f3ce504f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cf3ce504f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da4cf0ed3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da4cf0ed3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cf3ce504f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cf3ce504f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ddf6dddcd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ddf6dddcd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2c01c8049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d2c01c804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cf3ce504f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cf3ce504f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c5b9e52b2f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c5b9e52b2f_1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c5b9e52b2f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c5b9e52b2f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c5b9e52b2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c5b9e52b2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c5b9e52b2f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c5b9e52b2f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5b9e52b2f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c5b9e52b2f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c5b9e52b2f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c5b9e52b2f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c5b9e52b2f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c5b9e52b2f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c5b9e52b2f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c5b9e52b2f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c5b9e52b2f_1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c5b9e52b2f_1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c5b9e52b2f_1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c5b9e52b2f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c5b9e52b2f_1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c5b9e52b2f_1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da4cf0ed3b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da4cf0ed3b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c5b9e52b2f_1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c5b9e52b2f_1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c5b9e52b2f_1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c5b9e52b2f_1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ddf6dddcd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ddf6dddcd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c5b9e52b2f_1_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c5b9e52b2f_1_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da4cf0ed3b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da4cf0ed3b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da4cf0ed3b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da4cf0ed3b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Proyecto PAPIME</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casos </a:t>
            </a:r>
            <a:r>
              <a:rPr lang="es"/>
              <a:t>clínicos</a:t>
            </a:r>
            <a:r>
              <a:rPr lang="es"/>
              <a:t> participativos en rumiantes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nvSpPr>
        <p:spPr>
          <a:xfrm>
            <a:off x="311700" y="744575"/>
            <a:ext cx="8520600" cy="1443900"/>
          </a:xfrm>
          <a:prstGeom prst="rect">
            <a:avLst/>
          </a:prstGeom>
          <a:noFill/>
          <a:ln>
            <a:noFill/>
          </a:ln>
        </p:spPr>
        <p:txBody>
          <a:bodyPr anchorCtr="0" anchor="b" bIns="91425" lIns="91425" spcFirstLastPara="1" rIns="91425" wrap="square" tIns="91425">
            <a:normAutofit fontScale="92500" lnSpcReduction="20000"/>
          </a:bodyPr>
          <a:lstStyle/>
          <a:p>
            <a:pPr indent="0" lvl="0" marL="0" rtl="0" algn="ctr">
              <a:spcBef>
                <a:spcPts val="0"/>
              </a:spcBef>
              <a:spcAft>
                <a:spcPts val="0"/>
              </a:spcAft>
              <a:buNone/>
            </a:pPr>
            <a:r>
              <a:rPr lang="es" sz="5200"/>
              <a:t>#7. CAPRINO</a:t>
            </a:r>
            <a:endParaRPr sz="5200">
              <a:solidFill>
                <a:srgbClr val="000000"/>
              </a:solidFill>
            </a:endParaRPr>
          </a:p>
          <a:p>
            <a:pPr indent="0" lvl="0" marL="0" rtl="0" algn="ctr">
              <a:spcBef>
                <a:spcPts val="0"/>
              </a:spcBef>
              <a:spcAft>
                <a:spcPts val="0"/>
              </a:spcAft>
              <a:buNone/>
            </a:pPr>
            <a:r>
              <a:t/>
            </a:r>
            <a:endParaRPr sz="5200">
              <a:solidFill>
                <a:srgbClr val="000000"/>
              </a:solidFill>
            </a:endParaRPr>
          </a:p>
        </p:txBody>
      </p:sp>
      <p:pic>
        <p:nvPicPr>
          <p:cNvPr id="61" name="Google Shape;61;p14" title="Captura de pantalla 2026-04-07 171954.png"/>
          <p:cNvPicPr preferRelativeResize="0"/>
          <p:nvPr/>
        </p:nvPicPr>
        <p:blipFill>
          <a:blip r:embed="rId3">
            <a:alphaModFix/>
          </a:blip>
          <a:stretch>
            <a:fillRect/>
          </a:stretch>
        </p:blipFill>
        <p:spPr>
          <a:xfrm>
            <a:off x="1619250" y="1805100"/>
            <a:ext cx="5905500" cy="2343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87425" y="131025"/>
            <a:ext cx="8520600" cy="595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CONSTRUCCIÓN DEL CASO CLÍNICO</a:t>
            </a:r>
            <a:endParaRPr/>
          </a:p>
          <a:p>
            <a:pPr indent="0" lvl="0" marL="0" rtl="0" algn="l">
              <a:spcBef>
                <a:spcPts val="0"/>
              </a:spcBef>
              <a:spcAft>
                <a:spcPts val="0"/>
              </a:spcAft>
              <a:buNone/>
            </a:pPr>
            <a:r>
              <a:t/>
            </a:r>
            <a:endParaRPr sz="1800"/>
          </a:p>
        </p:txBody>
      </p:sp>
      <p:sp>
        <p:nvSpPr>
          <p:cNvPr id="67" name="Google Shape;67;p15"/>
          <p:cNvSpPr txBox="1"/>
          <p:nvPr/>
        </p:nvSpPr>
        <p:spPr>
          <a:xfrm>
            <a:off x="4718425" y="726825"/>
            <a:ext cx="3981000" cy="15699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800">
                <a:solidFill>
                  <a:schemeClr val="dk1"/>
                </a:solidFill>
              </a:rPr>
              <a:t>C</a:t>
            </a:r>
            <a:r>
              <a:rPr lang="es" sz="1800">
                <a:solidFill>
                  <a:schemeClr val="dk1"/>
                </a:solidFill>
              </a:rPr>
              <a:t>on la finalidad de establecer un adecuado abordaje médico en un caso clínico real, se debe establecer una secuencia lógica que sigue un orden específico  en los hechos.</a:t>
            </a:r>
            <a:endParaRPr sz="1800">
              <a:solidFill>
                <a:schemeClr val="dk2"/>
              </a:solidFill>
            </a:endParaRPr>
          </a:p>
        </p:txBody>
      </p:sp>
      <p:sp>
        <p:nvSpPr>
          <p:cNvPr id="68" name="Google Shape;68;p15"/>
          <p:cNvSpPr/>
          <p:nvPr/>
        </p:nvSpPr>
        <p:spPr>
          <a:xfrm>
            <a:off x="124400" y="4513500"/>
            <a:ext cx="1372882"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MOTIVO DE CONSULTA </a:t>
            </a:r>
            <a:endParaRPr sz="1000"/>
          </a:p>
        </p:txBody>
      </p:sp>
      <p:sp>
        <p:nvSpPr>
          <p:cNvPr id="69" name="Google Shape;69;p15"/>
          <p:cNvSpPr/>
          <p:nvPr/>
        </p:nvSpPr>
        <p:spPr>
          <a:xfrm>
            <a:off x="124400" y="423365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HISTORIA CLÍNICA</a:t>
            </a:r>
            <a:endParaRPr sz="1000"/>
          </a:p>
        </p:txBody>
      </p:sp>
      <p:sp>
        <p:nvSpPr>
          <p:cNvPr id="70" name="Google Shape;70;p15"/>
          <p:cNvSpPr/>
          <p:nvPr/>
        </p:nvSpPr>
        <p:spPr>
          <a:xfrm>
            <a:off x="198150" y="3114251"/>
            <a:ext cx="1225383"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A DISTANCIA </a:t>
            </a:r>
            <a:endParaRPr sz="900"/>
          </a:p>
        </p:txBody>
      </p:sp>
      <p:sp>
        <p:nvSpPr>
          <p:cNvPr id="71" name="Google Shape;71;p15"/>
          <p:cNvSpPr/>
          <p:nvPr/>
        </p:nvSpPr>
        <p:spPr>
          <a:xfrm>
            <a:off x="124400" y="2866300"/>
            <a:ext cx="1372882" cy="182434"/>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FÍSICO GENERAL </a:t>
            </a:r>
            <a:endParaRPr sz="900"/>
          </a:p>
        </p:txBody>
      </p:sp>
      <p:sp>
        <p:nvSpPr>
          <p:cNvPr id="72" name="Google Shape;72;p15"/>
          <p:cNvSpPr/>
          <p:nvPr/>
        </p:nvSpPr>
        <p:spPr>
          <a:xfrm>
            <a:off x="124400" y="367395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800">
                <a:latin typeface="Calibri"/>
                <a:ea typeface="Calibri"/>
                <a:cs typeface="Calibri"/>
                <a:sym typeface="Calibri"/>
              </a:rPr>
              <a:t>EXAMEN FÍSICO ESPECIAL </a:t>
            </a:r>
            <a:endParaRPr sz="800"/>
          </a:p>
        </p:txBody>
      </p:sp>
      <p:sp>
        <p:nvSpPr>
          <p:cNvPr id="73" name="Google Shape;73;p15"/>
          <p:cNvSpPr/>
          <p:nvPr/>
        </p:nvSpPr>
        <p:spPr>
          <a:xfrm>
            <a:off x="174025" y="3394100"/>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ANAMNESIS</a:t>
            </a:r>
            <a:endParaRPr sz="1000"/>
          </a:p>
        </p:txBody>
      </p:sp>
      <p:sp>
        <p:nvSpPr>
          <p:cNvPr id="74" name="Google Shape;74;p15"/>
          <p:cNvSpPr/>
          <p:nvPr/>
        </p:nvSpPr>
        <p:spPr>
          <a:xfrm>
            <a:off x="124400" y="3953800"/>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RESEÑA </a:t>
            </a:r>
            <a:endParaRPr sz="1000"/>
          </a:p>
        </p:txBody>
      </p:sp>
      <p:sp>
        <p:nvSpPr>
          <p:cNvPr id="75" name="Google Shape;75;p15"/>
          <p:cNvSpPr/>
          <p:nvPr/>
        </p:nvSpPr>
        <p:spPr>
          <a:xfrm>
            <a:off x="330707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000">
                <a:latin typeface="Calibri"/>
                <a:ea typeface="Calibri"/>
                <a:cs typeface="Calibri"/>
                <a:sym typeface="Calibri"/>
              </a:rPr>
              <a:t>EXPLORACIÓN</a:t>
            </a:r>
            <a:endParaRPr sz="1000"/>
          </a:p>
        </p:txBody>
      </p:sp>
      <p:sp>
        <p:nvSpPr>
          <p:cNvPr id="76" name="Google Shape;76;p15"/>
          <p:cNvSpPr/>
          <p:nvPr/>
        </p:nvSpPr>
        <p:spPr>
          <a:xfrm>
            <a:off x="3180776" y="250242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77" name="Google Shape;77;p15"/>
          <p:cNvSpPr/>
          <p:nvPr/>
        </p:nvSpPr>
        <p:spPr>
          <a:xfrm>
            <a:off x="193442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l">
              <a:spcBef>
                <a:spcPts val="0"/>
              </a:spcBef>
              <a:spcAft>
                <a:spcPts val="0"/>
              </a:spcAft>
              <a:buNone/>
            </a:pPr>
            <a:r>
              <a:rPr lang="es" sz="858">
                <a:latin typeface="Calibri"/>
                <a:ea typeface="Calibri"/>
                <a:cs typeface="Calibri"/>
                <a:sym typeface="Calibri"/>
              </a:rPr>
              <a:t>INTERROGATORIO </a:t>
            </a:r>
            <a:endParaRPr sz="658"/>
          </a:p>
        </p:txBody>
      </p:sp>
      <p:sp>
        <p:nvSpPr>
          <p:cNvPr id="78" name="Google Shape;78;p15"/>
          <p:cNvSpPr/>
          <p:nvPr/>
        </p:nvSpPr>
        <p:spPr>
          <a:xfrm>
            <a:off x="1808126" y="250242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79" name="Google Shape;79;p15"/>
          <p:cNvSpPr txBox="1"/>
          <p:nvPr/>
        </p:nvSpPr>
        <p:spPr>
          <a:xfrm>
            <a:off x="124400" y="1034875"/>
            <a:ext cx="4109700" cy="6465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Acomoda en orden secuencial los aspectos del interrogatorio y de la exploración </a:t>
            </a:r>
            <a:endParaRPr sz="15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87425" y="131025"/>
            <a:ext cx="8520600" cy="59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2500"/>
              <a:t>CONSTRUCCIÓN DEL CASO CLÍNICO</a:t>
            </a:r>
            <a:endParaRPr sz="2500"/>
          </a:p>
          <a:p>
            <a:pPr indent="0" lvl="0" marL="0" rtl="0" algn="l">
              <a:spcBef>
                <a:spcPts val="0"/>
              </a:spcBef>
              <a:spcAft>
                <a:spcPts val="0"/>
              </a:spcAft>
              <a:buNone/>
            </a:pPr>
            <a:r>
              <a:t/>
            </a:r>
            <a:endParaRPr sz="2500"/>
          </a:p>
        </p:txBody>
      </p:sp>
      <p:sp>
        <p:nvSpPr>
          <p:cNvPr id="85" name="Google Shape;85;p16"/>
          <p:cNvSpPr txBox="1"/>
          <p:nvPr/>
        </p:nvSpPr>
        <p:spPr>
          <a:xfrm>
            <a:off x="4718425" y="726825"/>
            <a:ext cx="3981000" cy="15699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800">
                <a:solidFill>
                  <a:schemeClr val="dk1"/>
                </a:solidFill>
              </a:rPr>
              <a:t>con la finalidad de establecer un adecuado abordaje médico en un caso clínico real, se debe establecer una secuencia lógica que sigue un orden específico  en los hechos.</a:t>
            </a:r>
            <a:endParaRPr sz="1800">
              <a:solidFill>
                <a:schemeClr val="dk2"/>
              </a:solidFill>
            </a:endParaRPr>
          </a:p>
        </p:txBody>
      </p:sp>
      <p:sp>
        <p:nvSpPr>
          <p:cNvPr id="86" name="Google Shape;86;p16"/>
          <p:cNvSpPr/>
          <p:nvPr/>
        </p:nvSpPr>
        <p:spPr>
          <a:xfrm>
            <a:off x="298275" y="3324463"/>
            <a:ext cx="1372882"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MOTIVO DE CONSULTA </a:t>
            </a:r>
            <a:endParaRPr sz="1000"/>
          </a:p>
        </p:txBody>
      </p:sp>
      <p:sp>
        <p:nvSpPr>
          <p:cNvPr id="87" name="Google Shape;87;p16"/>
          <p:cNvSpPr/>
          <p:nvPr/>
        </p:nvSpPr>
        <p:spPr>
          <a:xfrm>
            <a:off x="416375" y="439810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HISTORIA CLÍNICA</a:t>
            </a:r>
            <a:endParaRPr sz="1000"/>
          </a:p>
        </p:txBody>
      </p:sp>
      <p:sp>
        <p:nvSpPr>
          <p:cNvPr id="88" name="Google Shape;88;p16"/>
          <p:cNvSpPr/>
          <p:nvPr/>
        </p:nvSpPr>
        <p:spPr>
          <a:xfrm>
            <a:off x="2986538" y="2678751"/>
            <a:ext cx="1225383"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A DISTANCIA </a:t>
            </a:r>
            <a:endParaRPr sz="900"/>
          </a:p>
        </p:txBody>
      </p:sp>
      <p:sp>
        <p:nvSpPr>
          <p:cNvPr id="89" name="Google Shape;89;p16"/>
          <p:cNvSpPr/>
          <p:nvPr/>
        </p:nvSpPr>
        <p:spPr>
          <a:xfrm>
            <a:off x="2912787" y="3535863"/>
            <a:ext cx="1372882" cy="182434"/>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900">
                <a:latin typeface="Calibri"/>
                <a:ea typeface="Calibri"/>
                <a:cs typeface="Calibri"/>
                <a:sym typeface="Calibri"/>
              </a:rPr>
              <a:t>EXAMEN FÍSICO GENERAL </a:t>
            </a:r>
            <a:endParaRPr sz="900"/>
          </a:p>
        </p:txBody>
      </p:sp>
      <p:sp>
        <p:nvSpPr>
          <p:cNvPr id="90" name="Google Shape;90;p16"/>
          <p:cNvSpPr/>
          <p:nvPr/>
        </p:nvSpPr>
        <p:spPr>
          <a:xfrm>
            <a:off x="2952513" y="4361100"/>
            <a:ext cx="1293459"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800">
                <a:latin typeface="Calibri"/>
                <a:ea typeface="Calibri"/>
                <a:cs typeface="Calibri"/>
                <a:sym typeface="Calibri"/>
              </a:rPr>
              <a:t>EXAMEN FÍSICO ESPECIAL </a:t>
            </a:r>
            <a:endParaRPr sz="800"/>
          </a:p>
        </p:txBody>
      </p:sp>
      <p:sp>
        <p:nvSpPr>
          <p:cNvPr id="91" name="Google Shape;91;p16"/>
          <p:cNvSpPr/>
          <p:nvPr/>
        </p:nvSpPr>
        <p:spPr>
          <a:xfrm>
            <a:off x="489275" y="3861275"/>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ANAMNESIS</a:t>
            </a:r>
            <a:endParaRPr sz="1000"/>
          </a:p>
        </p:txBody>
      </p:sp>
      <p:sp>
        <p:nvSpPr>
          <p:cNvPr id="92" name="Google Shape;92;p16"/>
          <p:cNvSpPr/>
          <p:nvPr/>
        </p:nvSpPr>
        <p:spPr>
          <a:xfrm>
            <a:off x="489275" y="2651975"/>
            <a:ext cx="990896" cy="21431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RESEÑA </a:t>
            </a:r>
            <a:endParaRPr sz="1000"/>
          </a:p>
        </p:txBody>
      </p:sp>
      <p:sp>
        <p:nvSpPr>
          <p:cNvPr id="93" name="Google Shape;93;p16"/>
          <p:cNvSpPr/>
          <p:nvPr/>
        </p:nvSpPr>
        <p:spPr>
          <a:xfrm>
            <a:off x="3077975" y="21234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000">
                <a:latin typeface="Calibri"/>
                <a:ea typeface="Calibri"/>
                <a:cs typeface="Calibri"/>
                <a:sym typeface="Calibri"/>
              </a:rPr>
              <a:t>EXPLORACIÓN</a:t>
            </a:r>
            <a:endParaRPr sz="1000"/>
          </a:p>
        </p:txBody>
      </p:sp>
      <p:sp>
        <p:nvSpPr>
          <p:cNvPr id="94" name="Google Shape;94;p16"/>
          <p:cNvSpPr/>
          <p:nvPr/>
        </p:nvSpPr>
        <p:spPr>
          <a:xfrm>
            <a:off x="2951676" y="2514375"/>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95" name="Google Shape;95;p16"/>
          <p:cNvSpPr/>
          <p:nvPr/>
        </p:nvSpPr>
        <p:spPr>
          <a:xfrm>
            <a:off x="463475" y="21115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l">
              <a:spcBef>
                <a:spcPts val="0"/>
              </a:spcBef>
              <a:spcAft>
                <a:spcPts val="0"/>
              </a:spcAft>
              <a:buNone/>
            </a:pPr>
            <a:r>
              <a:rPr lang="es" sz="858">
                <a:latin typeface="Calibri"/>
                <a:ea typeface="Calibri"/>
                <a:cs typeface="Calibri"/>
                <a:sym typeface="Calibri"/>
              </a:rPr>
              <a:t>INTERROGATORIO </a:t>
            </a:r>
            <a:endParaRPr sz="658"/>
          </a:p>
        </p:txBody>
      </p:sp>
      <p:sp>
        <p:nvSpPr>
          <p:cNvPr id="96" name="Google Shape;96;p16"/>
          <p:cNvSpPr/>
          <p:nvPr/>
        </p:nvSpPr>
        <p:spPr>
          <a:xfrm>
            <a:off x="337163" y="2502413"/>
            <a:ext cx="1295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97" name="Google Shape;97;p16"/>
          <p:cNvSpPr txBox="1"/>
          <p:nvPr/>
        </p:nvSpPr>
        <p:spPr>
          <a:xfrm>
            <a:off x="124400" y="1034875"/>
            <a:ext cx="4109700" cy="6465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Acomoda </a:t>
            </a:r>
            <a:r>
              <a:rPr lang="es" sz="1500">
                <a:solidFill>
                  <a:schemeClr val="dk2"/>
                </a:solidFill>
              </a:rPr>
              <a:t>en orden secuencial los aspectos del interrogatorio y de la exploración </a:t>
            </a:r>
            <a:endParaRPr sz="1500">
              <a:solidFill>
                <a:schemeClr val="dk2"/>
              </a:solidFill>
            </a:endParaRPr>
          </a:p>
        </p:txBody>
      </p:sp>
      <p:sp>
        <p:nvSpPr>
          <p:cNvPr id="98" name="Google Shape;98;p16"/>
          <p:cNvSpPr txBox="1"/>
          <p:nvPr/>
        </p:nvSpPr>
        <p:spPr>
          <a:xfrm>
            <a:off x="4572001" y="2643812"/>
            <a:ext cx="4320000" cy="708600"/>
          </a:xfrm>
          <a:prstGeom prst="rect">
            <a:avLst/>
          </a:prstGeom>
          <a:solidFill>
            <a:srgbClr val="00FFFF"/>
          </a:solidFill>
          <a:ln>
            <a:noFill/>
          </a:ln>
        </p:spPr>
        <p:txBody>
          <a:bodyPr anchorCtr="0" anchor="t" bIns="77950" lIns="77950" spcFirstLastPara="1" rIns="77950" wrap="square" tIns="77950">
            <a:spAutoFit/>
          </a:bodyPr>
          <a:lstStyle/>
          <a:p>
            <a:pPr indent="0" lvl="0" marL="0" rtl="0" algn="just">
              <a:spcBef>
                <a:spcPts val="0"/>
              </a:spcBef>
              <a:spcAft>
                <a:spcPts val="0"/>
              </a:spcAft>
              <a:buNone/>
            </a:pPr>
            <a:r>
              <a:rPr lang="es" sz="1193">
                <a:latin typeface="Times New Roman"/>
                <a:ea typeface="Times New Roman"/>
                <a:cs typeface="Times New Roman"/>
                <a:sym typeface="Times New Roman"/>
              </a:rPr>
              <a:t>Retroalimentación correcta</a:t>
            </a:r>
            <a:endParaRPr sz="1193">
              <a:latin typeface="Times New Roman"/>
              <a:ea typeface="Times New Roman"/>
              <a:cs typeface="Times New Roman"/>
              <a:sym typeface="Times New Roman"/>
            </a:endParaRPr>
          </a:p>
          <a:p>
            <a:pPr indent="0" lvl="0" marL="0" rtl="0" algn="just">
              <a:spcBef>
                <a:spcPts val="0"/>
              </a:spcBef>
              <a:spcAft>
                <a:spcPts val="0"/>
              </a:spcAft>
              <a:buNone/>
            </a:pPr>
            <a:r>
              <a:rPr lang="es" sz="1193">
                <a:latin typeface="Times New Roman"/>
                <a:ea typeface="Times New Roman"/>
                <a:cs typeface="Times New Roman"/>
                <a:sym typeface="Times New Roman"/>
              </a:rPr>
              <a:t>¡Bien hecho! el abordaje estructurado en el orden correcto te orienta a llegar a un mejor diagnóstico y resolución del problema. </a:t>
            </a:r>
            <a:endParaRPr sz="1534">
              <a:solidFill>
                <a:srgbClr val="595959"/>
              </a:solidFill>
              <a:latin typeface="Times New Roman"/>
              <a:ea typeface="Times New Roman"/>
              <a:cs typeface="Times New Roman"/>
              <a:sym typeface="Times New Roman"/>
            </a:endParaRPr>
          </a:p>
        </p:txBody>
      </p:sp>
      <p:sp>
        <p:nvSpPr>
          <p:cNvPr id="99" name="Google Shape;99;p16"/>
          <p:cNvSpPr txBox="1"/>
          <p:nvPr/>
        </p:nvSpPr>
        <p:spPr>
          <a:xfrm>
            <a:off x="4685881" y="3519851"/>
            <a:ext cx="4206000" cy="1128300"/>
          </a:xfrm>
          <a:prstGeom prst="rect">
            <a:avLst/>
          </a:prstGeom>
          <a:solidFill>
            <a:srgbClr val="00FFFF"/>
          </a:solidFill>
          <a:ln>
            <a:noFill/>
          </a:ln>
        </p:spPr>
        <p:txBody>
          <a:bodyPr anchorCtr="0" anchor="t" bIns="77950" lIns="77950" spcFirstLastPara="1" rIns="77950" wrap="square" tIns="77950">
            <a:spAutoFit/>
          </a:bodyPr>
          <a:lstStyle/>
          <a:p>
            <a:pPr indent="0" lvl="0" marL="0" rtl="0" algn="just">
              <a:spcBef>
                <a:spcPts val="0"/>
              </a:spcBef>
              <a:spcAft>
                <a:spcPts val="0"/>
              </a:spcAft>
              <a:buNone/>
            </a:pPr>
            <a:r>
              <a:rPr lang="es" sz="1193">
                <a:latin typeface="Times New Roman"/>
                <a:ea typeface="Times New Roman"/>
                <a:cs typeface="Times New Roman"/>
                <a:sym typeface="Times New Roman"/>
              </a:rPr>
              <a:t>Retroalimentación incorrecta</a:t>
            </a:r>
            <a:endParaRPr sz="1193">
              <a:latin typeface="Times New Roman"/>
              <a:ea typeface="Times New Roman"/>
              <a:cs typeface="Times New Roman"/>
              <a:sym typeface="Times New Roman"/>
            </a:endParaRPr>
          </a:p>
          <a:p>
            <a:pPr indent="0" lvl="0" marL="0" rtl="0" algn="just">
              <a:spcBef>
                <a:spcPts val="0"/>
              </a:spcBef>
              <a:spcAft>
                <a:spcPts val="0"/>
              </a:spcAft>
              <a:buNone/>
            </a:pPr>
            <a:r>
              <a:rPr lang="es" sz="1193">
                <a:latin typeface="Times New Roman"/>
                <a:ea typeface="Times New Roman"/>
                <a:cs typeface="Times New Roman"/>
                <a:sym typeface="Times New Roman"/>
              </a:rPr>
              <a:t>¡Ups! revisa con detenimiento  tu respuesta. Recuerda: un expediente clínico impreciso y desordenado puede causar confusión, pérdida de tiempo y de recursos. </a:t>
            </a:r>
            <a:endParaRPr sz="1193">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534">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txBox="1"/>
          <p:nvPr>
            <p:ph type="title"/>
          </p:nvPr>
        </p:nvSpPr>
        <p:spPr>
          <a:xfrm>
            <a:off x="311700" y="565575"/>
            <a:ext cx="3685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Reseña </a:t>
            </a:r>
            <a:endParaRPr sz="3500"/>
          </a:p>
        </p:txBody>
      </p:sp>
      <p:sp>
        <p:nvSpPr>
          <p:cNvPr id="105" name="Google Shape;105;p17"/>
          <p:cNvSpPr txBox="1"/>
          <p:nvPr>
            <p:ph idx="1" type="body"/>
          </p:nvPr>
        </p:nvSpPr>
        <p:spPr>
          <a:xfrm>
            <a:off x="781298" y="1174675"/>
            <a:ext cx="2182800" cy="3615600"/>
          </a:xfrm>
          <a:prstGeom prst="rect">
            <a:avLst/>
          </a:prstGeom>
          <a:solidFill>
            <a:srgbClr val="FCE5CD"/>
          </a:solidFill>
        </p:spPr>
        <p:txBody>
          <a:bodyPr anchorCtr="0" anchor="t" bIns="91425" lIns="91425" spcFirstLastPara="1" rIns="91425" wrap="square" tIns="91425">
            <a:noAutofit/>
          </a:bodyPr>
          <a:lstStyle/>
          <a:p>
            <a:pPr indent="0" lvl="0" marL="0" rtl="0" algn="l">
              <a:spcBef>
                <a:spcPts val="0"/>
              </a:spcBef>
              <a:spcAft>
                <a:spcPts val="0"/>
              </a:spcAft>
              <a:buNone/>
            </a:pPr>
            <a:r>
              <a:rPr lang="es" sz="1300">
                <a:latin typeface="Times New Roman"/>
                <a:ea typeface="Times New Roman"/>
                <a:cs typeface="Times New Roman"/>
                <a:sym typeface="Times New Roman"/>
              </a:rPr>
              <a:t>Especie:  Caprina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Raza: Saanen, </a:t>
            </a:r>
            <a:r>
              <a:rPr lang="es" sz="1300">
                <a:latin typeface="Times New Roman"/>
                <a:ea typeface="Times New Roman"/>
                <a:cs typeface="Times New Roman"/>
                <a:sym typeface="Times New Roman"/>
              </a:rPr>
              <a:t>Alpina Frances</a:t>
            </a:r>
            <a:r>
              <a:rPr lang="es" sz="1300">
                <a:latin typeface="Times New Roman"/>
                <a:ea typeface="Times New Roman"/>
                <a:cs typeface="Times New Roman"/>
                <a:sym typeface="Times New Roman"/>
              </a:rPr>
              <a:t>a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Sexo:  Hembra</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Estado fisiológico: Fértil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Edad:   7 años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Función</a:t>
            </a:r>
            <a:r>
              <a:rPr lang="es" sz="1300">
                <a:latin typeface="Times New Roman"/>
                <a:ea typeface="Times New Roman"/>
                <a:cs typeface="Times New Roman"/>
                <a:sym typeface="Times New Roman"/>
              </a:rPr>
              <a:t> </a:t>
            </a:r>
            <a:r>
              <a:rPr lang="es" sz="1300">
                <a:latin typeface="Times New Roman"/>
                <a:ea typeface="Times New Roman"/>
                <a:cs typeface="Times New Roman"/>
                <a:sym typeface="Times New Roman"/>
              </a:rPr>
              <a:t>zootécnica</a:t>
            </a:r>
            <a:r>
              <a:rPr lang="es" sz="1300">
                <a:latin typeface="Times New Roman"/>
                <a:ea typeface="Times New Roman"/>
                <a:cs typeface="Times New Roman"/>
                <a:sym typeface="Times New Roman"/>
              </a:rPr>
              <a:t>:  Producción Láctea </a:t>
            </a:r>
            <a:endParaRPr sz="1300">
              <a:latin typeface="Times New Roman"/>
              <a:ea typeface="Times New Roman"/>
              <a:cs typeface="Times New Roman"/>
              <a:sym typeface="Times New Roman"/>
            </a:endParaRPr>
          </a:p>
          <a:p>
            <a:pPr indent="0" lvl="0" marL="0" rtl="0" algn="l">
              <a:spcBef>
                <a:spcPts val="1200"/>
              </a:spcBef>
              <a:spcAft>
                <a:spcPts val="0"/>
              </a:spcAft>
              <a:buNone/>
            </a:pPr>
            <a:r>
              <a:rPr lang="es" sz="1300">
                <a:latin typeface="Times New Roman"/>
                <a:ea typeface="Times New Roman"/>
                <a:cs typeface="Times New Roman"/>
                <a:sym typeface="Times New Roman"/>
              </a:rPr>
              <a:t>ID: </a:t>
            </a:r>
            <a:endParaRPr sz="1300">
              <a:latin typeface="Times New Roman"/>
              <a:ea typeface="Times New Roman"/>
              <a:cs typeface="Times New Roman"/>
              <a:sym typeface="Times New Roman"/>
            </a:endParaRPr>
          </a:p>
          <a:p>
            <a:pPr indent="0" lvl="0" marL="0" rtl="0" algn="l">
              <a:spcBef>
                <a:spcPts val="1200"/>
              </a:spcBef>
              <a:spcAft>
                <a:spcPts val="1200"/>
              </a:spcAft>
              <a:buNone/>
            </a:pPr>
            <a:r>
              <a:rPr lang="es" sz="1300">
                <a:latin typeface="Times New Roman"/>
                <a:ea typeface="Times New Roman"/>
                <a:cs typeface="Times New Roman"/>
                <a:sym typeface="Times New Roman"/>
              </a:rPr>
              <a:t>Nombre: N R </a:t>
            </a:r>
            <a:endParaRPr sz="1300">
              <a:latin typeface="Times New Roman"/>
              <a:ea typeface="Times New Roman"/>
              <a:cs typeface="Times New Roman"/>
              <a:sym typeface="Times New Roman"/>
            </a:endParaRPr>
          </a:p>
        </p:txBody>
      </p:sp>
      <p:sp>
        <p:nvSpPr>
          <p:cNvPr id="106" name="Google Shape;106;p17"/>
          <p:cNvSpPr txBox="1"/>
          <p:nvPr>
            <p:ph idx="1" type="body"/>
          </p:nvPr>
        </p:nvSpPr>
        <p:spPr>
          <a:xfrm>
            <a:off x="3085325" y="1654075"/>
            <a:ext cx="2077500" cy="2900100"/>
          </a:xfrm>
          <a:prstGeom prst="rect">
            <a:avLst/>
          </a:prstGeom>
          <a:solidFill>
            <a:srgbClr val="CFE2F3"/>
          </a:solidFill>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s" sz="1600">
                <a:latin typeface="Times New Roman"/>
                <a:ea typeface="Times New Roman"/>
                <a:cs typeface="Times New Roman"/>
                <a:sym typeface="Times New Roman"/>
              </a:rPr>
              <a:t>Productor: </a:t>
            </a:r>
            <a:r>
              <a:rPr lang="es" sz="1600">
                <a:latin typeface="Times New Roman"/>
                <a:ea typeface="Times New Roman"/>
                <a:cs typeface="Times New Roman"/>
                <a:sym typeface="Times New Roman"/>
              </a:rPr>
              <a:t>Catarina</a:t>
            </a:r>
            <a:r>
              <a:rPr lang="es" sz="1600">
                <a:latin typeface="Times New Roman"/>
                <a:ea typeface="Times New Roman"/>
                <a:cs typeface="Times New Roman"/>
                <a:sym typeface="Times New Roman"/>
              </a:rPr>
              <a:t> G.</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es" sz="1600">
                <a:latin typeface="Times New Roman"/>
                <a:ea typeface="Times New Roman"/>
                <a:cs typeface="Times New Roman"/>
                <a:sym typeface="Times New Roman"/>
              </a:rPr>
              <a:t>tel. contacto:  442-598-3214</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es" sz="1600">
                <a:latin typeface="Times New Roman"/>
                <a:ea typeface="Times New Roman"/>
                <a:cs typeface="Times New Roman"/>
                <a:sym typeface="Times New Roman"/>
              </a:rPr>
              <a:t>D</a:t>
            </a:r>
            <a:r>
              <a:rPr lang="es" sz="1600">
                <a:latin typeface="Times New Roman"/>
                <a:ea typeface="Times New Roman"/>
                <a:cs typeface="Times New Roman"/>
                <a:sym typeface="Times New Roman"/>
              </a:rPr>
              <a:t>irección</a:t>
            </a:r>
            <a:r>
              <a:rPr lang="es" sz="1600">
                <a:latin typeface="Times New Roman"/>
                <a:ea typeface="Times New Roman"/>
                <a:cs typeface="Times New Roman"/>
                <a:sym typeface="Times New Roman"/>
              </a:rPr>
              <a:t>: Querétaro, México. </a:t>
            </a:r>
            <a:endParaRPr sz="1600">
              <a:latin typeface="Times New Roman"/>
              <a:ea typeface="Times New Roman"/>
              <a:cs typeface="Times New Roman"/>
              <a:sym typeface="Times New Roman"/>
            </a:endParaRPr>
          </a:p>
          <a:p>
            <a:pPr indent="0" lvl="0" marL="0" rtl="0" algn="l">
              <a:spcBef>
                <a:spcPts val="1200"/>
              </a:spcBef>
              <a:spcAft>
                <a:spcPts val="0"/>
              </a:spcAft>
              <a:buNone/>
            </a:pPr>
            <a:r>
              <a:rPr lang="es" sz="1600">
                <a:latin typeface="Times New Roman"/>
                <a:ea typeface="Times New Roman"/>
                <a:cs typeface="Times New Roman"/>
                <a:sym typeface="Times New Roman"/>
              </a:rPr>
              <a:t>Correo </a:t>
            </a:r>
            <a:r>
              <a:rPr lang="es" sz="1600">
                <a:latin typeface="Times New Roman"/>
                <a:ea typeface="Times New Roman"/>
                <a:cs typeface="Times New Roman"/>
                <a:sym typeface="Times New Roman"/>
              </a:rPr>
              <a:t>electrónico</a:t>
            </a:r>
            <a:r>
              <a:rPr lang="es" sz="1600">
                <a:latin typeface="Times New Roman"/>
                <a:ea typeface="Times New Roman"/>
                <a:cs typeface="Times New Roman"/>
                <a:sym typeface="Times New Roman"/>
              </a:rPr>
              <a:t>:  cabritaslecheras@correo.com </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0"/>
              </a:spcAft>
              <a:buNone/>
            </a:pPr>
            <a:r>
              <a:t/>
            </a:r>
            <a:endParaRPr sz="1600">
              <a:latin typeface="Times New Roman"/>
              <a:ea typeface="Times New Roman"/>
              <a:cs typeface="Times New Roman"/>
              <a:sym typeface="Times New Roman"/>
            </a:endParaRPr>
          </a:p>
          <a:p>
            <a:pPr indent="0" lvl="0" marL="0" rtl="0" algn="l">
              <a:spcBef>
                <a:spcPts val="1200"/>
              </a:spcBef>
              <a:spcAft>
                <a:spcPts val="1200"/>
              </a:spcAft>
              <a:buNone/>
            </a:pPr>
            <a:r>
              <a:rPr lang="e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idx="1" type="body"/>
          </p:nvPr>
        </p:nvSpPr>
        <p:spPr>
          <a:xfrm>
            <a:off x="311700" y="1202025"/>
            <a:ext cx="4329000" cy="3074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s"/>
              <a:t>En esta ocasión te llama una productora de quesos de cabra porque bajó su </a:t>
            </a:r>
            <a:r>
              <a:rPr lang="es"/>
              <a:t>producción</a:t>
            </a:r>
            <a:r>
              <a:rPr lang="es"/>
              <a:t> de leche bruscamente y ha escuchado tos y estornudos en sus cabras, pero hay una en particular que si puede ver afectada, más que las demás, y por eso requiere tu servicio MVZ.</a:t>
            </a:r>
            <a:endParaRPr/>
          </a:p>
        </p:txBody>
      </p:sp>
      <p:sp>
        <p:nvSpPr>
          <p:cNvPr id="112" name="Google Shape;112;p18"/>
          <p:cNvSpPr txBox="1"/>
          <p:nvPr/>
        </p:nvSpPr>
        <p:spPr>
          <a:xfrm>
            <a:off x="311700" y="306075"/>
            <a:ext cx="5104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Motivo de consulta </a:t>
            </a:r>
            <a:endParaRPr sz="3500">
              <a:solidFill>
                <a:srgbClr val="000000"/>
              </a:solidFill>
            </a:endParaRPr>
          </a:p>
        </p:txBody>
      </p:sp>
      <p:pic>
        <p:nvPicPr>
          <p:cNvPr id="113" name="Google Shape;113;p18" title="Captura de pantalla 2026-04-07 172020.png"/>
          <p:cNvPicPr preferRelativeResize="0"/>
          <p:nvPr/>
        </p:nvPicPr>
        <p:blipFill>
          <a:blip r:embed="rId3">
            <a:alphaModFix/>
          </a:blip>
          <a:stretch>
            <a:fillRect/>
          </a:stretch>
        </p:blipFill>
        <p:spPr>
          <a:xfrm>
            <a:off x="4908588" y="1107325"/>
            <a:ext cx="3514725" cy="2733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311700" y="445025"/>
            <a:ext cx="47952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Anamnesis </a:t>
            </a:r>
            <a:endParaRPr sz="3500"/>
          </a:p>
        </p:txBody>
      </p:sp>
      <p:sp>
        <p:nvSpPr>
          <p:cNvPr id="119" name="Google Shape;119;p19"/>
          <p:cNvSpPr txBox="1"/>
          <p:nvPr>
            <p:ph idx="1" type="body"/>
          </p:nvPr>
        </p:nvSpPr>
        <p:spPr>
          <a:xfrm>
            <a:off x="602750" y="1351625"/>
            <a:ext cx="47952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s"/>
              <a:t>La dueña de la granja te comenta que han pasado varios dias desde que noto que algunas de sus cabras </a:t>
            </a:r>
            <a:r>
              <a:rPr lang="es"/>
              <a:t>estornudan</a:t>
            </a:r>
            <a:r>
              <a:rPr lang="es"/>
              <a:t> y tosen de vez en cuando, te comenta que las ha notado decaidas y ha bajado su producción </a:t>
            </a:r>
            <a:r>
              <a:rPr lang="es"/>
              <a:t>láctea</a:t>
            </a:r>
            <a:r>
              <a:rPr lang="es"/>
              <a:t>. Refiere que hay una en particular, de las mas viejas que ve más afectada, y flaquita. por eso requiere tu servicio de MVZ  </a:t>
            </a:r>
            <a:endParaRPr/>
          </a:p>
          <a:p>
            <a:pPr indent="0" lvl="0" marL="0" rtl="0" algn="just">
              <a:spcBef>
                <a:spcPts val="1200"/>
              </a:spcBef>
              <a:spcAft>
                <a:spcPts val="1200"/>
              </a:spcAft>
              <a:buNone/>
            </a:pPr>
            <a:r>
              <a:rPr lang="es"/>
              <a:t>Refiere que no se les administro ningun tratamiento farmacológico. </a:t>
            </a:r>
            <a:endParaRPr/>
          </a:p>
        </p:txBody>
      </p:sp>
      <p:sp>
        <p:nvSpPr>
          <p:cNvPr id="120" name="Google Shape;120;p19"/>
          <p:cNvSpPr/>
          <p:nvPr/>
        </p:nvSpPr>
        <p:spPr>
          <a:xfrm>
            <a:off x="5624925" y="1640800"/>
            <a:ext cx="3207400" cy="2838050"/>
          </a:xfrm>
          <a:prstGeom prst="flowChartManualOpe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Anamnesis</a:t>
            </a:r>
            <a:endParaRPr/>
          </a:p>
        </p:txBody>
      </p:sp>
      <p:graphicFrame>
        <p:nvGraphicFramePr>
          <p:cNvPr id="126" name="Google Shape;126;p20"/>
          <p:cNvGraphicFramePr/>
          <p:nvPr/>
        </p:nvGraphicFramePr>
        <p:xfrm>
          <a:off x="3118650" y="1870775"/>
          <a:ext cx="3000000" cy="3000000"/>
        </p:xfrm>
        <a:graphic>
          <a:graphicData uri="http://schemas.openxmlformats.org/drawingml/2006/table">
            <a:tbl>
              <a:tblPr>
                <a:noFill/>
                <a:tableStyleId>{92B18CB4-C942-4677-B446-B40BB0A2A31A}</a:tableStyleId>
              </a:tblPr>
              <a:tblGrid>
                <a:gridCol w="2016125"/>
                <a:gridCol w="682625"/>
              </a:tblGrid>
              <a:tr h="381000">
                <a:tc>
                  <a:txBody>
                    <a:bodyPr/>
                    <a:lstStyle/>
                    <a:p>
                      <a:pPr indent="0" lvl="0" marL="0" rtl="0" algn="ctr">
                        <a:spcBef>
                          <a:spcPts val="0"/>
                        </a:spcBef>
                        <a:spcAft>
                          <a:spcPts val="0"/>
                        </a:spcAft>
                        <a:buNone/>
                      </a:pPr>
                      <a:r>
                        <a:rPr lang="es"/>
                        <a:t>Manifestaciones </a:t>
                      </a:r>
                      <a:r>
                        <a:rPr lang="es"/>
                        <a:t>clínicas</a:t>
                      </a:r>
                      <a:r>
                        <a:rPr lang="es"/>
                        <a:t>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Factores de riesgo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Ambos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27" name="Google Shape;127;p20"/>
          <p:cNvSpPr txBox="1"/>
          <p:nvPr>
            <p:ph type="title"/>
          </p:nvPr>
        </p:nvSpPr>
        <p:spPr>
          <a:xfrm>
            <a:off x="98975" y="1222650"/>
            <a:ext cx="8738100" cy="572700"/>
          </a:xfrm>
          <a:prstGeom prst="rect">
            <a:avLst/>
          </a:prstGeom>
          <a:solidFill>
            <a:schemeClr val="accent6"/>
          </a:solidFill>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990"/>
              <a:buFont typeface="Arial"/>
              <a:buNone/>
            </a:pPr>
            <a:r>
              <a:rPr lang="es" sz="1520">
                <a:solidFill>
                  <a:schemeClr val="dk2"/>
                </a:solidFill>
              </a:rPr>
              <a:t>¿Qué tipo de datos encuentras dentro de la anamnesis con relación al corderito 4063?</a:t>
            </a:r>
            <a:endParaRPr sz="2420"/>
          </a:p>
        </p:txBody>
      </p:sp>
      <p:sp>
        <p:nvSpPr>
          <p:cNvPr id="128" name="Google Shape;128;p20"/>
          <p:cNvSpPr/>
          <p:nvPr/>
        </p:nvSpPr>
        <p:spPr>
          <a:xfrm>
            <a:off x="5225850" y="20002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0"/>
          <p:cNvSpPr txBox="1"/>
          <p:nvPr/>
        </p:nvSpPr>
        <p:spPr>
          <a:xfrm>
            <a:off x="4572000" y="3607100"/>
            <a:ext cx="4265100" cy="1401900"/>
          </a:xfrm>
          <a:prstGeom prst="rect">
            <a:avLst/>
          </a:prstGeom>
          <a:solidFill>
            <a:srgbClr val="00FFFF"/>
          </a:solid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a:t>
            </a:r>
            <a:br>
              <a:rPr lang="es">
                <a:solidFill>
                  <a:srgbClr val="595959"/>
                </a:solidFill>
                <a:latin typeface="Times New Roman"/>
                <a:ea typeface="Times New Roman"/>
                <a:cs typeface="Times New Roman"/>
                <a:sym typeface="Times New Roman"/>
              </a:rPr>
            </a:br>
            <a:r>
              <a:rPr lang="es">
                <a:solidFill>
                  <a:srgbClr val="595959"/>
                </a:solidFill>
                <a:latin typeface="Times New Roman"/>
                <a:ea typeface="Times New Roman"/>
                <a:cs typeface="Times New Roman"/>
                <a:sym typeface="Times New Roman"/>
              </a:rPr>
              <a:t>¡Ups! Recuerda que los factores de riesgo son </a:t>
            </a:r>
            <a:r>
              <a:rPr lang="es" u="sng">
                <a:solidFill>
                  <a:srgbClr val="595959"/>
                </a:solidFill>
                <a:latin typeface="Times New Roman"/>
                <a:ea typeface="Times New Roman"/>
                <a:cs typeface="Times New Roman"/>
                <a:sym typeface="Times New Roman"/>
              </a:rPr>
              <a:t>condiciones</a:t>
            </a:r>
            <a:r>
              <a:rPr lang="es">
                <a:solidFill>
                  <a:srgbClr val="595959"/>
                </a:solidFill>
                <a:latin typeface="Times New Roman"/>
                <a:ea typeface="Times New Roman"/>
                <a:cs typeface="Times New Roman"/>
                <a:sym typeface="Times New Roman"/>
              </a:rPr>
              <a:t> del ambiente o del paciente mismo que predisponen la manifestación de enfermedad.</a:t>
            </a:r>
            <a:endParaRPr>
              <a:solidFill>
                <a:srgbClr val="595959"/>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lang="es">
                <a:solidFill>
                  <a:srgbClr val="595959"/>
                </a:solidFill>
                <a:latin typeface="Times New Roman"/>
                <a:ea typeface="Times New Roman"/>
                <a:cs typeface="Times New Roman"/>
                <a:sym typeface="Times New Roman"/>
              </a:rPr>
              <a:t> ojo: su presencia no implica la enfermedad.</a:t>
            </a:r>
            <a:r>
              <a:rPr lang="es">
                <a:solidFill>
                  <a:srgbClr val="595959"/>
                </a:solidFill>
              </a:rPr>
              <a:t> </a:t>
            </a:r>
            <a:endParaRPr>
              <a:solidFill>
                <a:srgbClr val="595959"/>
              </a:solidFill>
            </a:endParaRPr>
          </a:p>
        </p:txBody>
      </p:sp>
      <p:sp>
        <p:nvSpPr>
          <p:cNvPr id="130" name="Google Shape;130;p20"/>
          <p:cNvSpPr txBox="1"/>
          <p:nvPr/>
        </p:nvSpPr>
        <p:spPr>
          <a:xfrm>
            <a:off x="98975" y="3607100"/>
            <a:ext cx="4265100" cy="1401900"/>
          </a:xfrm>
          <a:prstGeom prst="rect">
            <a:avLst/>
          </a:prstGeom>
          <a:solidFill>
            <a:srgbClr val="00FFFF"/>
          </a:solid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Retroalimentación correcta</a:t>
            </a:r>
            <a:br>
              <a:rPr lang="es">
                <a:solidFill>
                  <a:srgbClr val="595959"/>
                </a:solidFill>
                <a:latin typeface="Times New Roman"/>
                <a:ea typeface="Times New Roman"/>
                <a:cs typeface="Times New Roman"/>
                <a:sym typeface="Times New Roman"/>
              </a:rPr>
            </a:br>
            <a:r>
              <a:rPr lang="es">
                <a:solidFill>
                  <a:srgbClr val="595959"/>
                </a:solidFill>
                <a:latin typeface="Times New Roman"/>
                <a:ea typeface="Times New Roman"/>
                <a:cs typeface="Times New Roman"/>
                <a:sym typeface="Times New Roman"/>
              </a:rPr>
              <a:t>¡Excelente! como ya sabemos, la anamnesis es un relato detallado del motivo de consulta, por lo que encontramos sólo </a:t>
            </a:r>
            <a:r>
              <a:rPr lang="es" u="sng">
                <a:solidFill>
                  <a:srgbClr val="595959"/>
                </a:solidFill>
                <a:latin typeface="Times New Roman"/>
                <a:ea typeface="Times New Roman"/>
                <a:cs typeface="Times New Roman"/>
                <a:sym typeface="Times New Roman"/>
              </a:rPr>
              <a:t>manifestaciones</a:t>
            </a:r>
            <a:r>
              <a:rPr lang="es">
                <a:solidFill>
                  <a:srgbClr val="595959"/>
                </a:solidFill>
                <a:latin typeface="Times New Roman"/>
                <a:ea typeface="Times New Roman"/>
                <a:cs typeface="Times New Roman"/>
                <a:sym typeface="Times New Roman"/>
              </a:rPr>
              <a:t> clínicas del paciente </a:t>
            </a:r>
            <a:endParaRPr>
              <a:solidFill>
                <a:srgbClr val="59595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Historia </a:t>
            </a:r>
            <a:r>
              <a:rPr lang="es" sz="3500"/>
              <a:t>clínica</a:t>
            </a:r>
            <a:r>
              <a:rPr lang="es" sz="3500"/>
              <a:t> </a:t>
            </a:r>
            <a:endParaRPr sz="3500"/>
          </a:p>
        </p:txBody>
      </p:sp>
      <p:sp>
        <p:nvSpPr>
          <p:cNvPr id="136" name="Google Shape;136;p21"/>
          <p:cNvSpPr txBox="1"/>
          <p:nvPr>
            <p:ph idx="1" type="body"/>
          </p:nvPr>
        </p:nvSpPr>
        <p:spPr>
          <a:xfrm>
            <a:off x="311700" y="1152475"/>
            <a:ext cx="82068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Clr>
                <a:schemeClr val="dk1"/>
              </a:buClr>
              <a:buSzPts val="1100"/>
              <a:buFont typeface="Arial"/>
              <a:buNone/>
            </a:pPr>
            <a:r>
              <a:rPr lang="es">
                <a:solidFill>
                  <a:schemeClr val="dk1"/>
                </a:solidFill>
              </a:rPr>
              <a:t>Se trata de una unidad de producción pequeña con aproximadamente 140 caprinos, de las razas Saanen y Alpina Francesa , se encuentra ubicada en el estado de Queretaro, México, se dedican principalmente a la producción de leche y queso. Es una unidad de producción con un sistema  intensivo, estabulado 100% cuentan con  una infraestructura básica para manejos de medicina preventiva y de reproducción. Cuenta con un corral en forma de ¨L¨ dividido a la mitad, y otro aparte, los animales  no son separados por edad, incluso hay más de una especie en el mismo corral, no cuentan con programas de desparasitación ni vacunación  establecidos, no se realza manejo profiláctico a nuevos animales.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Historia clínica </a:t>
            </a:r>
            <a:endParaRPr sz="3500"/>
          </a:p>
        </p:txBody>
      </p:sp>
      <p:graphicFrame>
        <p:nvGraphicFramePr>
          <p:cNvPr id="142" name="Google Shape;142;p22"/>
          <p:cNvGraphicFramePr/>
          <p:nvPr/>
        </p:nvGraphicFramePr>
        <p:xfrm>
          <a:off x="3118650" y="1870775"/>
          <a:ext cx="3000000" cy="3000000"/>
        </p:xfrm>
        <a:graphic>
          <a:graphicData uri="http://schemas.openxmlformats.org/drawingml/2006/table">
            <a:tbl>
              <a:tblPr>
                <a:noFill/>
                <a:tableStyleId>{92B18CB4-C942-4677-B446-B40BB0A2A31A}</a:tableStyleId>
              </a:tblPr>
              <a:tblGrid>
                <a:gridCol w="2016125"/>
                <a:gridCol w="682625"/>
              </a:tblGrid>
              <a:tr h="381000">
                <a:tc>
                  <a:txBody>
                    <a:bodyPr/>
                    <a:lstStyle/>
                    <a:p>
                      <a:pPr indent="0" lvl="0" marL="0" rtl="0" algn="ctr">
                        <a:spcBef>
                          <a:spcPts val="0"/>
                        </a:spcBef>
                        <a:spcAft>
                          <a:spcPts val="0"/>
                        </a:spcAft>
                        <a:buNone/>
                      </a:pPr>
                      <a:r>
                        <a:rPr lang="es"/>
                        <a:t>Manifestaciones clínicas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Factores de riesgo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r h="381000">
                <a:tc>
                  <a:txBody>
                    <a:bodyPr/>
                    <a:lstStyle/>
                    <a:p>
                      <a:pPr indent="0" lvl="0" marL="0" rtl="0" algn="ctr">
                        <a:spcBef>
                          <a:spcPts val="0"/>
                        </a:spcBef>
                        <a:spcAft>
                          <a:spcPts val="0"/>
                        </a:spcAft>
                        <a:buNone/>
                      </a:pPr>
                      <a:r>
                        <a:rPr lang="es"/>
                        <a:t>Ambos </a:t>
                      </a:r>
                      <a:endParaRPr/>
                    </a:p>
                  </a:txBody>
                  <a:tcPr marT="91425" marB="91425" marR="91425" marL="91425"/>
                </a:tc>
                <a:tc>
                  <a:txBody>
                    <a:bodyPr/>
                    <a:lstStyle/>
                    <a:p>
                      <a:pPr indent="0" lvl="0" marL="0" rtl="0" algn="ctr">
                        <a:spcBef>
                          <a:spcPts val="0"/>
                        </a:spcBef>
                        <a:spcAft>
                          <a:spcPts val="0"/>
                        </a:spcAft>
                        <a:buNone/>
                      </a:pPr>
                      <a:r>
                        <a:t/>
                      </a:r>
                      <a:endParaRPr/>
                    </a:p>
                  </a:txBody>
                  <a:tcPr marT="91425" marB="91425" marR="91425" marL="91425"/>
                </a:tc>
              </a:tr>
            </a:tbl>
          </a:graphicData>
        </a:graphic>
      </p:graphicFrame>
      <p:sp>
        <p:nvSpPr>
          <p:cNvPr id="143" name="Google Shape;143;p22"/>
          <p:cNvSpPr/>
          <p:nvPr/>
        </p:nvSpPr>
        <p:spPr>
          <a:xfrm>
            <a:off x="5134775" y="25711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2"/>
          <p:cNvSpPr txBox="1"/>
          <p:nvPr>
            <p:ph type="title"/>
          </p:nvPr>
        </p:nvSpPr>
        <p:spPr>
          <a:xfrm>
            <a:off x="98975" y="1222650"/>
            <a:ext cx="8738100" cy="572700"/>
          </a:xfrm>
          <a:prstGeom prst="rect">
            <a:avLst/>
          </a:prstGeom>
          <a:solidFill>
            <a:schemeClr val="accent6"/>
          </a:solidFill>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990"/>
              <a:buFont typeface="Arial"/>
              <a:buNone/>
            </a:pPr>
            <a:r>
              <a:rPr lang="es" sz="1520">
                <a:solidFill>
                  <a:schemeClr val="dk2"/>
                </a:solidFill>
              </a:rPr>
              <a:t>¿Qué tipo de datos encuentras dentro de la anamnesis con relación al corderito 4063?</a:t>
            </a:r>
            <a:endParaRPr sz="2420"/>
          </a:p>
        </p:txBody>
      </p:sp>
      <p:sp>
        <p:nvSpPr>
          <p:cNvPr id="145" name="Google Shape;145;p22"/>
          <p:cNvSpPr txBox="1"/>
          <p:nvPr/>
        </p:nvSpPr>
        <p:spPr>
          <a:xfrm>
            <a:off x="0" y="2258025"/>
            <a:ext cx="2698800" cy="24918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s">
                <a:solidFill>
                  <a:srgbClr val="595959"/>
                </a:solidFill>
                <a:latin typeface="Times New Roman"/>
                <a:ea typeface="Times New Roman"/>
                <a:cs typeface="Times New Roman"/>
                <a:sym typeface="Times New Roman"/>
              </a:rPr>
              <a:t>¡Perfecto! los factores de riesgo son condiciones ambientales o de manejo que predisponen al animal a enfermarse, disminuir su producción o la muerte.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s">
                <a:solidFill>
                  <a:srgbClr val="595959"/>
                </a:solidFill>
                <a:latin typeface="Times New Roman"/>
                <a:ea typeface="Times New Roman"/>
                <a:cs typeface="Times New Roman"/>
                <a:sym typeface="Times New Roman"/>
              </a:rPr>
              <a:t>tip: Un factor de riesgo podría ser la mala calidad del forraje.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a:solidFill>
                <a:srgbClr val="595959"/>
              </a:solidFill>
              <a:latin typeface="Times New Roman"/>
              <a:ea typeface="Times New Roman"/>
              <a:cs typeface="Times New Roman"/>
              <a:sym typeface="Times New Roman"/>
            </a:endParaRPr>
          </a:p>
        </p:txBody>
      </p:sp>
      <p:sp>
        <p:nvSpPr>
          <p:cNvPr id="146" name="Google Shape;146;p22"/>
          <p:cNvSpPr txBox="1"/>
          <p:nvPr/>
        </p:nvSpPr>
        <p:spPr>
          <a:xfrm>
            <a:off x="6138300" y="2258025"/>
            <a:ext cx="2698800" cy="2491800"/>
          </a:xfrm>
          <a:prstGeom prst="rect">
            <a:avLst/>
          </a:prstGeom>
          <a:solidFill>
            <a:srgbClr val="00FFFF"/>
          </a:solid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s">
                <a:solidFill>
                  <a:srgbClr val="595959"/>
                </a:solidFill>
                <a:latin typeface="Times New Roman"/>
                <a:ea typeface="Times New Roman"/>
                <a:cs typeface="Times New Roman"/>
                <a:sym typeface="Times New Roman"/>
              </a:rPr>
              <a:t>¡Ups!  revisa bien. Las manifestaciones clínicas son signos y síntomas observables y medibles.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rgbClr val="595959"/>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a:solidFill>
                <a:srgbClr val="595959"/>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nvSpPr>
        <p:spPr>
          <a:xfrm>
            <a:off x="337375" y="93800"/>
            <a:ext cx="43395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3500">
                <a:solidFill>
                  <a:schemeClr val="dk2"/>
                </a:solidFill>
              </a:rPr>
              <a:t>Historia clínica </a:t>
            </a:r>
            <a:endParaRPr b="1" sz="3500">
              <a:solidFill>
                <a:schemeClr val="dk2"/>
              </a:solidFill>
            </a:endParaRPr>
          </a:p>
        </p:txBody>
      </p:sp>
      <p:sp>
        <p:nvSpPr>
          <p:cNvPr id="152" name="Google Shape;152;p23"/>
          <p:cNvSpPr txBox="1"/>
          <p:nvPr/>
        </p:nvSpPr>
        <p:spPr>
          <a:xfrm>
            <a:off x="99150" y="788850"/>
            <a:ext cx="4224600" cy="12930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Identifica los factores de riesgo y las manifestaciones clínicas.</a:t>
            </a:r>
            <a:endParaRPr sz="1800">
              <a:solidFill>
                <a:srgbClr val="595959"/>
              </a:solidFill>
            </a:endParaRPr>
          </a:p>
          <a:p>
            <a:pPr indent="0" lvl="0" marL="0" rtl="0" algn="l">
              <a:spcBef>
                <a:spcPts val="0"/>
              </a:spcBef>
              <a:spcAft>
                <a:spcPts val="0"/>
              </a:spcAft>
              <a:buNone/>
            </a:pPr>
            <a:r>
              <a:rPr lang="es" sz="1800">
                <a:solidFill>
                  <a:srgbClr val="595959"/>
                </a:solidFill>
              </a:rPr>
              <a:t>MC= manifestación clínica</a:t>
            </a:r>
            <a:endParaRPr sz="1800">
              <a:solidFill>
                <a:srgbClr val="595959"/>
              </a:solidFill>
            </a:endParaRPr>
          </a:p>
          <a:p>
            <a:pPr indent="0" lvl="0" marL="0" rtl="0" algn="l">
              <a:spcBef>
                <a:spcPts val="0"/>
              </a:spcBef>
              <a:spcAft>
                <a:spcPts val="0"/>
              </a:spcAft>
              <a:buNone/>
            </a:pPr>
            <a:r>
              <a:rPr lang="es" sz="1800">
                <a:solidFill>
                  <a:srgbClr val="595959"/>
                </a:solidFill>
              </a:rPr>
              <a:t>FR= factor de riesgo </a:t>
            </a:r>
            <a:endParaRPr sz="1800">
              <a:solidFill>
                <a:srgbClr val="595959"/>
              </a:solidFill>
            </a:endParaRPr>
          </a:p>
        </p:txBody>
      </p:sp>
      <p:graphicFrame>
        <p:nvGraphicFramePr>
          <p:cNvPr id="153" name="Google Shape;153;p23"/>
          <p:cNvGraphicFramePr/>
          <p:nvPr/>
        </p:nvGraphicFramePr>
        <p:xfrm>
          <a:off x="4902600" y="223288"/>
          <a:ext cx="3000000" cy="3000000"/>
        </p:xfrm>
        <a:graphic>
          <a:graphicData uri="http://schemas.openxmlformats.org/drawingml/2006/table">
            <a:tbl>
              <a:tblPr>
                <a:noFill/>
                <a:tableStyleId>{92B18CB4-C942-4677-B446-B40BB0A2A31A}</a:tableStyleId>
              </a:tblPr>
              <a:tblGrid>
                <a:gridCol w="2413000"/>
                <a:gridCol w="900200"/>
                <a:gridCol w="844175"/>
              </a:tblGrid>
              <a:tr h="531900">
                <a:tc>
                  <a:txBody>
                    <a:bodyPr/>
                    <a:lstStyle/>
                    <a:p>
                      <a:pPr indent="0" lvl="0" marL="0" rtl="0" algn="l">
                        <a:spcBef>
                          <a:spcPts val="0"/>
                        </a:spcBef>
                        <a:spcAft>
                          <a:spcPts val="0"/>
                        </a:spcAft>
                        <a:buNone/>
                      </a:pPr>
                      <a:r>
                        <a:rPr lang="es"/>
                        <a:t>baja ganancia de peso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Corrales Heterogéneos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t>pelo hirsuto</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t>Tos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Estornudos</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87225">
                <a:tc>
                  <a:txBody>
                    <a:bodyPr/>
                    <a:lstStyle/>
                    <a:p>
                      <a:pPr indent="0" lvl="0" marL="0" rtl="0" algn="l">
                        <a:spcBef>
                          <a:spcPts val="0"/>
                        </a:spcBef>
                        <a:spcAft>
                          <a:spcPts val="0"/>
                        </a:spcAft>
                        <a:buClr>
                          <a:schemeClr val="dk1"/>
                        </a:buClr>
                        <a:buSzPts val="1100"/>
                        <a:buFont typeface="Arial"/>
                        <a:buNone/>
                      </a:pPr>
                      <a:r>
                        <a:rPr lang="es">
                          <a:solidFill>
                            <a:schemeClr val="dk1"/>
                          </a:solidFill>
                        </a:rPr>
                        <a:t>precaria medicina preventiva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Clr>
                          <a:schemeClr val="dk1"/>
                        </a:buClr>
                        <a:buSzPts val="1100"/>
                        <a:buFont typeface="Arial"/>
                        <a:buNone/>
                      </a:pPr>
                      <a:r>
                        <a:rPr lang="es">
                          <a:solidFill>
                            <a:schemeClr val="dk1"/>
                          </a:solidFill>
                        </a:rPr>
                        <a:t>retraso en el crecimiento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r h="818300">
                <a:tc>
                  <a:txBody>
                    <a:bodyPr/>
                    <a:lstStyle/>
                    <a:p>
                      <a:pPr indent="0" lvl="0" marL="0" rtl="0" algn="l">
                        <a:spcBef>
                          <a:spcPts val="0"/>
                        </a:spcBef>
                        <a:spcAft>
                          <a:spcPts val="0"/>
                        </a:spcAft>
                        <a:buClr>
                          <a:schemeClr val="dk1"/>
                        </a:buClr>
                        <a:buSzPts val="1100"/>
                        <a:buFont typeface="Arial"/>
                        <a:buNone/>
                      </a:pPr>
                      <a:r>
                        <a:rPr lang="es">
                          <a:solidFill>
                            <a:schemeClr val="dk1"/>
                          </a:solidFill>
                        </a:rPr>
                        <a:t>pobre condición corporal </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nvSpPr>
        <p:spPr>
          <a:xfrm>
            <a:off x="1011325" y="3604175"/>
            <a:ext cx="30000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s" sz="1800">
                <a:solidFill>
                  <a:schemeClr val="dk1"/>
                </a:solidFill>
              </a:rPr>
              <a:t>retroalimentacion incorrecta</a:t>
            </a:r>
            <a:endParaRPr/>
          </a:p>
        </p:txBody>
      </p:sp>
      <p:sp>
        <p:nvSpPr>
          <p:cNvPr id="159" name="Google Shape;159;p24"/>
          <p:cNvSpPr txBox="1"/>
          <p:nvPr/>
        </p:nvSpPr>
        <p:spPr>
          <a:xfrm>
            <a:off x="142500" y="2226300"/>
            <a:ext cx="4137900" cy="16992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rgbClr val="000000"/>
              </a:buClr>
              <a:buSzPts val="1100"/>
              <a:buFont typeface="Arial"/>
              <a:buNone/>
            </a:pPr>
            <a:r>
              <a:rPr lang="es">
                <a:solidFill>
                  <a:srgbClr val="000000"/>
                </a:solidFill>
              </a:rPr>
              <a:t>Retroalimentación correcta</a:t>
            </a:r>
            <a:endParaRPr>
              <a:solidFill>
                <a:srgbClr val="000000"/>
              </a:solidFill>
            </a:endParaRPr>
          </a:p>
          <a:p>
            <a:pPr indent="0" lvl="0" marL="0" rtl="0" algn="l">
              <a:lnSpc>
                <a:spcPct val="115000"/>
              </a:lnSpc>
              <a:spcBef>
                <a:spcPts val="1200"/>
              </a:spcBef>
              <a:spcAft>
                <a:spcPts val="0"/>
              </a:spcAft>
              <a:buClr>
                <a:srgbClr val="000000"/>
              </a:buClr>
              <a:buSzPts val="1100"/>
              <a:buFont typeface="Arial"/>
              <a:buNone/>
            </a:pPr>
            <a:r>
              <a:rPr lang="es">
                <a:solidFill>
                  <a:srgbClr val="000000"/>
                </a:solidFill>
              </a:rPr>
              <a:t>¡Muy bien! Ahora tienes claro la diferencia entre manifestaciones clínicas y factores de riesgo. </a:t>
            </a:r>
            <a:endParaRPr>
              <a:solidFill>
                <a:srgbClr val="000000"/>
              </a:solidFill>
            </a:endParaRPr>
          </a:p>
          <a:p>
            <a:pPr indent="0" lvl="0" marL="0" rtl="0" algn="l">
              <a:lnSpc>
                <a:spcPct val="115000"/>
              </a:lnSpc>
              <a:spcBef>
                <a:spcPts val="1200"/>
              </a:spcBef>
              <a:spcAft>
                <a:spcPts val="1200"/>
              </a:spcAft>
              <a:buClr>
                <a:srgbClr val="000000"/>
              </a:buClr>
              <a:buSzPts val="1100"/>
              <a:buFont typeface="Arial"/>
              <a:buNone/>
            </a:pPr>
            <a:r>
              <a:rPr lang="es"/>
              <a:t>Tip: Recuerda que en el pastoreo aumenta la incidencia de ectoparásitos</a:t>
            </a:r>
            <a:endParaRPr/>
          </a:p>
        </p:txBody>
      </p:sp>
      <p:sp>
        <p:nvSpPr>
          <p:cNvPr id="160" name="Google Shape;160;p24"/>
          <p:cNvSpPr txBox="1"/>
          <p:nvPr/>
        </p:nvSpPr>
        <p:spPr>
          <a:xfrm>
            <a:off x="452275" y="4069950"/>
            <a:ext cx="4224600" cy="1049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a:solidFill>
                  <a:srgbClr val="000000"/>
                </a:solidFill>
              </a:rPr>
              <a:t>Retroalimentación incorrecta</a:t>
            </a:r>
            <a:endParaRPr/>
          </a:p>
          <a:p>
            <a:pPr indent="0" lvl="0" marL="0" rtl="0" algn="l">
              <a:lnSpc>
                <a:spcPct val="115000"/>
              </a:lnSpc>
              <a:spcBef>
                <a:spcPts val="1200"/>
              </a:spcBef>
              <a:spcAft>
                <a:spcPts val="1200"/>
              </a:spcAft>
              <a:buNone/>
            </a:pPr>
            <a:r>
              <a:rPr lang="es">
                <a:solidFill>
                  <a:srgbClr val="000000"/>
                </a:solidFill>
              </a:rPr>
              <a:t>¡Ups! </a:t>
            </a:r>
            <a:r>
              <a:rPr lang="es"/>
              <a:t>Revisa de nuevo los datos plasmados en la reseña, anamnesis e historia clínica.</a:t>
            </a:r>
            <a:endParaRPr>
              <a:solidFill>
                <a:srgbClr val="000000"/>
              </a:solidFill>
            </a:endParaRPr>
          </a:p>
        </p:txBody>
      </p:sp>
      <p:sp>
        <p:nvSpPr>
          <p:cNvPr id="161" name="Google Shape;161;p24"/>
          <p:cNvSpPr txBox="1"/>
          <p:nvPr/>
        </p:nvSpPr>
        <p:spPr>
          <a:xfrm>
            <a:off x="337375" y="93800"/>
            <a:ext cx="43395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3500">
                <a:solidFill>
                  <a:schemeClr val="dk2"/>
                </a:solidFill>
              </a:rPr>
              <a:t>Historia clínica </a:t>
            </a:r>
            <a:endParaRPr b="1" sz="3500">
              <a:solidFill>
                <a:schemeClr val="dk2"/>
              </a:solidFill>
            </a:endParaRPr>
          </a:p>
        </p:txBody>
      </p:sp>
      <p:sp>
        <p:nvSpPr>
          <p:cNvPr id="162" name="Google Shape;162;p24"/>
          <p:cNvSpPr txBox="1"/>
          <p:nvPr/>
        </p:nvSpPr>
        <p:spPr>
          <a:xfrm>
            <a:off x="99150" y="788850"/>
            <a:ext cx="4224600" cy="12930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Identifica los factores de riesgo y las manifestaciones clínicas.</a:t>
            </a:r>
            <a:endParaRPr sz="1800">
              <a:solidFill>
                <a:srgbClr val="595959"/>
              </a:solidFill>
            </a:endParaRPr>
          </a:p>
          <a:p>
            <a:pPr indent="0" lvl="0" marL="0" rtl="0" algn="l">
              <a:spcBef>
                <a:spcPts val="0"/>
              </a:spcBef>
              <a:spcAft>
                <a:spcPts val="0"/>
              </a:spcAft>
              <a:buNone/>
            </a:pPr>
            <a:r>
              <a:rPr lang="es" sz="1800">
                <a:solidFill>
                  <a:srgbClr val="595959"/>
                </a:solidFill>
              </a:rPr>
              <a:t>MC= manifestación clínica</a:t>
            </a:r>
            <a:endParaRPr sz="1800">
              <a:solidFill>
                <a:srgbClr val="595959"/>
              </a:solidFill>
            </a:endParaRPr>
          </a:p>
          <a:p>
            <a:pPr indent="0" lvl="0" marL="0" rtl="0" algn="l">
              <a:spcBef>
                <a:spcPts val="0"/>
              </a:spcBef>
              <a:spcAft>
                <a:spcPts val="0"/>
              </a:spcAft>
              <a:buNone/>
            </a:pPr>
            <a:r>
              <a:rPr lang="es" sz="1800">
                <a:solidFill>
                  <a:srgbClr val="595959"/>
                </a:solidFill>
              </a:rPr>
              <a:t>FR= factor de riesgo </a:t>
            </a:r>
            <a:endParaRPr sz="1800">
              <a:solidFill>
                <a:srgbClr val="595959"/>
              </a:solidFill>
            </a:endParaRPr>
          </a:p>
        </p:txBody>
      </p:sp>
      <p:graphicFrame>
        <p:nvGraphicFramePr>
          <p:cNvPr id="163" name="Google Shape;163;p24"/>
          <p:cNvGraphicFramePr/>
          <p:nvPr/>
        </p:nvGraphicFramePr>
        <p:xfrm>
          <a:off x="4902600" y="223288"/>
          <a:ext cx="3000000" cy="3000000"/>
        </p:xfrm>
        <a:graphic>
          <a:graphicData uri="http://schemas.openxmlformats.org/drawingml/2006/table">
            <a:tbl>
              <a:tblPr>
                <a:noFill/>
                <a:tableStyleId>{92B18CB4-C942-4677-B446-B40BB0A2A31A}</a:tableStyleId>
              </a:tblPr>
              <a:tblGrid>
                <a:gridCol w="2413000"/>
                <a:gridCol w="900200"/>
                <a:gridCol w="844175"/>
              </a:tblGrid>
              <a:tr h="531900">
                <a:tc>
                  <a:txBody>
                    <a:bodyPr/>
                    <a:lstStyle/>
                    <a:p>
                      <a:pPr indent="0" lvl="0" marL="0" rtl="0" algn="l">
                        <a:spcBef>
                          <a:spcPts val="0"/>
                        </a:spcBef>
                        <a:spcAft>
                          <a:spcPts val="0"/>
                        </a:spcAft>
                        <a:buNone/>
                      </a:pPr>
                      <a:r>
                        <a:rPr lang="es"/>
                        <a:t>baja ganancia de peso </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Corrales Heterogéneos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s"/>
                        <a:t>FR</a:t>
                      </a:r>
                      <a:endParaRPr/>
                    </a:p>
                  </a:txBody>
                  <a:tcPr marT="91425" marB="91425" marR="91425" marL="91425"/>
                </a:tc>
              </a:tr>
              <a:tr h="531900">
                <a:tc>
                  <a:txBody>
                    <a:bodyPr/>
                    <a:lstStyle/>
                    <a:p>
                      <a:pPr indent="0" lvl="0" marL="0" rtl="0" algn="l">
                        <a:spcBef>
                          <a:spcPts val="0"/>
                        </a:spcBef>
                        <a:spcAft>
                          <a:spcPts val="0"/>
                        </a:spcAft>
                        <a:buNone/>
                      </a:pPr>
                      <a:r>
                        <a:rPr lang="es"/>
                        <a:t>pelo hirsuto</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t>Tos</a:t>
                      </a:r>
                      <a:endParaRPr/>
                    </a:p>
                  </a:txBody>
                  <a:tcPr marT="91425" marB="91425" marR="91425" marL="91425"/>
                </a:tc>
                <a:tc>
                  <a:txBody>
                    <a:bodyPr/>
                    <a:lstStyle/>
                    <a:p>
                      <a:pPr indent="0" lvl="0" marL="0" rtl="0" algn="l">
                        <a:spcBef>
                          <a:spcPts val="0"/>
                        </a:spcBef>
                        <a:spcAft>
                          <a:spcPts val="0"/>
                        </a:spcAft>
                        <a:buNone/>
                      </a:pPr>
                      <a:r>
                        <a:rPr lang="es"/>
                        <a:t>MC</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531900">
                <a:tc>
                  <a:txBody>
                    <a:bodyPr/>
                    <a:lstStyle/>
                    <a:p>
                      <a:pPr indent="0" lvl="0" marL="0" rtl="0" algn="l">
                        <a:spcBef>
                          <a:spcPts val="0"/>
                        </a:spcBef>
                        <a:spcAft>
                          <a:spcPts val="0"/>
                        </a:spcAft>
                        <a:buNone/>
                      </a:pPr>
                      <a:r>
                        <a:rPr lang="es">
                          <a:solidFill>
                            <a:schemeClr val="dk1"/>
                          </a:solidFill>
                        </a:rPr>
                        <a:t>Estornudos</a:t>
                      </a: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a:t>CM</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687225">
                <a:tc>
                  <a:txBody>
                    <a:bodyPr/>
                    <a:lstStyle/>
                    <a:p>
                      <a:pPr indent="0" lvl="0" marL="0" rtl="0" algn="l">
                        <a:spcBef>
                          <a:spcPts val="0"/>
                        </a:spcBef>
                        <a:spcAft>
                          <a:spcPts val="0"/>
                        </a:spcAft>
                        <a:buClr>
                          <a:schemeClr val="dk1"/>
                        </a:buClr>
                        <a:buSzPts val="1100"/>
                        <a:buFont typeface="Arial"/>
                        <a:buNone/>
                      </a:pPr>
                      <a:r>
                        <a:rPr lang="es">
                          <a:solidFill>
                            <a:schemeClr val="dk1"/>
                          </a:solidFill>
                        </a:rPr>
                        <a:t>precaria medicina preventiva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rPr lang="es"/>
                        <a:t>FR</a:t>
                      </a:r>
                      <a:endParaRPr/>
                    </a:p>
                  </a:txBody>
                  <a:tcPr marT="91425" marB="91425" marR="91425" marL="91425"/>
                </a:tc>
              </a:tr>
              <a:tr h="531900">
                <a:tc>
                  <a:txBody>
                    <a:bodyPr/>
                    <a:lstStyle/>
                    <a:p>
                      <a:pPr indent="0" lvl="0" marL="0" rtl="0" algn="l">
                        <a:spcBef>
                          <a:spcPts val="0"/>
                        </a:spcBef>
                        <a:spcAft>
                          <a:spcPts val="0"/>
                        </a:spcAft>
                        <a:buClr>
                          <a:schemeClr val="dk1"/>
                        </a:buClr>
                        <a:buSzPts val="1100"/>
                        <a:buFont typeface="Arial"/>
                        <a:buNone/>
                      </a:pPr>
                      <a:r>
                        <a:rPr lang="es">
                          <a:solidFill>
                            <a:schemeClr val="dk1"/>
                          </a:solidFill>
                        </a:rPr>
                        <a:t>retraso en el crecimiento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a:t>MC</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r h="818300">
                <a:tc>
                  <a:txBody>
                    <a:bodyPr/>
                    <a:lstStyle/>
                    <a:p>
                      <a:pPr indent="0" lvl="0" marL="0" rtl="0" algn="l">
                        <a:spcBef>
                          <a:spcPts val="0"/>
                        </a:spcBef>
                        <a:spcAft>
                          <a:spcPts val="0"/>
                        </a:spcAft>
                        <a:buClr>
                          <a:schemeClr val="dk1"/>
                        </a:buClr>
                        <a:buSzPts val="1100"/>
                        <a:buFont typeface="Arial"/>
                        <a:buNone/>
                      </a:pPr>
                      <a:r>
                        <a:rPr lang="es">
                          <a:solidFill>
                            <a:schemeClr val="dk1"/>
                          </a:solidFill>
                        </a:rPr>
                        <a:t>pobre condición corporal </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a:t>MC</a:t>
                      </a:r>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11700" y="445025"/>
            <a:ext cx="3649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3500"/>
              <a:t>Examen físico general </a:t>
            </a:r>
            <a:endParaRPr sz="3500"/>
          </a:p>
        </p:txBody>
      </p:sp>
      <p:sp>
        <p:nvSpPr>
          <p:cNvPr id="169" name="Google Shape;169;p25"/>
          <p:cNvSpPr txBox="1"/>
          <p:nvPr>
            <p:ph idx="1" type="body"/>
          </p:nvPr>
        </p:nvSpPr>
        <p:spPr>
          <a:xfrm>
            <a:off x="3961025" y="1152475"/>
            <a:ext cx="4871400" cy="3416400"/>
          </a:xfrm>
          <a:prstGeom prst="rect">
            <a:avLst/>
          </a:prstGeom>
          <a:solidFill>
            <a:srgbClr val="CFE2F3"/>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Decides acudir a la unidad de </a:t>
            </a:r>
            <a:r>
              <a:rPr lang="es"/>
              <a:t>producción</a:t>
            </a:r>
            <a:r>
              <a:rPr lang="es"/>
              <a:t> y al llegar inmediatamente te llevan al lugar de alojamiento de las cabras, un corral grande con piso de tierra, sucio y con un becerro dentro.</a:t>
            </a:r>
            <a:endParaRPr/>
          </a:p>
          <a:p>
            <a:pPr indent="0" lvl="0" marL="0" rtl="0" algn="l">
              <a:spcBef>
                <a:spcPts val="1200"/>
              </a:spcBef>
              <a:spcAft>
                <a:spcPts val="1200"/>
              </a:spcAft>
              <a:buNone/>
            </a:pPr>
            <a:r>
              <a:rPr lang="es"/>
              <a:t>A primera impresion, presenta pelo hirsuto, una condicion corporal 1.5/5, secrecion nasal y ocular, estertor húmedo en ambos hemitorax,  suciedad en el ano, y mucosas palidas </a:t>
            </a:r>
            <a:endParaRPr/>
          </a:p>
        </p:txBody>
      </p:sp>
      <p:graphicFrame>
        <p:nvGraphicFramePr>
          <p:cNvPr id="170" name="Google Shape;170;p25"/>
          <p:cNvGraphicFramePr/>
          <p:nvPr/>
        </p:nvGraphicFramePr>
        <p:xfrm>
          <a:off x="311700" y="1611650"/>
          <a:ext cx="3000000" cy="3000000"/>
        </p:xfrm>
        <a:graphic>
          <a:graphicData uri="http://schemas.openxmlformats.org/drawingml/2006/table">
            <a:tbl>
              <a:tblPr>
                <a:noFill/>
                <a:tableStyleId>{92B18CB4-C942-4677-B446-B40BB0A2A31A}</a:tableStyleId>
              </a:tblPr>
              <a:tblGrid>
                <a:gridCol w="1730375"/>
                <a:gridCol w="1730375"/>
              </a:tblGrid>
              <a:tr h="592725">
                <a:tc>
                  <a:txBody>
                    <a:bodyPr/>
                    <a:lstStyle/>
                    <a:p>
                      <a:pPr indent="0" lvl="0" marL="0" rtl="0" algn="l">
                        <a:spcBef>
                          <a:spcPts val="0"/>
                        </a:spcBef>
                        <a:spcAft>
                          <a:spcPts val="0"/>
                        </a:spcAft>
                        <a:buNone/>
                      </a:pPr>
                      <a:r>
                        <a:rPr lang="es">
                          <a:latin typeface="Times New Roman"/>
                          <a:ea typeface="Times New Roman"/>
                          <a:cs typeface="Times New Roman"/>
                          <a:sym typeface="Times New Roman"/>
                        </a:rPr>
                        <a:t>I</a:t>
                      </a:r>
                      <a:r>
                        <a:rPr lang="es">
                          <a:latin typeface="Times New Roman"/>
                          <a:ea typeface="Times New Roman"/>
                          <a:cs typeface="Times New Roman"/>
                          <a:sym typeface="Times New Roman"/>
                        </a:rPr>
                        <a:t>ndicador fisiológico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H</a:t>
                      </a:r>
                      <a:r>
                        <a:rPr lang="es">
                          <a:latin typeface="Times New Roman"/>
                          <a:ea typeface="Times New Roman"/>
                          <a:cs typeface="Times New Roman"/>
                          <a:sym typeface="Times New Roman"/>
                        </a:rPr>
                        <a:t>allazgo</a:t>
                      </a:r>
                      <a:endParaRPr>
                        <a:latin typeface="Times New Roman"/>
                        <a:ea typeface="Times New Roman"/>
                        <a:cs typeface="Times New Roman"/>
                        <a:sym typeface="Times New Roman"/>
                      </a:endParaRPr>
                    </a:p>
                  </a:txBody>
                  <a:tcPr marT="91425" marB="91425" marR="91425" marL="91425">
                    <a:solidFill>
                      <a:srgbClr val="FFD966"/>
                    </a:solidFill>
                  </a:tcPr>
                </a:tc>
              </a:tr>
              <a:tr h="5700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frecuencia cardíaca</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84 </a:t>
                      </a:r>
                      <a:r>
                        <a:rPr lang="es">
                          <a:latin typeface="Times New Roman"/>
                          <a:ea typeface="Times New Roman"/>
                          <a:cs typeface="Times New Roman"/>
                          <a:sym typeface="Times New Roman"/>
                        </a:rPr>
                        <a:t> lpm </a:t>
                      </a:r>
                      <a:endParaRPr>
                        <a:latin typeface="Times New Roman"/>
                        <a:ea typeface="Times New Roman"/>
                        <a:cs typeface="Times New Roman"/>
                        <a:sym typeface="Times New Roman"/>
                      </a:endParaRPr>
                    </a:p>
                  </a:txBody>
                  <a:tcPr marT="91425" marB="91425" marR="91425" marL="91425">
                    <a:solidFill>
                      <a:srgbClr val="FFE599"/>
                    </a:solidFill>
                  </a:tcPr>
                </a:tc>
              </a:tr>
              <a:tr h="570000">
                <a:tc>
                  <a:txBody>
                    <a:bodyPr/>
                    <a:lstStyle/>
                    <a:p>
                      <a:pPr indent="0" lvl="0" marL="0" rtl="0" algn="l">
                        <a:spcBef>
                          <a:spcPts val="0"/>
                        </a:spcBef>
                        <a:spcAft>
                          <a:spcPts val="0"/>
                        </a:spcAft>
                        <a:buNone/>
                      </a:pPr>
                      <a:r>
                        <a:rPr lang="es">
                          <a:latin typeface="Times New Roman"/>
                          <a:ea typeface="Times New Roman"/>
                          <a:cs typeface="Times New Roman"/>
                          <a:sym typeface="Times New Roman"/>
                        </a:rPr>
                        <a:t>temperatura rectal</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39.8 °C</a:t>
                      </a:r>
                      <a:endParaRPr>
                        <a:latin typeface="Times New Roman"/>
                        <a:ea typeface="Times New Roman"/>
                        <a:cs typeface="Times New Roman"/>
                        <a:sym typeface="Times New Roman"/>
                      </a:endParaRPr>
                    </a:p>
                  </a:txBody>
                  <a:tcPr marT="91425" marB="91425" marR="91425" marL="91425">
                    <a:solidFill>
                      <a:srgbClr val="FFE599"/>
                    </a:solidFill>
                  </a:tcPr>
                </a:tc>
              </a:tr>
              <a:tr h="570000">
                <a:tc>
                  <a:txBody>
                    <a:bodyPr/>
                    <a:lstStyle/>
                    <a:p>
                      <a:pPr indent="0" lvl="0" marL="0" rtl="0" algn="l">
                        <a:spcBef>
                          <a:spcPts val="0"/>
                        </a:spcBef>
                        <a:spcAft>
                          <a:spcPts val="0"/>
                        </a:spcAft>
                        <a:buClr>
                          <a:srgbClr val="000000"/>
                        </a:buClr>
                        <a:buSzPts val="1100"/>
                        <a:buFont typeface="Arial"/>
                        <a:buNone/>
                      </a:pPr>
                      <a:r>
                        <a:rPr lang="es">
                          <a:solidFill>
                            <a:srgbClr val="000000"/>
                          </a:solidFill>
                          <a:latin typeface="Times New Roman"/>
                          <a:ea typeface="Times New Roman"/>
                          <a:cs typeface="Times New Roman"/>
                          <a:sym typeface="Times New Roman"/>
                        </a:rPr>
                        <a:t>frecuencia respiratoria</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20  </a:t>
                      </a:r>
                      <a:r>
                        <a:rPr lang="es">
                          <a:latin typeface="Times New Roman"/>
                          <a:ea typeface="Times New Roman"/>
                          <a:cs typeface="Times New Roman"/>
                          <a:sym typeface="Times New Roman"/>
                        </a:rPr>
                        <a:t>rpm </a:t>
                      </a:r>
                      <a:endParaRPr>
                        <a:latin typeface="Times New Roman"/>
                        <a:ea typeface="Times New Roman"/>
                        <a:cs typeface="Times New Roman"/>
                        <a:sym typeface="Times New Roman"/>
                      </a:endParaRPr>
                    </a:p>
                  </a:txBody>
                  <a:tcPr marT="91425" marB="91425" marR="91425" marL="91425">
                    <a:solidFill>
                      <a:srgbClr val="FFE599"/>
                    </a:solidFill>
                  </a:tcPr>
                </a:tc>
              </a:tr>
              <a:tr h="570000">
                <a:tc>
                  <a:txBody>
                    <a:bodyPr/>
                    <a:lstStyle/>
                    <a:p>
                      <a:pPr indent="0" lvl="0" marL="0" rtl="0" algn="l">
                        <a:spcBef>
                          <a:spcPts val="0"/>
                        </a:spcBef>
                        <a:spcAft>
                          <a:spcPts val="0"/>
                        </a:spcAft>
                        <a:buClr>
                          <a:srgbClr val="000000"/>
                        </a:buClr>
                        <a:buSzPts val="1100"/>
                        <a:buFont typeface="Arial"/>
                        <a:buNone/>
                      </a:pPr>
                      <a:r>
                        <a:rPr lang="es">
                          <a:solidFill>
                            <a:srgbClr val="000000"/>
                          </a:solidFill>
                          <a:latin typeface="Times New Roman"/>
                          <a:ea typeface="Times New Roman"/>
                          <a:cs typeface="Times New Roman"/>
                          <a:sym typeface="Times New Roman"/>
                        </a:rPr>
                        <a:t>movimientos ruminales</a:t>
                      </a:r>
                      <a:endParaRPr>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a:latin typeface="Times New Roman"/>
                          <a:ea typeface="Times New Roman"/>
                          <a:cs typeface="Times New Roman"/>
                          <a:sym typeface="Times New Roman"/>
                        </a:rPr>
                        <a:t>2-3</a:t>
                      </a:r>
                      <a:r>
                        <a:rPr lang="es">
                          <a:latin typeface="Times New Roman"/>
                          <a:ea typeface="Times New Roman"/>
                          <a:cs typeface="Times New Roman"/>
                          <a:sym typeface="Times New Roman"/>
                        </a:rPr>
                        <a:t> / 2 min </a:t>
                      </a:r>
                      <a:endParaRPr>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2991400" y="7475"/>
            <a:ext cx="5682900" cy="114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Manifestaciones de enfermedad </a:t>
            </a:r>
            <a:endParaRPr sz="3500"/>
          </a:p>
        </p:txBody>
      </p:sp>
      <p:sp>
        <p:nvSpPr>
          <p:cNvPr id="176" name="Google Shape;176;p26"/>
          <p:cNvSpPr txBox="1"/>
          <p:nvPr>
            <p:ph type="title"/>
          </p:nvPr>
        </p:nvSpPr>
        <p:spPr>
          <a:xfrm>
            <a:off x="3271550" y="1323525"/>
            <a:ext cx="5928600" cy="963900"/>
          </a:xfrm>
          <a:prstGeom prst="rect">
            <a:avLst/>
          </a:prstGeom>
          <a:solidFill>
            <a:schemeClr val="accent6"/>
          </a:solidFill>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1620"/>
              <a:t>Selecciona los datos que consideres son una manifestación de enfermedad recabados en el EFG</a:t>
            </a:r>
            <a:endParaRPr sz="1620"/>
          </a:p>
        </p:txBody>
      </p:sp>
      <p:graphicFrame>
        <p:nvGraphicFramePr>
          <p:cNvPr id="177" name="Google Shape;177;p26"/>
          <p:cNvGraphicFramePr/>
          <p:nvPr/>
        </p:nvGraphicFramePr>
        <p:xfrm>
          <a:off x="209175" y="253513"/>
          <a:ext cx="3000000" cy="3000000"/>
        </p:xfrm>
        <a:graphic>
          <a:graphicData uri="http://schemas.openxmlformats.org/drawingml/2006/table">
            <a:tbl>
              <a:tblPr>
                <a:noFill/>
                <a:tableStyleId>{92B18CB4-C942-4677-B446-B40BB0A2A31A}</a:tableStyleId>
              </a:tblPr>
              <a:tblGrid>
                <a:gridCol w="2047075"/>
                <a:gridCol w="735150"/>
              </a:tblGrid>
              <a:tr h="396225">
                <a:tc>
                  <a:txBody>
                    <a:bodyPr/>
                    <a:lstStyle/>
                    <a:p>
                      <a:pPr indent="0" lvl="0" marL="0" rtl="0" algn="l">
                        <a:spcBef>
                          <a:spcPts val="0"/>
                        </a:spcBef>
                        <a:spcAft>
                          <a:spcPts val="0"/>
                        </a:spcAft>
                        <a:buNone/>
                      </a:pPr>
                      <a:r>
                        <a:rPr lang="es" sz="1200"/>
                        <a:t>Temperatura de 39.8 °C</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46700">
                <a:tc>
                  <a:txBody>
                    <a:bodyPr/>
                    <a:lstStyle/>
                    <a:p>
                      <a:pPr indent="0" lvl="0" marL="0" rtl="0" algn="l">
                        <a:spcBef>
                          <a:spcPts val="0"/>
                        </a:spcBef>
                        <a:spcAft>
                          <a:spcPts val="0"/>
                        </a:spcAft>
                        <a:buNone/>
                      </a:pPr>
                      <a:r>
                        <a:rPr lang="es" sz="1200"/>
                        <a:t>Pelo hirsuto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Secreción nasal</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Secrecion ocular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FR: 20 rpm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retraso en el crecimiento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pobre condición corporal </a:t>
                      </a:r>
                      <a:r>
                        <a:rPr lang="es" sz="1200"/>
                        <a:t>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Disminución en la producción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tos y estornudos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Clr>
                          <a:schemeClr val="dk1"/>
                        </a:buClr>
                        <a:buSzPts val="1100"/>
                        <a:buFont typeface="Arial"/>
                        <a:buNone/>
                      </a:pPr>
                      <a:r>
                        <a:rPr lang="es" sz="1200">
                          <a:solidFill>
                            <a:schemeClr val="dk1"/>
                          </a:solidFill>
                        </a:rPr>
                        <a:t>Mucosas pálidas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07550">
                <a:tc>
                  <a:txBody>
                    <a:bodyPr/>
                    <a:lstStyle/>
                    <a:p>
                      <a:pPr indent="0" lvl="0" marL="0" rtl="0" algn="l">
                        <a:spcBef>
                          <a:spcPts val="0"/>
                        </a:spcBef>
                        <a:spcAft>
                          <a:spcPts val="0"/>
                        </a:spcAft>
                        <a:buNone/>
                      </a:pPr>
                      <a:r>
                        <a:rPr lang="es" sz="1200"/>
                        <a:t>Estertor humedo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FC: 84  lpm</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178" name="Google Shape;178;p26" title="Captura de pantalla 2026-04-07 172020.png"/>
          <p:cNvPicPr preferRelativeResize="0"/>
          <p:nvPr/>
        </p:nvPicPr>
        <p:blipFill>
          <a:blip r:embed="rId3">
            <a:alphaModFix/>
          </a:blip>
          <a:stretch>
            <a:fillRect/>
          </a:stretch>
        </p:blipFill>
        <p:spPr>
          <a:xfrm>
            <a:off x="4595750" y="2462875"/>
            <a:ext cx="3280211" cy="2551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2991400" y="7475"/>
            <a:ext cx="5682900" cy="114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s" sz="3500"/>
              <a:t>M</a:t>
            </a:r>
            <a:r>
              <a:rPr lang="es" sz="3500"/>
              <a:t>anifestaciones de enfermedad </a:t>
            </a:r>
            <a:endParaRPr sz="3500"/>
          </a:p>
        </p:txBody>
      </p:sp>
      <p:sp>
        <p:nvSpPr>
          <p:cNvPr id="184" name="Google Shape;184;p27"/>
          <p:cNvSpPr txBox="1"/>
          <p:nvPr>
            <p:ph type="title"/>
          </p:nvPr>
        </p:nvSpPr>
        <p:spPr>
          <a:xfrm>
            <a:off x="3393975" y="796175"/>
            <a:ext cx="5928600" cy="963900"/>
          </a:xfrm>
          <a:prstGeom prst="rect">
            <a:avLst/>
          </a:prstGeom>
          <a:solidFill>
            <a:schemeClr val="accent6"/>
          </a:solidFill>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s" sz="1620"/>
              <a:t>S</a:t>
            </a:r>
            <a:r>
              <a:rPr lang="es" sz="1620"/>
              <a:t>elecciona los datos que consideres son una </a:t>
            </a:r>
            <a:r>
              <a:rPr lang="es" sz="1620"/>
              <a:t>manifestación</a:t>
            </a:r>
            <a:r>
              <a:rPr lang="es" sz="1620"/>
              <a:t> de enfermedad </a:t>
            </a:r>
            <a:endParaRPr sz="1620"/>
          </a:p>
        </p:txBody>
      </p:sp>
      <p:sp>
        <p:nvSpPr>
          <p:cNvPr id="185" name="Google Shape;185;p27"/>
          <p:cNvSpPr txBox="1"/>
          <p:nvPr/>
        </p:nvSpPr>
        <p:spPr>
          <a:xfrm>
            <a:off x="4156200" y="2571750"/>
            <a:ext cx="4987800" cy="1393200"/>
          </a:xfrm>
          <a:prstGeom prst="rect">
            <a:avLst/>
          </a:prstGeom>
          <a:solidFill>
            <a:srgbClr val="00FFFF"/>
          </a:solidFill>
          <a:ln>
            <a:noFill/>
          </a:ln>
        </p:spPr>
        <p:txBody>
          <a:bodyPr anchorCtr="0" anchor="t" bIns="79525" lIns="79525" spcFirstLastPara="1" rIns="79525" wrap="square" tIns="79525">
            <a:noAutofit/>
          </a:bodyPr>
          <a:lstStyle/>
          <a:p>
            <a:pPr indent="0" lvl="0" marL="0" rtl="0" algn="l">
              <a:lnSpc>
                <a:spcPct val="115000"/>
              </a:lnSpc>
              <a:spcBef>
                <a:spcPts val="0"/>
              </a:spcBef>
              <a:spcAft>
                <a:spcPts val="0"/>
              </a:spcAft>
              <a:buNone/>
            </a:pPr>
            <a:r>
              <a:rPr lang="es" sz="1200">
                <a:solidFill>
                  <a:srgbClr val="595959"/>
                </a:solidFill>
                <a:latin typeface="Times New Roman"/>
                <a:ea typeface="Times New Roman"/>
                <a:cs typeface="Times New Roman"/>
                <a:sym typeface="Times New Roman"/>
              </a:rPr>
              <a:t>Retroalimentación correcta</a:t>
            </a:r>
            <a:endParaRPr sz="1200">
              <a:solidFill>
                <a:srgbClr val="595959"/>
              </a:solidFill>
              <a:latin typeface="Times New Roman"/>
              <a:ea typeface="Times New Roman"/>
              <a:cs typeface="Times New Roman"/>
              <a:sym typeface="Times New Roman"/>
            </a:endParaRPr>
          </a:p>
          <a:p>
            <a:pPr indent="0" lvl="0" marL="0" rtl="0" algn="l">
              <a:lnSpc>
                <a:spcPct val="115000"/>
              </a:lnSpc>
              <a:spcBef>
                <a:spcPts val="1044"/>
              </a:spcBef>
              <a:spcAft>
                <a:spcPts val="0"/>
              </a:spcAft>
              <a:buNone/>
            </a:pPr>
            <a:r>
              <a:rPr lang="es" sz="1200">
                <a:solidFill>
                  <a:srgbClr val="595959"/>
                </a:solidFill>
                <a:latin typeface="Times New Roman"/>
                <a:ea typeface="Times New Roman"/>
                <a:cs typeface="Times New Roman"/>
                <a:sym typeface="Times New Roman"/>
              </a:rPr>
              <a:t>¡Bien! Has detectado correctamente las principales manifestaciones de enfermedad.  </a:t>
            </a:r>
            <a:endParaRPr sz="1200">
              <a:solidFill>
                <a:srgbClr val="595959"/>
              </a:solidFill>
              <a:latin typeface="Times New Roman"/>
              <a:ea typeface="Times New Roman"/>
              <a:cs typeface="Times New Roman"/>
              <a:sym typeface="Times New Roman"/>
            </a:endParaRPr>
          </a:p>
          <a:p>
            <a:pPr indent="0" lvl="0" marL="0" rtl="0" algn="l">
              <a:lnSpc>
                <a:spcPct val="115000"/>
              </a:lnSpc>
              <a:spcBef>
                <a:spcPts val="1044"/>
              </a:spcBef>
              <a:spcAft>
                <a:spcPts val="1044"/>
              </a:spcAft>
              <a:buNone/>
            </a:pPr>
            <a:r>
              <a:rPr lang="es" sz="1200">
                <a:solidFill>
                  <a:srgbClr val="595959"/>
                </a:solidFill>
                <a:latin typeface="Times New Roman"/>
                <a:ea typeface="Times New Roman"/>
                <a:cs typeface="Times New Roman"/>
                <a:sym typeface="Times New Roman"/>
              </a:rPr>
              <a:t>Tip: En rumiantes el manejo del  periodo de </a:t>
            </a:r>
            <a:r>
              <a:rPr lang="es" sz="1200">
                <a:solidFill>
                  <a:srgbClr val="595959"/>
                </a:solidFill>
                <a:latin typeface="Times New Roman"/>
                <a:ea typeface="Times New Roman"/>
                <a:cs typeface="Times New Roman"/>
                <a:sym typeface="Times New Roman"/>
              </a:rPr>
              <a:t>transición</a:t>
            </a:r>
            <a:r>
              <a:rPr lang="es" sz="1200">
                <a:solidFill>
                  <a:srgbClr val="595959"/>
                </a:solidFill>
                <a:latin typeface="Times New Roman"/>
                <a:ea typeface="Times New Roman"/>
                <a:cs typeface="Times New Roman"/>
                <a:sym typeface="Times New Roman"/>
              </a:rPr>
              <a:t> es clave para un buen funcionamiento ruminal. </a:t>
            </a:r>
            <a:endParaRPr sz="1200">
              <a:solidFill>
                <a:srgbClr val="595959"/>
              </a:solidFill>
              <a:latin typeface="Times New Roman"/>
              <a:ea typeface="Times New Roman"/>
              <a:cs typeface="Times New Roman"/>
              <a:sym typeface="Times New Roman"/>
            </a:endParaRPr>
          </a:p>
        </p:txBody>
      </p:sp>
      <p:sp>
        <p:nvSpPr>
          <p:cNvPr id="186" name="Google Shape;186;p27"/>
          <p:cNvSpPr txBox="1"/>
          <p:nvPr/>
        </p:nvSpPr>
        <p:spPr>
          <a:xfrm>
            <a:off x="4156200" y="4072225"/>
            <a:ext cx="4987800" cy="788400"/>
          </a:xfrm>
          <a:prstGeom prst="rect">
            <a:avLst/>
          </a:prstGeom>
          <a:solidFill>
            <a:srgbClr val="00FFFF"/>
          </a:solidFill>
          <a:ln>
            <a:noFill/>
          </a:ln>
        </p:spPr>
        <p:txBody>
          <a:bodyPr anchorCtr="0" anchor="t" bIns="79525" lIns="79525" spcFirstLastPara="1" rIns="79525" wrap="square" tIns="79525">
            <a:normAutofit fontScale="70000" lnSpcReduction="20000"/>
          </a:bodyPr>
          <a:lstStyle/>
          <a:p>
            <a:pPr indent="0" lvl="0" marL="0" rtl="0" algn="l">
              <a:lnSpc>
                <a:spcPct val="115000"/>
              </a:lnSpc>
              <a:spcBef>
                <a:spcPts val="0"/>
              </a:spcBef>
              <a:spcAft>
                <a:spcPts val="0"/>
              </a:spcAft>
              <a:buNone/>
            </a:pPr>
            <a:r>
              <a:rPr lang="es" sz="1566">
                <a:solidFill>
                  <a:srgbClr val="595959"/>
                </a:solidFill>
              </a:rPr>
              <a:t>retroalimentación incorrecta</a:t>
            </a:r>
            <a:endParaRPr sz="1566">
              <a:solidFill>
                <a:srgbClr val="595959"/>
              </a:solidFill>
            </a:endParaRPr>
          </a:p>
          <a:p>
            <a:pPr indent="0" lvl="0" marL="0" rtl="0" algn="l">
              <a:lnSpc>
                <a:spcPct val="115000"/>
              </a:lnSpc>
              <a:spcBef>
                <a:spcPts val="1044"/>
              </a:spcBef>
              <a:spcAft>
                <a:spcPts val="1044"/>
              </a:spcAft>
              <a:buNone/>
            </a:pPr>
            <a:r>
              <a:rPr lang="es" sz="1566">
                <a:solidFill>
                  <a:srgbClr val="595959"/>
                </a:solidFill>
              </a:rPr>
              <a:t>¡Ups! revisa con detenimiento la información recabada del EFG para determinar datos que representen enfermedad. </a:t>
            </a:r>
            <a:endParaRPr sz="1566">
              <a:solidFill>
                <a:srgbClr val="595959"/>
              </a:solidFill>
            </a:endParaRPr>
          </a:p>
        </p:txBody>
      </p:sp>
      <p:graphicFrame>
        <p:nvGraphicFramePr>
          <p:cNvPr id="187" name="Google Shape;187;p27"/>
          <p:cNvGraphicFramePr/>
          <p:nvPr/>
        </p:nvGraphicFramePr>
        <p:xfrm>
          <a:off x="209175" y="253513"/>
          <a:ext cx="3000000" cy="3000000"/>
        </p:xfrm>
        <a:graphic>
          <a:graphicData uri="http://schemas.openxmlformats.org/drawingml/2006/table">
            <a:tbl>
              <a:tblPr>
                <a:noFill/>
                <a:tableStyleId>{92B18CB4-C942-4677-B446-B40BB0A2A31A}</a:tableStyleId>
              </a:tblPr>
              <a:tblGrid>
                <a:gridCol w="2047075"/>
                <a:gridCol w="735150"/>
              </a:tblGrid>
              <a:tr h="396225">
                <a:tc>
                  <a:txBody>
                    <a:bodyPr/>
                    <a:lstStyle/>
                    <a:p>
                      <a:pPr indent="0" lvl="0" marL="0" rtl="0" algn="l">
                        <a:spcBef>
                          <a:spcPts val="0"/>
                        </a:spcBef>
                        <a:spcAft>
                          <a:spcPts val="0"/>
                        </a:spcAft>
                        <a:buNone/>
                      </a:pPr>
                      <a:r>
                        <a:rPr lang="es" sz="1200"/>
                        <a:t>Temperatura de 39.8 °C</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146700">
                <a:tc>
                  <a:txBody>
                    <a:bodyPr/>
                    <a:lstStyle/>
                    <a:p>
                      <a:pPr indent="0" lvl="0" marL="0" rtl="0" algn="l">
                        <a:spcBef>
                          <a:spcPts val="0"/>
                        </a:spcBef>
                        <a:spcAft>
                          <a:spcPts val="0"/>
                        </a:spcAft>
                        <a:buNone/>
                      </a:pPr>
                      <a:r>
                        <a:rPr lang="es" sz="1200"/>
                        <a:t>Pelo hirsuto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Secreción nasal</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Secrecion ocular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FR: 20 rpm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retraso en el crecimiento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pobre condición corporal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Disminución en la producción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tos y estornudos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Clr>
                          <a:schemeClr val="dk1"/>
                        </a:buClr>
                        <a:buSzPts val="1100"/>
                        <a:buFont typeface="Arial"/>
                        <a:buNone/>
                      </a:pPr>
                      <a:r>
                        <a:rPr lang="es" sz="1200">
                          <a:solidFill>
                            <a:schemeClr val="dk1"/>
                          </a:solidFill>
                        </a:rPr>
                        <a:t>Mucosas pálidas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207550">
                <a:tc>
                  <a:txBody>
                    <a:bodyPr/>
                    <a:lstStyle/>
                    <a:p>
                      <a:pPr indent="0" lvl="0" marL="0" rtl="0" algn="l">
                        <a:spcBef>
                          <a:spcPts val="0"/>
                        </a:spcBef>
                        <a:spcAft>
                          <a:spcPts val="0"/>
                        </a:spcAft>
                        <a:buNone/>
                      </a:pPr>
                      <a:r>
                        <a:rPr lang="es" sz="1200"/>
                        <a:t>Estertor humedo </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96225">
                <a:tc>
                  <a:txBody>
                    <a:bodyPr/>
                    <a:lstStyle/>
                    <a:p>
                      <a:pPr indent="0" lvl="0" marL="0" rtl="0" algn="l">
                        <a:spcBef>
                          <a:spcPts val="0"/>
                        </a:spcBef>
                        <a:spcAft>
                          <a:spcPts val="0"/>
                        </a:spcAft>
                        <a:buNone/>
                      </a:pPr>
                      <a:r>
                        <a:rPr lang="es" sz="1200"/>
                        <a:t>FC: 84  lpm</a:t>
                      </a:r>
                      <a:endParaRPr sz="1200"/>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188" name="Google Shape;188;p27"/>
          <p:cNvSpPr/>
          <p:nvPr/>
        </p:nvSpPr>
        <p:spPr>
          <a:xfrm>
            <a:off x="2256250" y="11480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7"/>
          <p:cNvSpPr/>
          <p:nvPr/>
        </p:nvSpPr>
        <p:spPr>
          <a:xfrm>
            <a:off x="2256250" y="149998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7"/>
          <p:cNvSpPr/>
          <p:nvPr/>
        </p:nvSpPr>
        <p:spPr>
          <a:xfrm>
            <a:off x="2256250" y="223463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7"/>
          <p:cNvSpPr/>
          <p:nvPr/>
        </p:nvSpPr>
        <p:spPr>
          <a:xfrm>
            <a:off x="2256250" y="269173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7"/>
          <p:cNvSpPr/>
          <p:nvPr/>
        </p:nvSpPr>
        <p:spPr>
          <a:xfrm>
            <a:off x="2344950" y="3245961"/>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7"/>
          <p:cNvSpPr/>
          <p:nvPr/>
        </p:nvSpPr>
        <p:spPr>
          <a:xfrm>
            <a:off x="2344950" y="3704861"/>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7"/>
          <p:cNvSpPr/>
          <p:nvPr/>
        </p:nvSpPr>
        <p:spPr>
          <a:xfrm>
            <a:off x="2344950" y="4072236"/>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7"/>
          <p:cNvSpPr/>
          <p:nvPr/>
        </p:nvSpPr>
        <p:spPr>
          <a:xfrm>
            <a:off x="2344950" y="4439611"/>
            <a:ext cx="503100" cy="260100"/>
          </a:xfrm>
          <a:prstGeom prst="diamond">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type="title"/>
          </p:nvPr>
        </p:nvSpPr>
        <p:spPr>
          <a:xfrm>
            <a:off x="311700" y="445025"/>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a:t>
            </a:r>
            <a:r>
              <a:rPr lang="es" sz="3500"/>
              <a:t>ruebas complementarias </a:t>
            </a:r>
            <a:endParaRPr sz="3500"/>
          </a:p>
        </p:txBody>
      </p:sp>
      <p:sp>
        <p:nvSpPr>
          <p:cNvPr id="201" name="Google Shape;201;p28"/>
          <p:cNvSpPr txBox="1"/>
          <p:nvPr>
            <p:ph idx="1" type="body"/>
          </p:nvPr>
        </p:nvSpPr>
        <p:spPr>
          <a:xfrm>
            <a:off x="4450750" y="218625"/>
            <a:ext cx="4381500" cy="18351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Para obtener un panorama </a:t>
            </a:r>
            <a:r>
              <a:rPr lang="es"/>
              <a:t>más</a:t>
            </a:r>
            <a:r>
              <a:rPr lang="es"/>
              <a:t> amplio y complementar el proceso </a:t>
            </a:r>
            <a:r>
              <a:rPr lang="es"/>
              <a:t>diagnóstico</a:t>
            </a:r>
            <a:r>
              <a:rPr lang="es"/>
              <a:t> decides apoyarte con pruebas de laboratorio de diagnóstico clínico especializado en medicina veterinaria. </a:t>
            </a:r>
            <a:endParaRPr/>
          </a:p>
        </p:txBody>
      </p:sp>
      <p:graphicFrame>
        <p:nvGraphicFramePr>
          <p:cNvPr id="202" name="Google Shape;202;p28"/>
          <p:cNvGraphicFramePr/>
          <p:nvPr/>
        </p:nvGraphicFramePr>
        <p:xfrm>
          <a:off x="190475" y="2571750"/>
          <a:ext cx="3000000" cy="3000000"/>
        </p:xfrm>
        <a:graphic>
          <a:graphicData uri="http://schemas.openxmlformats.org/drawingml/2006/table">
            <a:tbl>
              <a:tblPr>
                <a:noFill/>
                <a:tableStyleId>{92B18CB4-C942-4677-B446-B40BB0A2A31A}</a:tableStyleId>
              </a:tblPr>
              <a:tblGrid>
                <a:gridCol w="2190775"/>
                <a:gridCol w="2190775"/>
              </a:tblGrid>
              <a:tr h="530550">
                <a:tc>
                  <a:txBody>
                    <a:bodyPr/>
                    <a:lstStyle/>
                    <a:p>
                      <a:pPr indent="0" lvl="0" marL="0" rtl="0" algn="l">
                        <a:spcBef>
                          <a:spcPts val="0"/>
                        </a:spcBef>
                        <a:spcAft>
                          <a:spcPts val="0"/>
                        </a:spcAft>
                        <a:buClr>
                          <a:schemeClr val="dk1"/>
                        </a:buClr>
                        <a:buSzPts val="1100"/>
                        <a:buFont typeface="Arial"/>
                        <a:buNone/>
                      </a:pPr>
                      <a:r>
                        <a:rPr lang="es">
                          <a:solidFill>
                            <a:schemeClr val="dk1"/>
                          </a:solidFill>
                        </a:rPr>
                        <a:t>heces</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orina </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sangre en vacutainer con anticoagulante </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sangre en vacutainer sin anticoagulante </a:t>
                      </a:r>
                      <a:endParaRPr/>
                    </a:p>
                  </a:txBody>
                  <a:tcPr marT="91425" marB="91425" marR="91425" marL="91425"/>
                </a:tc>
                <a:tc>
                  <a:txBody>
                    <a:bodyPr/>
                    <a:lstStyle/>
                    <a:p>
                      <a:pPr indent="0" lvl="0" marL="0" rtl="0" algn="l">
                        <a:spcBef>
                          <a:spcPts val="0"/>
                        </a:spcBef>
                        <a:spcAft>
                          <a:spcPts val="0"/>
                        </a:spcAft>
                        <a:buNone/>
                      </a:pPr>
                      <a:r>
                        <a:rPr lang="es"/>
                        <a:t> </a:t>
                      </a:r>
                      <a:endParaRPr/>
                    </a:p>
                  </a:txBody>
                  <a:tcPr marT="91425" marB="91425" marR="91425" marL="91425"/>
                </a:tc>
              </a:tr>
              <a:tr h="530550">
                <a:tc>
                  <a:txBody>
                    <a:bodyPr/>
                    <a:lstStyle/>
                    <a:p>
                      <a:pPr indent="0" lvl="0" marL="0" rtl="0" algn="l">
                        <a:spcBef>
                          <a:spcPts val="0"/>
                        </a:spcBef>
                        <a:spcAft>
                          <a:spcPts val="0"/>
                        </a:spcAft>
                        <a:buNone/>
                      </a:pPr>
                      <a:r>
                        <a:rPr lang="es"/>
                        <a:t>líquido</a:t>
                      </a:r>
                      <a:r>
                        <a:rPr lang="es"/>
                        <a:t> ruminal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
        <p:nvSpPr>
          <p:cNvPr id="203" name="Google Shape;203;p28"/>
          <p:cNvSpPr txBox="1"/>
          <p:nvPr/>
        </p:nvSpPr>
        <p:spPr>
          <a:xfrm>
            <a:off x="599250" y="1648775"/>
            <a:ext cx="3564000" cy="7803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rPr>
              <a:t>coloca cada muestra en la prueba correspondiente </a:t>
            </a:r>
            <a:endParaRPr sz="1800">
              <a:solidFill>
                <a:schemeClr val="dk2"/>
              </a:solidFill>
            </a:endParaRPr>
          </a:p>
        </p:txBody>
      </p:sp>
      <p:sp>
        <p:nvSpPr>
          <p:cNvPr id="204" name="Google Shape;204;p28"/>
          <p:cNvSpPr/>
          <p:nvPr/>
        </p:nvSpPr>
        <p:spPr>
          <a:xfrm>
            <a:off x="4880726" y="267002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Urianálisis</a:t>
            </a:r>
            <a:endParaRPr sz="1372"/>
          </a:p>
        </p:txBody>
      </p:sp>
      <p:sp>
        <p:nvSpPr>
          <p:cNvPr id="205" name="Google Shape;205;p28"/>
          <p:cNvSpPr/>
          <p:nvPr/>
        </p:nvSpPr>
        <p:spPr>
          <a:xfrm>
            <a:off x="4880726" y="3458427"/>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Biometría hemática </a:t>
            </a:r>
            <a:endParaRPr sz="1372"/>
          </a:p>
        </p:txBody>
      </p:sp>
      <p:sp>
        <p:nvSpPr>
          <p:cNvPr id="206" name="Google Shape;206;p28"/>
          <p:cNvSpPr/>
          <p:nvPr/>
        </p:nvSpPr>
        <p:spPr>
          <a:xfrm>
            <a:off x="4880726" y="4179578"/>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Análisis</a:t>
            </a:r>
            <a:r>
              <a:rPr lang="es" sz="1372">
                <a:latin typeface="Calibri"/>
                <a:ea typeface="Calibri"/>
                <a:cs typeface="Calibri"/>
                <a:sym typeface="Calibri"/>
              </a:rPr>
              <a:t> coprológico </a:t>
            </a:r>
            <a:endParaRPr sz="1372"/>
          </a:p>
        </p:txBody>
      </p:sp>
      <p:sp>
        <p:nvSpPr>
          <p:cNvPr id="207" name="Google Shape;207;p28"/>
          <p:cNvSpPr/>
          <p:nvPr/>
        </p:nvSpPr>
        <p:spPr>
          <a:xfrm>
            <a:off x="6820700" y="3458425"/>
            <a:ext cx="1728395" cy="583906"/>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Medición de hematocrito (HTO)</a:t>
            </a:r>
            <a:endParaRPr sz="1372"/>
          </a:p>
        </p:txBody>
      </p:sp>
      <p:sp>
        <p:nvSpPr>
          <p:cNvPr id="208" name="Google Shape;208;p28"/>
          <p:cNvSpPr/>
          <p:nvPr/>
        </p:nvSpPr>
        <p:spPr>
          <a:xfrm>
            <a:off x="6718411" y="4155284"/>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Análisis de líquido ruminal </a:t>
            </a:r>
            <a:endParaRPr sz="1372"/>
          </a:p>
        </p:txBody>
      </p:sp>
      <p:sp>
        <p:nvSpPr>
          <p:cNvPr id="209" name="Google Shape;209;p28"/>
          <p:cNvSpPr/>
          <p:nvPr/>
        </p:nvSpPr>
        <p:spPr>
          <a:xfrm>
            <a:off x="6796602" y="2670027"/>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522685" marR="0" rtl="0" algn="l">
              <a:lnSpc>
                <a:spcPct val="90000"/>
              </a:lnSpc>
              <a:spcBef>
                <a:spcPts val="0"/>
              </a:spcBef>
              <a:spcAft>
                <a:spcPts val="0"/>
              </a:spcAft>
              <a:buNone/>
            </a:pPr>
            <a:r>
              <a:rPr lang="es" sz="1372">
                <a:latin typeface="Calibri"/>
                <a:ea typeface="Calibri"/>
                <a:cs typeface="Calibri"/>
                <a:sym typeface="Calibri"/>
              </a:rPr>
              <a:t>Perfil bioquímico</a:t>
            </a:r>
            <a:endParaRPr sz="1372"/>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190475" y="0"/>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a:t>
            </a:r>
            <a:r>
              <a:rPr lang="es" sz="3500"/>
              <a:t>ruebas complementarias </a:t>
            </a:r>
            <a:endParaRPr sz="3500"/>
          </a:p>
        </p:txBody>
      </p:sp>
      <p:sp>
        <p:nvSpPr>
          <p:cNvPr id="215" name="Google Shape;215;p29"/>
          <p:cNvSpPr txBox="1"/>
          <p:nvPr>
            <p:ph idx="1" type="body"/>
          </p:nvPr>
        </p:nvSpPr>
        <p:spPr>
          <a:xfrm>
            <a:off x="4450750" y="218625"/>
            <a:ext cx="4381500" cy="1835100"/>
          </a:xfrm>
          <a:prstGeom prst="rect">
            <a:avLst/>
          </a:prstGeom>
          <a:solidFill>
            <a:srgbClr val="CFE2F3"/>
          </a:solidFill>
        </p:spPr>
        <p:txBody>
          <a:bodyPr anchorCtr="0" anchor="t" bIns="91425" lIns="91425" spcFirstLastPara="1" rIns="91425" wrap="square" tIns="91425">
            <a:normAutofit/>
          </a:bodyPr>
          <a:lstStyle/>
          <a:p>
            <a:pPr indent="0" lvl="0" marL="0" rtl="0" algn="l">
              <a:spcBef>
                <a:spcPts val="0"/>
              </a:spcBef>
              <a:spcAft>
                <a:spcPts val="1200"/>
              </a:spcAft>
              <a:buNone/>
            </a:pPr>
            <a:r>
              <a:rPr lang="es"/>
              <a:t>para obtener un panorama más amplio y complementar el proceso diagnóstico decides apoyarte con pruebas de laboratorio de diagnóstico clínico especializado en medicina veterinaria. </a:t>
            </a:r>
            <a:endParaRPr/>
          </a:p>
        </p:txBody>
      </p:sp>
      <p:sp>
        <p:nvSpPr>
          <p:cNvPr id="216" name="Google Shape;216;p29"/>
          <p:cNvSpPr txBox="1"/>
          <p:nvPr/>
        </p:nvSpPr>
        <p:spPr>
          <a:xfrm>
            <a:off x="478025" y="1203750"/>
            <a:ext cx="3564000" cy="7803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rPr>
              <a:t>coloca cada muestra en la prueba correspondiente </a:t>
            </a:r>
            <a:endParaRPr sz="1800">
              <a:solidFill>
                <a:schemeClr val="dk2"/>
              </a:solidFill>
            </a:endParaRPr>
          </a:p>
        </p:txBody>
      </p:sp>
      <p:sp>
        <p:nvSpPr>
          <p:cNvPr id="217" name="Google Shape;217;p29"/>
          <p:cNvSpPr txBox="1"/>
          <p:nvPr/>
        </p:nvSpPr>
        <p:spPr>
          <a:xfrm>
            <a:off x="4814650" y="2068332"/>
            <a:ext cx="42288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¡Bien hecho!  recuerda que cada muestra que envíes a laboratorio debe ser la correcta e ir debidamente identificada y conservada.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sp>
        <p:nvSpPr>
          <p:cNvPr id="218" name="Google Shape;218;p29"/>
          <p:cNvSpPr txBox="1"/>
          <p:nvPr/>
        </p:nvSpPr>
        <p:spPr>
          <a:xfrm>
            <a:off x="4859500" y="3668182"/>
            <a:ext cx="41391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revisa con cuidado los datos y razona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tip:  El </a:t>
            </a:r>
            <a:r>
              <a:rPr lang="es">
                <a:solidFill>
                  <a:srgbClr val="595959"/>
                </a:solidFill>
                <a:latin typeface="Times New Roman"/>
                <a:ea typeface="Times New Roman"/>
                <a:cs typeface="Times New Roman"/>
                <a:sym typeface="Times New Roman"/>
              </a:rPr>
              <a:t>análisis</a:t>
            </a:r>
            <a:r>
              <a:rPr lang="es">
                <a:solidFill>
                  <a:srgbClr val="595959"/>
                </a:solidFill>
                <a:latin typeface="Times New Roman"/>
                <a:ea typeface="Times New Roman"/>
                <a:cs typeface="Times New Roman"/>
                <a:sym typeface="Times New Roman"/>
              </a:rPr>
              <a:t> de </a:t>
            </a:r>
            <a:r>
              <a:rPr lang="es">
                <a:solidFill>
                  <a:srgbClr val="595959"/>
                </a:solidFill>
                <a:latin typeface="Times New Roman"/>
                <a:ea typeface="Times New Roman"/>
                <a:cs typeface="Times New Roman"/>
                <a:sym typeface="Times New Roman"/>
              </a:rPr>
              <a:t>líquido</a:t>
            </a:r>
            <a:r>
              <a:rPr lang="es">
                <a:solidFill>
                  <a:srgbClr val="595959"/>
                </a:solidFill>
                <a:latin typeface="Times New Roman"/>
                <a:ea typeface="Times New Roman"/>
                <a:cs typeface="Times New Roman"/>
                <a:sym typeface="Times New Roman"/>
              </a:rPr>
              <a:t> ruminal lo puedes hacer en campo.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graphicFrame>
        <p:nvGraphicFramePr>
          <p:cNvPr id="219" name="Google Shape;219;p29"/>
          <p:cNvGraphicFramePr/>
          <p:nvPr/>
        </p:nvGraphicFramePr>
        <p:xfrm>
          <a:off x="190475" y="2102025"/>
          <a:ext cx="3000000" cy="3000000"/>
        </p:xfrm>
        <a:graphic>
          <a:graphicData uri="http://schemas.openxmlformats.org/drawingml/2006/table">
            <a:tbl>
              <a:tblPr>
                <a:noFill/>
                <a:tableStyleId>{92B18CB4-C942-4677-B446-B40BB0A2A31A}</a:tableStyleId>
              </a:tblPr>
              <a:tblGrid>
                <a:gridCol w="2190775"/>
                <a:gridCol w="2190775"/>
              </a:tblGrid>
              <a:tr h="530550">
                <a:tc>
                  <a:txBody>
                    <a:bodyPr/>
                    <a:lstStyle/>
                    <a:p>
                      <a:pPr indent="0" lvl="0" marL="0" rtl="0" algn="l">
                        <a:spcBef>
                          <a:spcPts val="0"/>
                        </a:spcBef>
                        <a:spcAft>
                          <a:spcPts val="0"/>
                        </a:spcAft>
                        <a:buClr>
                          <a:schemeClr val="dk1"/>
                        </a:buClr>
                        <a:buSzPts val="1100"/>
                        <a:buFont typeface="Arial"/>
                        <a:buNone/>
                      </a:pPr>
                      <a:r>
                        <a:rPr lang="es">
                          <a:solidFill>
                            <a:schemeClr val="dk1"/>
                          </a:solidFill>
                        </a:rPr>
                        <a:t>heces</a:t>
                      </a:r>
                      <a:endParaRPr/>
                    </a:p>
                  </a:txBody>
                  <a:tcPr marT="91425" marB="91425" marR="91425" marL="91425"/>
                </a:tc>
                <a:tc>
                  <a:txBody>
                    <a:bodyPr/>
                    <a:lstStyle/>
                    <a:p>
                      <a:pPr indent="0" lvl="0" marL="0" rtl="0" algn="l">
                        <a:spcBef>
                          <a:spcPts val="0"/>
                        </a:spcBef>
                        <a:spcAft>
                          <a:spcPts val="0"/>
                        </a:spcAft>
                        <a:buNone/>
                      </a:pPr>
                      <a:r>
                        <a:rPr lang="es"/>
                        <a:t>Análisis coprológico</a:t>
                      </a:r>
                      <a:endParaRPr/>
                    </a:p>
                  </a:txBody>
                  <a:tcPr marT="91425" marB="91425" marR="91425" marL="91425"/>
                </a:tc>
              </a:tr>
              <a:tr h="530550">
                <a:tc>
                  <a:txBody>
                    <a:bodyPr/>
                    <a:lstStyle/>
                    <a:p>
                      <a:pPr indent="0" lvl="0" marL="0" rtl="0" algn="l">
                        <a:spcBef>
                          <a:spcPts val="0"/>
                        </a:spcBef>
                        <a:spcAft>
                          <a:spcPts val="0"/>
                        </a:spcAft>
                        <a:buNone/>
                      </a:pPr>
                      <a:r>
                        <a:rPr lang="es"/>
                        <a:t>orina </a:t>
                      </a:r>
                      <a:endParaRPr/>
                    </a:p>
                  </a:txBody>
                  <a:tcPr marT="91425" marB="91425" marR="91425" marL="91425"/>
                </a:tc>
                <a:tc>
                  <a:txBody>
                    <a:bodyPr/>
                    <a:lstStyle/>
                    <a:p>
                      <a:pPr indent="0" lvl="0" marL="0" rtl="0" algn="l">
                        <a:spcBef>
                          <a:spcPts val="0"/>
                        </a:spcBef>
                        <a:spcAft>
                          <a:spcPts val="0"/>
                        </a:spcAft>
                        <a:buNone/>
                      </a:pPr>
                      <a:r>
                        <a:rPr lang="es"/>
                        <a:t> Urianálisis </a:t>
                      </a:r>
                      <a:endParaRPr/>
                    </a:p>
                  </a:txBody>
                  <a:tcPr marT="91425" marB="91425" marR="91425" marL="91425"/>
                </a:tc>
              </a:tr>
              <a:tr h="530550">
                <a:tc>
                  <a:txBody>
                    <a:bodyPr/>
                    <a:lstStyle/>
                    <a:p>
                      <a:pPr indent="0" lvl="0" marL="0" rtl="0" algn="l">
                        <a:spcBef>
                          <a:spcPts val="0"/>
                        </a:spcBef>
                        <a:spcAft>
                          <a:spcPts val="0"/>
                        </a:spcAft>
                        <a:buNone/>
                      </a:pPr>
                      <a:r>
                        <a:rPr lang="es"/>
                        <a:t>sangre en vacutainer con anticoagulante </a:t>
                      </a:r>
                      <a:endParaRPr/>
                    </a:p>
                  </a:txBody>
                  <a:tcPr marT="91425" marB="91425" marR="91425" marL="91425"/>
                </a:tc>
                <a:tc>
                  <a:txBody>
                    <a:bodyPr/>
                    <a:lstStyle/>
                    <a:p>
                      <a:pPr indent="0" lvl="0" marL="0" rtl="0" algn="l">
                        <a:spcBef>
                          <a:spcPts val="0"/>
                        </a:spcBef>
                        <a:spcAft>
                          <a:spcPts val="0"/>
                        </a:spcAft>
                        <a:buNone/>
                      </a:pPr>
                      <a:r>
                        <a:rPr lang="es"/>
                        <a:t> Biometría hemática </a:t>
                      </a:r>
                      <a:endParaRPr/>
                    </a:p>
                    <a:p>
                      <a:pPr indent="0" lvl="0" marL="0" rtl="0" algn="l">
                        <a:spcBef>
                          <a:spcPts val="0"/>
                        </a:spcBef>
                        <a:spcAft>
                          <a:spcPts val="0"/>
                        </a:spcAft>
                        <a:buNone/>
                      </a:pPr>
                      <a:r>
                        <a:rPr lang="es"/>
                        <a:t>Medición de HTO</a:t>
                      </a:r>
                      <a:endParaRPr/>
                    </a:p>
                  </a:txBody>
                  <a:tcPr marT="91425" marB="91425" marR="91425" marL="91425"/>
                </a:tc>
              </a:tr>
              <a:tr h="530550">
                <a:tc>
                  <a:txBody>
                    <a:bodyPr/>
                    <a:lstStyle/>
                    <a:p>
                      <a:pPr indent="0" lvl="0" marL="0" rtl="0" algn="l">
                        <a:spcBef>
                          <a:spcPts val="0"/>
                        </a:spcBef>
                        <a:spcAft>
                          <a:spcPts val="0"/>
                        </a:spcAft>
                        <a:buNone/>
                      </a:pPr>
                      <a:r>
                        <a:rPr lang="es"/>
                        <a:t>sangre en vacutainer sin anticoagulante </a:t>
                      </a:r>
                      <a:endParaRPr/>
                    </a:p>
                  </a:txBody>
                  <a:tcPr marT="91425" marB="91425" marR="91425" marL="91425"/>
                </a:tc>
                <a:tc>
                  <a:txBody>
                    <a:bodyPr/>
                    <a:lstStyle/>
                    <a:p>
                      <a:pPr indent="0" lvl="0" marL="0" rtl="0" algn="l">
                        <a:spcBef>
                          <a:spcPts val="0"/>
                        </a:spcBef>
                        <a:spcAft>
                          <a:spcPts val="0"/>
                        </a:spcAft>
                        <a:buNone/>
                      </a:pPr>
                      <a:r>
                        <a:rPr lang="es"/>
                        <a:t> Perfil </a:t>
                      </a:r>
                      <a:r>
                        <a:rPr lang="es"/>
                        <a:t>bioquímico</a:t>
                      </a:r>
                      <a:r>
                        <a:rPr lang="es"/>
                        <a:t> </a:t>
                      </a:r>
                      <a:endParaRPr/>
                    </a:p>
                  </a:txBody>
                  <a:tcPr marT="91425" marB="91425" marR="91425" marL="91425"/>
                </a:tc>
              </a:tr>
              <a:tr h="530550">
                <a:tc>
                  <a:txBody>
                    <a:bodyPr/>
                    <a:lstStyle/>
                    <a:p>
                      <a:pPr indent="0" lvl="0" marL="0" rtl="0" algn="l">
                        <a:spcBef>
                          <a:spcPts val="0"/>
                        </a:spcBef>
                        <a:spcAft>
                          <a:spcPts val="0"/>
                        </a:spcAft>
                        <a:buNone/>
                      </a:pPr>
                      <a:r>
                        <a:rPr lang="es"/>
                        <a:t>contenido ruminal  </a:t>
                      </a:r>
                      <a:endParaRPr/>
                    </a:p>
                  </a:txBody>
                  <a:tcPr marT="91425" marB="91425" marR="91425" marL="91425"/>
                </a:tc>
                <a:tc>
                  <a:txBody>
                    <a:bodyPr/>
                    <a:lstStyle/>
                    <a:p>
                      <a:pPr indent="0" lvl="0" marL="0" rtl="0" algn="l">
                        <a:spcBef>
                          <a:spcPts val="0"/>
                        </a:spcBef>
                        <a:spcAft>
                          <a:spcPts val="0"/>
                        </a:spcAft>
                        <a:buNone/>
                      </a:pPr>
                      <a:r>
                        <a:rPr lang="es"/>
                        <a:t>Análisis de </a:t>
                      </a:r>
                      <a:r>
                        <a:rPr lang="es"/>
                        <a:t>líquido</a:t>
                      </a:r>
                      <a:r>
                        <a:rPr lang="es"/>
                        <a:t> ruminal </a:t>
                      </a:r>
                      <a:endParaRPr/>
                    </a:p>
                  </a:txBody>
                  <a:tcPr marT="91425" marB="91425" marR="91425" marL="91425"/>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graphicFrame>
        <p:nvGraphicFramePr>
          <p:cNvPr id="224" name="Google Shape;224;p30"/>
          <p:cNvGraphicFramePr/>
          <p:nvPr/>
        </p:nvGraphicFramePr>
        <p:xfrm>
          <a:off x="1780325" y="958425"/>
          <a:ext cx="3000000" cy="3000000"/>
        </p:xfrm>
        <a:graphic>
          <a:graphicData uri="http://schemas.openxmlformats.org/drawingml/2006/table">
            <a:tbl>
              <a:tblPr>
                <a:noFill/>
                <a:tableStyleId>{92B18CB4-C942-4677-B446-B40BB0A2A31A}</a:tableStyleId>
              </a:tblPr>
              <a:tblGrid>
                <a:gridCol w="2413000"/>
                <a:gridCol w="2413000"/>
                <a:gridCol w="2413000"/>
              </a:tblGrid>
              <a:tr h="73682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Área del laboratorio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Prueba diagnóstica solicitada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Resultado </a:t>
                      </a:r>
                      <a:endParaRPr sz="1200">
                        <a:latin typeface="Times New Roman"/>
                        <a:ea typeface="Times New Roman"/>
                        <a:cs typeface="Times New Roman"/>
                        <a:sym typeface="Times New Roman"/>
                      </a:endParaRPr>
                    </a:p>
                  </a:txBody>
                  <a:tcPr marT="91425" marB="91425" marR="91425" marL="91425">
                    <a:solidFill>
                      <a:srgbClr val="FFD966"/>
                    </a:solidFill>
                  </a:tcPr>
                </a:tc>
              </a:tr>
              <a:tr h="1080400">
                <a:tc>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Medición</a:t>
                      </a:r>
                      <a:r>
                        <a:rPr lang="es" sz="1200">
                          <a:latin typeface="Times New Roman"/>
                          <a:ea typeface="Times New Roman"/>
                          <a:cs typeface="Times New Roman"/>
                          <a:sym typeface="Times New Roman"/>
                        </a:rPr>
                        <a:t> de HTO</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menor a 22% </a:t>
                      </a:r>
                      <a:endParaRPr sz="1200">
                        <a:latin typeface="Times New Roman"/>
                        <a:ea typeface="Times New Roman"/>
                        <a:cs typeface="Times New Roman"/>
                        <a:sym typeface="Times New Roman"/>
                      </a:endParaRPr>
                    </a:p>
                  </a:txBody>
                  <a:tcPr marT="91425" marB="91425" marR="91425" marL="91425">
                    <a:solidFill>
                      <a:srgbClr val="FFE599"/>
                    </a:solidFill>
                  </a:tcPr>
                </a:tc>
              </a:tr>
              <a:tr h="736825">
                <a:tc>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tarjeta al 3%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000">
                          <a:solidFill>
                            <a:schemeClr val="dk1"/>
                          </a:solidFill>
                          <a:latin typeface="Times New Roman"/>
                          <a:ea typeface="Times New Roman"/>
                          <a:cs typeface="Times New Roman"/>
                          <a:sym typeface="Times New Roman"/>
                        </a:rPr>
                        <a:t>Negativa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rowSpan="2">
                  <a:txBody>
                    <a:bodyPr/>
                    <a:lstStyle/>
                    <a:p>
                      <a:pPr indent="0" lvl="0" marL="0" rtl="0" algn="l">
                        <a:spcBef>
                          <a:spcPts val="0"/>
                        </a:spcBef>
                        <a:spcAft>
                          <a:spcPts val="0"/>
                        </a:spcAft>
                        <a:buNone/>
                      </a:pPr>
                      <a: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Flotación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latin typeface="Times New Roman"/>
                          <a:ea typeface="Times New Roman"/>
                          <a:cs typeface="Times New Roman"/>
                          <a:sym typeface="Times New Roman"/>
                        </a:rPr>
                        <a:t>++ NGI </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200">
                          <a:latin typeface="Times New Roman"/>
                          <a:ea typeface="Times New Roman"/>
                          <a:cs typeface="Times New Roman"/>
                          <a:sym typeface="Times New Roman"/>
                        </a:rPr>
                        <a:t>– Coccidias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vMerge="1"/>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McMaster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alta carga parasitaria NGI </a:t>
                      </a:r>
                      <a:endParaRPr sz="1200">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
        <p:nvSpPr>
          <p:cNvPr id="225" name="Google Shape;225;p30"/>
          <p:cNvSpPr txBox="1"/>
          <p:nvPr/>
        </p:nvSpPr>
        <p:spPr>
          <a:xfrm>
            <a:off x="4314725" y="112400"/>
            <a:ext cx="47046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Coloca en su lugar cada área del laboratorio de diagnóstico veterinario. </a:t>
            </a:r>
            <a:endParaRPr sz="1800">
              <a:solidFill>
                <a:srgbClr val="595959"/>
              </a:solidFill>
            </a:endParaRPr>
          </a:p>
        </p:txBody>
      </p:sp>
      <p:sp>
        <p:nvSpPr>
          <p:cNvPr id="226" name="Google Shape;226;p30"/>
          <p:cNvSpPr txBox="1"/>
          <p:nvPr/>
        </p:nvSpPr>
        <p:spPr>
          <a:xfrm>
            <a:off x="175625" y="112400"/>
            <a:ext cx="4139100" cy="8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000000"/>
                </a:solidFill>
              </a:rPr>
              <a:t>Pruebas complementarias </a:t>
            </a:r>
            <a:endParaRPr sz="2500">
              <a:solidFill>
                <a:srgbClr val="000000"/>
              </a:solidFill>
            </a:endParaRPr>
          </a:p>
        </p:txBody>
      </p:sp>
      <p:sp>
        <p:nvSpPr>
          <p:cNvPr id="227" name="Google Shape;227;p30"/>
          <p:cNvSpPr/>
          <p:nvPr/>
        </p:nvSpPr>
        <p:spPr>
          <a:xfrm>
            <a:off x="1" y="169077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patología clínica</a:t>
            </a:r>
            <a:endParaRPr sz="1372"/>
          </a:p>
        </p:txBody>
      </p:sp>
      <p:sp>
        <p:nvSpPr>
          <p:cNvPr id="228" name="Google Shape;228;p30"/>
          <p:cNvSpPr/>
          <p:nvPr/>
        </p:nvSpPr>
        <p:spPr>
          <a:xfrm>
            <a:off x="1" y="2314363"/>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microbiología</a:t>
            </a:r>
            <a:endParaRPr sz="1372"/>
          </a:p>
        </p:txBody>
      </p:sp>
      <p:sp>
        <p:nvSpPr>
          <p:cNvPr id="229" name="Google Shape;229;p30"/>
          <p:cNvSpPr/>
          <p:nvPr/>
        </p:nvSpPr>
        <p:spPr>
          <a:xfrm>
            <a:off x="1" y="1067176"/>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virología 	</a:t>
            </a:r>
            <a:endParaRPr sz="1372"/>
          </a:p>
        </p:txBody>
      </p:sp>
      <p:sp>
        <p:nvSpPr>
          <p:cNvPr id="230" name="Google Shape;230;p30"/>
          <p:cNvSpPr/>
          <p:nvPr/>
        </p:nvSpPr>
        <p:spPr>
          <a:xfrm>
            <a:off x="1" y="3670501"/>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parasitología </a:t>
            </a:r>
            <a:endParaRPr sz="1372"/>
          </a:p>
        </p:txBody>
      </p:sp>
      <p:sp>
        <p:nvSpPr>
          <p:cNvPr id="231" name="Google Shape;231;p30"/>
          <p:cNvSpPr/>
          <p:nvPr/>
        </p:nvSpPr>
        <p:spPr>
          <a:xfrm>
            <a:off x="1" y="4294088"/>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de histología </a:t>
            </a:r>
            <a:endParaRPr sz="1372"/>
          </a:p>
        </p:txBody>
      </p:sp>
      <p:sp>
        <p:nvSpPr>
          <p:cNvPr id="232" name="Google Shape;232;p30"/>
          <p:cNvSpPr/>
          <p:nvPr/>
        </p:nvSpPr>
        <p:spPr>
          <a:xfrm>
            <a:off x="1" y="3046901"/>
            <a:ext cx="1728395" cy="51482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marR="0" rtl="0" algn="l">
              <a:lnSpc>
                <a:spcPct val="90000"/>
              </a:lnSpc>
              <a:spcBef>
                <a:spcPts val="0"/>
              </a:spcBef>
              <a:spcAft>
                <a:spcPts val="0"/>
              </a:spcAft>
              <a:buNone/>
            </a:pPr>
            <a:r>
              <a:rPr lang="es" sz="1372">
                <a:latin typeface="Calibri"/>
                <a:ea typeface="Calibri"/>
                <a:cs typeface="Calibri"/>
                <a:sym typeface="Calibri"/>
              </a:rPr>
              <a:t>Laboratorio </a:t>
            </a:r>
            <a:r>
              <a:rPr lang="es" sz="1372">
                <a:latin typeface="Calibri"/>
                <a:ea typeface="Calibri"/>
                <a:cs typeface="Calibri"/>
                <a:sym typeface="Calibri"/>
              </a:rPr>
              <a:t>patología</a:t>
            </a:r>
            <a:r>
              <a:rPr lang="es" sz="1372">
                <a:latin typeface="Calibri"/>
                <a:ea typeface="Calibri"/>
                <a:cs typeface="Calibri"/>
                <a:sym typeface="Calibri"/>
              </a:rPr>
              <a:t> diagnóstica	</a:t>
            </a:r>
            <a:endParaRPr sz="1372"/>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nvSpPr>
        <p:spPr>
          <a:xfrm>
            <a:off x="4314725" y="112400"/>
            <a:ext cx="47046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Coloca en su lugar cada área del laboratorio de diagnóstico veterinario. </a:t>
            </a:r>
            <a:endParaRPr sz="1800">
              <a:solidFill>
                <a:srgbClr val="595959"/>
              </a:solidFill>
            </a:endParaRPr>
          </a:p>
        </p:txBody>
      </p:sp>
      <p:sp>
        <p:nvSpPr>
          <p:cNvPr id="238" name="Google Shape;238;p31"/>
          <p:cNvSpPr txBox="1"/>
          <p:nvPr/>
        </p:nvSpPr>
        <p:spPr>
          <a:xfrm rot="274">
            <a:off x="175676" y="151"/>
            <a:ext cx="3766800" cy="95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600">
                <a:solidFill>
                  <a:srgbClr val="000000"/>
                </a:solidFill>
              </a:rPr>
              <a:t>Pruebas complementarias</a:t>
            </a:r>
            <a:r>
              <a:rPr lang="es" sz="3500">
                <a:solidFill>
                  <a:srgbClr val="000000"/>
                </a:solidFill>
              </a:rPr>
              <a:t> </a:t>
            </a:r>
            <a:endParaRPr sz="3500">
              <a:solidFill>
                <a:srgbClr val="000000"/>
              </a:solidFill>
            </a:endParaRPr>
          </a:p>
        </p:txBody>
      </p:sp>
      <p:graphicFrame>
        <p:nvGraphicFramePr>
          <p:cNvPr id="239" name="Google Shape;239;p31"/>
          <p:cNvGraphicFramePr/>
          <p:nvPr/>
        </p:nvGraphicFramePr>
        <p:xfrm>
          <a:off x="1780325" y="958425"/>
          <a:ext cx="3000000" cy="3000000"/>
        </p:xfrm>
        <a:graphic>
          <a:graphicData uri="http://schemas.openxmlformats.org/drawingml/2006/table">
            <a:tbl>
              <a:tblPr>
                <a:noFill/>
                <a:tableStyleId>{92B18CB4-C942-4677-B446-B40BB0A2A31A}</a:tableStyleId>
              </a:tblPr>
              <a:tblGrid>
                <a:gridCol w="2413000"/>
                <a:gridCol w="2413000"/>
                <a:gridCol w="2413000"/>
              </a:tblGrid>
              <a:tr h="73682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Área del laboratorio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Prueba diagnóstica solicitada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Resultado </a:t>
                      </a:r>
                      <a:endParaRPr sz="1200">
                        <a:latin typeface="Times New Roman"/>
                        <a:ea typeface="Times New Roman"/>
                        <a:cs typeface="Times New Roman"/>
                        <a:sym typeface="Times New Roman"/>
                      </a:endParaRPr>
                    </a:p>
                  </a:txBody>
                  <a:tcPr marT="91425" marB="91425" marR="91425" marL="91425">
                    <a:solidFill>
                      <a:srgbClr val="FFD966"/>
                    </a:solidFill>
                  </a:tcPr>
                </a:tc>
              </a:tr>
              <a:tr h="1080400">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Laboratorio de patología clínica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Medición de HTO</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menor a 22% </a:t>
                      </a:r>
                      <a:endParaRPr sz="1200">
                        <a:latin typeface="Times New Roman"/>
                        <a:ea typeface="Times New Roman"/>
                        <a:cs typeface="Times New Roman"/>
                        <a:sym typeface="Times New Roman"/>
                      </a:endParaRPr>
                    </a:p>
                  </a:txBody>
                  <a:tcPr marT="91425" marB="91425" marR="91425" marL="91425">
                    <a:solidFill>
                      <a:srgbClr val="FFE599"/>
                    </a:solidFill>
                  </a:tcPr>
                </a:tc>
              </a:tr>
              <a:tr h="736825">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Laboratorio de m icrobiología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tarjeta al 3%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000">
                          <a:solidFill>
                            <a:schemeClr val="dk1"/>
                          </a:solidFill>
                          <a:latin typeface="Times New Roman"/>
                          <a:ea typeface="Times New Roman"/>
                          <a:cs typeface="Times New Roman"/>
                          <a:sym typeface="Times New Roman"/>
                        </a:rPr>
                        <a:t>Negativa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rowSpan="2">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Laboratorio de parasitología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Flotación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latin typeface="Times New Roman"/>
                          <a:ea typeface="Times New Roman"/>
                          <a:cs typeface="Times New Roman"/>
                          <a:sym typeface="Times New Roman"/>
                        </a:rPr>
                        <a:t>++ NGI </a:t>
                      </a:r>
                      <a:endParaRPr sz="12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200">
                          <a:latin typeface="Times New Roman"/>
                          <a:ea typeface="Times New Roman"/>
                          <a:cs typeface="Times New Roman"/>
                          <a:sym typeface="Times New Roman"/>
                        </a:rPr>
                        <a:t>– Coccidias </a:t>
                      </a:r>
                      <a:endParaRPr sz="1200">
                        <a:latin typeface="Times New Roman"/>
                        <a:ea typeface="Times New Roman"/>
                        <a:cs typeface="Times New Roman"/>
                        <a:sym typeface="Times New Roman"/>
                      </a:endParaRPr>
                    </a:p>
                  </a:txBody>
                  <a:tcPr marT="91425" marB="91425" marR="91425" marL="91425">
                    <a:solidFill>
                      <a:srgbClr val="FFE599"/>
                    </a:solidFill>
                  </a:tcPr>
                </a:tc>
              </a:tr>
              <a:tr h="648225">
                <a:tc vMerge="1"/>
                <a:tc>
                  <a:txBody>
                    <a:bodyPr/>
                    <a:lstStyle/>
                    <a:p>
                      <a:pPr indent="0" lvl="0" marL="0" rtl="0" algn="l">
                        <a:spcBef>
                          <a:spcPts val="0"/>
                        </a:spcBef>
                        <a:spcAft>
                          <a:spcPts val="0"/>
                        </a:spcAft>
                        <a:buNone/>
                      </a:pPr>
                      <a:r>
                        <a:rPr lang="es" sz="1200">
                          <a:latin typeface="Times New Roman"/>
                          <a:ea typeface="Times New Roman"/>
                          <a:cs typeface="Times New Roman"/>
                          <a:sym typeface="Times New Roman"/>
                        </a:rPr>
                        <a:t>McMaster </a:t>
                      </a:r>
                      <a:endParaRPr sz="1200">
                        <a:latin typeface="Times New Roman"/>
                        <a:ea typeface="Times New Roman"/>
                        <a:cs typeface="Times New Roman"/>
                        <a:sym typeface="Times New Roman"/>
                      </a:endParaRPr>
                    </a:p>
                  </a:txBody>
                  <a:tcPr marT="91425" marB="91425" marR="91425" marL="91425">
                    <a:solidFill>
                      <a:srgbClr val="FFE599"/>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Times New Roman"/>
                          <a:ea typeface="Times New Roman"/>
                          <a:cs typeface="Times New Roman"/>
                          <a:sym typeface="Times New Roman"/>
                        </a:rPr>
                        <a:t>alta carga parasitaria NGI </a:t>
                      </a:r>
                      <a:endParaRPr sz="1200">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
        <p:nvSpPr>
          <p:cNvPr id="240" name="Google Shape;240;p31"/>
          <p:cNvSpPr txBox="1"/>
          <p:nvPr/>
        </p:nvSpPr>
        <p:spPr>
          <a:xfrm>
            <a:off x="130825" y="1725150"/>
            <a:ext cx="3031800" cy="1231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a:t>
            </a:r>
            <a:r>
              <a:rPr lang="es" sz="1200">
                <a:solidFill>
                  <a:srgbClr val="595959"/>
                </a:solidFill>
                <a:latin typeface="Times New Roman"/>
                <a:ea typeface="Times New Roman"/>
                <a:cs typeface="Times New Roman"/>
                <a:sym typeface="Times New Roman"/>
              </a:rPr>
              <a:t>etroalimentación correcta </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¡Muy bien! El objetivo de estos estudios es complementar la información obtenida para con ello establecer los posibles diagnósticos.</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sp>
        <p:nvSpPr>
          <p:cNvPr id="241" name="Google Shape;241;p31"/>
          <p:cNvSpPr txBox="1"/>
          <p:nvPr/>
        </p:nvSpPr>
        <p:spPr>
          <a:xfrm>
            <a:off x="175675" y="3451675"/>
            <a:ext cx="2987100" cy="12930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Retroalimentación incorrecta </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¡Ups! recuerda que las pruebas de laboratorio complementan el diagnóstico para confirmar o descartar.  Revisa muy bien y con detenimiento la prueba solicitada y el resultado. </a:t>
            </a:r>
            <a:endParaRPr sz="1200">
              <a:solidFill>
                <a:srgbClr val="59595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2"/>
          <p:cNvSpPr txBox="1"/>
          <p:nvPr>
            <p:ph type="title"/>
          </p:nvPr>
        </p:nvSpPr>
        <p:spPr>
          <a:xfrm>
            <a:off x="376025" y="179625"/>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a:t>
            </a:r>
            <a:r>
              <a:rPr lang="es" sz="3500"/>
              <a:t>ruebas complementarias </a:t>
            </a:r>
            <a:endParaRPr sz="3500"/>
          </a:p>
        </p:txBody>
      </p:sp>
      <p:sp>
        <p:nvSpPr>
          <p:cNvPr id="247" name="Google Shape;247;p32"/>
          <p:cNvSpPr txBox="1"/>
          <p:nvPr/>
        </p:nvSpPr>
        <p:spPr>
          <a:xfrm>
            <a:off x="376025" y="1767725"/>
            <a:ext cx="1950900" cy="18471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A </a:t>
            </a:r>
            <a:r>
              <a:rPr lang="es" sz="1800">
                <a:solidFill>
                  <a:schemeClr val="dk2"/>
                </a:solidFill>
              </a:rPr>
              <a:t>continuación</a:t>
            </a:r>
            <a:r>
              <a:rPr lang="es" sz="1800">
                <a:solidFill>
                  <a:schemeClr val="dk2"/>
                </a:solidFill>
              </a:rPr>
              <a:t> el resultado de parasitología y patología clínica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248" name="Google Shape;248;p32" title="Captura de pantalla 2026-04-07 192420.png"/>
          <p:cNvPicPr preferRelativeResize="0"/>
          <p:nvPr/>
        </p:nvPicPr>
        <p:blipFill>
          <a:blip r:embed="rId3">
            <a:alphaModFix/>
          </a:blip>
          <a:stretch>
            <a:fillRect/>
          </a:stretch>
        </p:blipFill>
        <p:spPr>
          <a:xfrm>
            <a:off x="2479325" y="1654725"/>
            <a:ext cx="4139100" cy="26626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33" title="Captura de pantalla 2026-04-07 192641.png"/>
          <p:cNvPicPr preferRelativeResize="0"/>
          <p:nvPr/>
        </p:nvPicPr>
        <p:blipFill>
          <a:blip r:embed="rId3">
            <a:alphaModFix/>
          </a:blip>
          <a:stretch>
            <a:fillRect/>
          </a:stretch>
        </p:blipFill>
        <p:spPr>
          <a:xfrm>
            <a:off x="2261525" y="1411050"/>
            <a:ext cx="5219700" cy="3228975"/>
          </a:xfrm>
          <a:prstGeom prst="rect">
            <a:avLst/>
          </a:prstGeom>
          <a:noFill/>
          <a:ln>
            <a:noFill/>
          </a:ln>
        </p:spPr>
      </p:pic>
      <p:sp>
        <p:nvSpPr>
          <p:cNvPr id="254" name="Google Shape;254;p33"/>
          <p:cNvSpPr txBox="1"/>
          <p:nvPr>
            <p:ph type="title"/>
          </p:nvPr>
        </p:nvSpPr>
        <p:spPr>
          <a:xfrm>
            <a:off x="376025" y="179625"/>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Pruebas complementarias </a:t>
            </a:r>
            <a:endParaRPr sz="3500"/>
          </a:p>
        </p:txBody>
      </p:sp>
      <p:sp>
        <p:nvSpPr>
          <p:cNvPr id="255" name="Google Shape;255;p33"/>
          <p:cNvSpPr txBox="1"/>
          <p:nvPr/>
        </p:nvSpPr>
        <p:spPr>
          <a:xfrm>
            <a:off x="167675" y="1343100"/>
            <a:ext cx="1950900" cy="21240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A continuación el resultado del analisis serológico de microbiología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4"/>
          <p:cNvSpPr txBox="1"/>
          <p:nvPr>
            <p:ph type="title"/>
          </p:nvPr>
        </p:nvSpPr>
        <p:spPr>
          <a:xfrm>
            <a:off x="376025" y="179625"/>
            <a:ext cx="4139100" cy="132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500"/>
              <a:t>Pruebas complementarias </a:t>
            </a:r>
            <a:endParaRPr sz="3500"/>
          </a:p>
        </p:txBody>
      </p:sp>
      <p:sp>
        <p:nvSpPr>
          <p:cNvPr id="261" name="Google Shape;261;p34"/>
          <p:cNvSpPr txBox="1"/>
          <p:nvPr/>
        </p:nvSpPr>
        <p:spPr>
          <a:xfrm>
            <a:off x="167675" y="1343100"/>
            <a:ext cx="1950900" cy="21240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s" sz="1800">
                <a:solidFill>
                  <a:schemeClr val="dk2"/>
                </a:solidFill>
              </a:rPr>
              <a:t>A continuación el resultado del analisis serológico de microbiología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262" name="Google Shape;262;p34" title="Captura de pantalla 2026-04-07 192813.png"/>
          <p:cNvPicPr preferRelativeResize="0"/>
          <p:nvPr/>
        </p:nvPicPr>
        <p:blipFill>
          <a:blip r:embed="rId3">
            <a:alphaModFix/>
          </a:blip>
          <a:stretch>
            <a:fillRect/>
          </a:stretch>
        </p:blipFill>
        <p:spPr>
          <a:xfrm>
            <a:off x="7480700" y="445888"/>
            <a:ext cx="1457325" cy="3114675"/>
          </a:xfrm>
          <a:prstGeom prst="rect">
            <a:avLst/>
          </a:prstGeom>
          <a:noFill/>
          <a:ln>
            <a:noFill/>
          </a:ln>
        </p:spPr>
      </p:pic>
      <p:pic>
        <p:nvPicPr>
          <p:cNvPr id="263" name="Google Shape;263;p34" title="Captura de pantalla 2026-04-07 192747.png"/>
          <p:cNvPicPr preferRelativeResize="0"/>
          <p:nvPr/>
        </p:nvPicPr>
        <p:blipFill>
          <a:blip r:embed="rId4">
            <a:alphaModFix/>
          </a:blip>
          <a:stretch>
            <a:fillRect/>
          </a:stretch>
        </p:blipFill>
        <p:spPr>
          <a:xfrm>
            <a:off x="5208825" y="1409575"/>
            <a:ext cx="1495425" cy="2988625"/>
          </a:xfrm>
          <a:prstGeom prst="rect">
            <a:avLst/>
          </a:prstGeom>
          <a:noFill/>
          <a:ln>
            <a:noFill/>
          </a:ln>
        </p:spPr>
      </p:pic>
      <p:pic>
        <p:nvPicPr>
          <p:cNvPr id="264" name="Google Shape;264;p34" title="Captura de pantalla 2026-04-07 192759.png"/>
          <p:cNvPicPr preferRelativeResize="0"/>
          <p:nvPr/>
        </p:nvPicPr>
        <p:blipFill>
          <a:blip r:embed="rId5">
            <a:alphaModFix/>
          </a:blip>
          <a:stretch>
            <a:fillRect/>
          </a:stretch>
        </p:blipFill>
        <p:spPr>
          <a:xfrm>
            <a:off x="6704250" y="1514550"/>
            <a:ext cx="1457325" cy="2800350"/>
          </a:xfrm>
          <a:prstGeom prst="rect">
            <a:avLst/>
          </a:prstGeom>
          <a:noFill/>
          <a:ln>
            <a:noFill/>
          </a:ln>
        </p:spPr>
      </p:pic>
      <p:pic>
        <p:nvPicPr>
          <p:cNvPr id="265" name="Google Shape;265;p34" title="Captura de pantalla 2026-04-07 192734.png"/>
          <p:cNvPicPr preferRelativeResize="0"/>
          <p:nvPr/>
        </p:nvPicPr>
        <p:blipFill>
          <a:blip r:embed="rId6">
            <a:alphaModFix/>
          </a:blip>
          <a:stretch>
            <a:fillRect/>
          </a:stretch>
        </p:blipFill>
        <p:spPr>
          <a:xfrm>
            <a:off x="3698413" y="1371675"/>
            <a:ext cx="1543050" cy="3086100"/>
          </a:xfrm>
          <a:prstGeom prst="rect">
            <a:avLst/>
          </a:prstGeom>
          <a:noFill/>
          <a:ln>
            <a:noFill/>
          </a:ln>
        </p:spPr>
      </p:pic>
      <p:pic>
        <p:nvPicPr>
          <p:cNvPr id="266" name="Google Shape;266;p34" title="Captura de pantalla 2026-04-07 192720.png"/>
          <p:cNvPicPr preferRelativeResize="0"/>
          <p:nvPr/>
        </p:nvPicPr>
        <p:blipFill>
          <a:blip r:embed="rId7">
            <a:alphaModFix/>
          </a:blip>
          <a:stretch>
            <a:fillRect/>
          </a:stretch>
        </p:blipFill>
        <p:spPr>
          <a:xfrm>
            <a:off x="2222038" y="1343100"/>
            <a:ext cx="1476375" cy="3143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graphicFrame>
        <p:nvGraphicFramePr>
          <p:cNvPr id="271" name="Google Shape;271;p35"/>
          <p:cNvGraphicFramePr/>
          <p:nvPr/>
        </p:nvGraphicFramePr>
        <p:xfrm>
          <a:off x="5384800" y="764500"/>
          <a:ext cx="3000000" cy="3000000"/>
        </p:xfrm>
        <a:graphic>
          <a:graphicData uri="http://schemas.openxmlformats.org/drawingml/2006/table">
            <a:tbl>
              <a:tblPr>
                <a:noFill/>
                <a:tableStyleId>{92B18CB4-C942-4677-B446-B40BB0A2A31A}</a:tableStyleId>
              </a:tblPr>
              <a:tblGrid>
                <a:gridCol w="611450"/>
                <a:gridCol w="3008050"/>
              </a:tblGrid>
              <a:tr h="361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pelo hirsuto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pobre </a:t>
                      </a:r>
                      <a:r>
                        <a:rPr lang="es" sz="1000"/>
                        <a:t>condición</a:t>
                      </a:r>
                      <a:r>
                        <a:rPr lang="es" sz="1000"/>
                        <a:t> corporal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 y ocular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retraso en el crecimiento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disminución en la produccion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y estornudos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8.</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estertor húmedo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9.</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anemia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10.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parasitosis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72" name="Google Shape;272;p35"/>
          <p:cNvSpPr txBox="1"/>
          <p:nvPr/>
        </p:nvSpPr>
        <p:spPr>
          <a:xfrm>
            <a:off x="311700" y="445025"/>
            <a:ext cx="4787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 Lista de problemas </a:t>
            </a:r>
            <a:endParaRPr sz="3500">
              <a:solidFill>
                <a:srgbClr val="000000"/>
              </a:solidFill>
            </a:endParaRPr>
          </a:p>
        </p:txBody>
      </p:sp>
      <p:sp>
        <p:nvSpPr>
          <p:cNvPr id="273" name="Google Shape;273;p35"/>
          <p:cNvSpPr txBox="1"/>
          <p:nvPr/>
        </p:nvSpPr>
        <p:spPr>
          <a:xfrm>
            <a:off x="402425" y="1371150"/>
            <a:ext cx="4479000" cy="21240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La lista de problemas consiste en una relación de números arábigos de cada uno de los problemas que el paciente presenta o ha presentado que NO se llevan un orden de importancia aparente.</a:t>
            </a:r>
            <a:endParaRPr sz="1800">
              <a:solidFill>
                <a:srgbClr val="595959"/>
              </a:solidFill>
            </a:endParaRPr>
          </a:p>
          <a:p>
            <a:pPr indent="0" lvl="0" marL="0" rtl="0" algn="l">
              <a:spcBef>
                <a:spcPts val="0"/>
              </a:spcBef>
              <a:spcAft>
                <a:spcPts val="0"/>
              </a:spcAft>
              <a:buNone/>
            </a:pPr>
            <a:r>
              <a:rPr lang="es" sz="1800">
                <a:solidFill>
                  <a:srgbClr val="595959"/>
                </a:solidFill>
              </a:rPr>
              <a:t>se recomienda organizar los problemas desde la reseña hasta el EFG. </a:t>
            </a:r>
            <a:endParaRPr sz="1800">
              <a:solidFill>
                <a:srgbClr val="59595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graphicFrame>
        <p:nvGraphicFramePr>
          <p:cNvPr id="278" name="Google Shape;278;p36"/>
          <p:cNvGraphicFramePr/>
          <p:nvPr/>
        </p:nvGraphicFramePr>
        <p:xfrm>
          <a:off x="96625" y="990625"/>
          <a:ext cx="3000000" cy="3000000"/>
        </p:xfrm>
        <a:graphic>
          <a:graphicData uri="http://schemas.openxmlformats.org/drawingml/2006/table">
            <a:tbl>
              <a:tblPr>
                <a:noFill/>
                <a:tableStyleId>{92B18CB4-C942-4677-B446-B40BB0A2A31A}</a:tableStyleId>
              </a:tblPr>
              <a:tblGrid>
                <a:gridCol w="2416550"/>
                <a:gridCol w="1765525"/>
              </a:tblGrid>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inespecíficos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FE599"/>
                    </a:solidFill>
                  </a:tcPr>
                </a:tc>
              </a:tr>
              <a:tr h="477425">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específicos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patognomónicos  </a:t>
                      </a:r>
                      <a:endParaRPr>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clave		 </a:t>
                      </a:r>
                      <a:endParaRPr>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solidFill>
                          <a:srgbClr val="595959"/>
                        </a:solidFill>
                      </a:endParaRPr>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accidentales  		</a:t>
                      </a:r>
                      <a:endParaRPr>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solidFill>
                          <a:srgbClr val="595959"/>
                        </a:solidFill>
                      </a:endParaRPr>
                    </a:p>
                  </a:txBody>
                  <a:tcPr marT="91425" marB="91425" marR="91425" marL="91425">
                    <a:solidFill>
                      <a:srgbClr val="FFE599"/>
                    </a:solidFill>
                  </a:tcPr>
                </a:tc>
              </a:tr>
              <a:tr h="639700">
                <a:tc>
                  <a:txBody>
                    <a:bodyPr/>
                    <a:lstStyle/>
                    <a:p>
                      <a:pPr indent="0" lvl="0" marL="0" rtl="0" algn="l">
                        <a:lnSpc>
                          <a:spcPct val="115000"/>
                        </a:lnSpc>
                        <a:spcBef>
                          <a:spcPts val="0"/>
                        </a:spcBef>
                        <a:spcAft>
                          <a:spcPts val="1200"/>
                        </a:spcAft>
                        <a:buNone/>
                      </a:pPr>
                      <a:r>
                        <a:rPr lang="es">
                          <a:solidFill>
                            <a:srgbClr val="595959"/>
                          </a:solidFill>
                          <a:latin typeface="Times New Roman"/>
                          <a:ea typeface="Times New Roman"/>
                          <a:cs typeface="Times New Roman"/>
                          <a:sym typeface="Times New Roman"/>
                        </a:rPr>
                        <a:t>signos complementarios </a:t>
                      </a:r>
                      <a:endParaRPr>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l">
                        <a:lnSpc>
                          <a:spcPct val="115000"/>
                        </a:lnSpc>
                        <a:spcBef>
                          <a:spcPts val="0"/>
                        </a:spcBef>
                        <a:spcAft>
                          <a:spcPts val="1200"/>
                        </a:spcAft>
                        <a:buNone/>
                      </a:pPr>
                      <a:r>
                        <a:t/>
                      </a:r>
                      <a:endParaRPr sz="1000">
                        <a:solidFill>
                          <a:srgbClr val="595959"/>
                        </a:solidFill>
                      </a:endParaRPr>
                    </a:p>
                  </a:txBody>
                  <a:tcPr marT="91425" marB="91425" marR="91425" marL="91425">
                    <a:solidFill>
                      <a:srgbClr val="FFE599"/>
                    </a:solidFill>
                  </a:tcPr>
                </a:tc>
              </a:tr>
            </a:tbl>
          </a:graphicData>
        </a:graphic>
      </p:graphicFrame>
      <p:sp>
        <p:nvSpPr>
          <p:cNvPr id="279" name="Google Shape;279;p36"/>
          <p:cNvSpPr/>
          <p:nvPr/>
        </p:nvSpPr>
        <p:spPr>
          <a:xfrm>
            <a:off x="4671763" y="1557151"/>
            <a:ext cx="1925061" cy="79526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aquellos signos que nos indican enfermedad  sin embargo no señalan un órgano específico afectado. </a:t>
            </a:r>
            <a:endParaRPr sz="1372">
              <a:latin typeface="Times New Roman"/>
              <a:ea typeface="Times New Roman"/>
              <a:cs typeface="Times New Roman"/>
              <a:sym typeface="Times New Roman"/>
            </a:endParaRPr>
          </a:p>
        </p:txBody>
      </p:sp>
      <p:sp>
        <p:nvSpPr>
          <p:cNvPr id="280" name="Google Shape;280;p36"/>
          <p:cNvSpPr/>
          <p:nvPr/>
        </p:nvSpPr>
        <p:spPr>
          <a:xfrm>
            <a:off x="4671775" y="3349020"/>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son aquellos hallazgos que dominan el caso y brindan un fuerte valor diagnóstico</a:t>
            </a:r>
            <a:endParaRPr sz="1000">
              <a:solidFill>
                <a:srgbClr val="595959"/>
              </a:solidFill>
              <a:latin typeface="Times New Roman"/>
              <a:ea typeface="Times New Roman"/>
              <a:cs typeface="Times New Roman"/>
              <a:sym typeface="Times New Roman"/>
            </a:endParaRPr>
          </a:p>
        </p:txBody>
      </p:sp>
      <p:sp>
        <p:nvSpPr>
          <p:cNvPr id="281" name="Google Shape;281;p36"/>
          <p:cNvSpPr/>
          <p:nvPr/>
        </p:nvSpPr>
        <p:spPr>
          <a:xfrm>
            <a:off x="4671763" y="2481133"/>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son aquellos que aparecen con el progreso de la enfermedad o se obtienen realizando pruebas complementarias </a:t>
            </a:r>
            <a:endParaRPr sz="1000">
              <a:solidFill>
                <a:srgbClr val="595959"/>
              </a:solidFill>
              <a:latin typeface="Times New Roman"/>
              <a:ea typeface="Times New Roman"/>
              <a:cs typeface="Times New Roman"/>
              <a:sym typeface="Times New Roman"/>
            </a:endParaRPr>
          </a:p>
        </p:txBody>
      </p:sp>
      <p:sp>
        <p:nvSpPr>
          <p:cNvPr id="282" name="Google Shape;282;p36"/>
          <p:cNvSpPr txBox="1"/>
          <p:nvPr/>
        </p:nvSpPr>
        <p:spPr>
          <a:xfrm>
            <a:off x="172225" y="137775"/>
            <a:ext cx="3112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Signología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sp>
        <p:nvSpPr>
          <p:cNvPr id="283" name="Google Shape;283;p36"/>
          <p:cNvSpPr txBox="1"/>
          <p:nvPr/>
        </p:nvSpPr>
        <p:spPr>
          <a:xfrm>
            <a:off x="4853225" y="251725"/>
            <a:ext cx="34281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Relaciona cada categoría de signo con su descripción </a:t>
            </a:r>
            <a:endParaRPr sz="1800">
              <a:solidFill>
                <a:srgbClr val="595959"/>
              </a:solidFill>
            </a:endParaRPr>
          </a:p>
        </p:txBody>
      </p:sp>
      <p:sp>
        <p:nvSpPr>
          <p:cNvPr id="284" name="Google Shape;284;p36"/>
          <p:cNvSpPr/>
          <p:nvPr/>
        </p:nvSpPr>
        <p:spPr>
          <a:xfrm>
            <a:off x="7002400" y="1667287"/>
            <a:ext cx="1925061" cy="692539"/>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ctr" bIns="13175" lIns="78550" spcFirstLastPara="1" rIns="78550" wrap="square" tIns="13175">
            <a:noAutofit/>
          </a:bodyPr>
          <a:lstStyle/>
          <a:p>
            <a:pPr indent="0" lvl="0" marL="0" rtl="0" algn="l">
              <a:lnSpc>
                <a:spcPct val="115000"/>
              </a:lnSpc>
              <a:spcBef>
                <a:spcPts val="0"/>
              </a:spcBef>
              <a:spcAft>
                <a:spcPts val="1200"/>
              </a:spcAft>
              <a:buNone/>
            </a:pPr>
            <a:r>
              <a:rPr lang="es" sz="1000">
                <a:solidFill>
                  <a:srgbClr val="595959"/>
                </a:solidFill>
                <a:latin typeface="Times New Roman"/>
                <a:ea typeface="Times New Roman"/>
                <a:cs typeface="Times New Roman"/>
                <a:sym typeface="Times New Roman"/>
              </a:rPr>
              <a:t>son aquellos signos que nos guían a un sistema anatómico en concreto </a:t>
            </a:r>
            <a:endParaRPr sz="1000">
              <a:solidFill>
                <a:srgbClr val="595959"/>
              </a:solidFill>
              <a:latin typeface="Times New Roman"/>
              <a:ea typeface="Times New Roman"/>
              <a:cs typeface="Times New Roman"/>
              <a:sym typeface="Times New Roman"/>
            </a:endParaRPr>
          </a:p>
        </p:txBody>
      </p:sp>
      <p:sp>
        <p:nvSpPr>
          <p:cNvPr id="285" name="Google Shape;285;p36"/>
          <p:cNvSpPr/>
          <p:nvPr/>
        </p:nvSpPr>
        <p:spPr>
          <a:xfrm>
            <a:off x="7002400" y="3349020"/>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None/>
            </a:pPr>
            <a:r>
              <a:rPr lang="es" sz="1000">
                <a:solidFill>
                  <a:srgbClr val="595959"/>
                </a:solidFill>
                <a:latin typeface="Times New Roman"/>
                <a:ea typeface="Times New Roman"/>
                <a:cs typeface="Times New Roman"/>
                <a:sym typeface="Times New Roman"/>
              </a:rPr>
              <a:t>aquellos signos exclusivos de una sola enfermedad y confirman el diagnóstico por sí mismos </a:t>
            </a:r>
            <a:endParaRPr sz="1000">
              <a:solidFill>
                <a:srgbClr val="595959"/>
              </a:solidFill>
              <a:latin typeface="Times New Roman"/>
              <a:ea typeface="Times New Roman"/>
              <a:cs typeface="Times New Roman"/>
              <a:sym typeface="Times New Roman"/>
            </a:endParaRPr>
          </a:p>
        </p:txBody>
      </p:sp>
      <p:sp>
        <p:nvSpPr>
          <p:cNvPr id="286" name="Google Shape;286;p36"/>
          <p:cNvSpPr/>
          <p:nvPr/>
        </p:nvSpPr>
        <p:spPr>
          <a:xfrm>
            <a:off x="7002400" y="2484833"/>
            <a:ext cx="1925061" cy="73918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4525">
            <a:solidFill>
              <a:srgbClr val="3A66B1"/>
            </a:solidFill>
            <a:prstDash val="solid"/>
            <a:miter lim="800000"/>
            <a:headEnd len="sm" w="sm" type="none"/>
            <a:tailEnd len="sm" w="sm" type="none"/>
          </a:ln>
        </p:spPr>
        <p:txBody>
          <a:bodyPr anchorCtr="0" anchor="t" bIns="13175" lIns="78550" spcFirstLastPara="1" rIns="78550" wrap="square" tIns="13175">
            <a:noAutofit/>
          </a:bodyPr>
          <a:lstStyle/>
          <a:p>
            <a:pPr indent="0" lvl="0" marL="0" rtl="0" algn="l">
              <a:lnSpc>
                <a:spcPct val="115000"/>
              </a:lnSpc>
              <a:spcBef>
                <a:spcPts val="0"/>
              </a:spcBef>
              <a:spcAft>
                <a:spcPts val="1200"/>
              </a:spcAft>
              <a:buClr>
                <a:srgbClr val="000000"/>
              </a:buClr>
              <a:buSzPts val="1100"/>
              <a:buFont typeface="Arial"/>
              <a:buNone/>
            </a:pPr>
            <a:r>
              <a:rPr lang="es" sz="1000">
                <a:solidFill>
                  <a:srgbClr val="595959"/>
                </a:solidFill>
                <a:latin typeface="Times New Roman"/>
                <a:ea typeface="Times New Roman"/>
                <a:cs typeface="Times New Roman"/>
                <a:sym typeface="Times New Roman"/>
              </a:rPr>
              <a:t>aquellos encontrados durante la exploración y que no tienen una relación directa con el problema actual del paciente </a:t>
            </a:r>
            <a:endParaRPr sz="1000">
              <a:solidFill>
                <a:srgbClr val="595959"/>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96625" y="137775"/>
            <a:ext cx="3112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Lista de problemas </a:t>
            </a:r>
            <a:endParaRPr/>
          </a:p>
          <a:p>
            <a:pPr indent="0" lvl="0" marL="0" rtl="0" algn="l">
              <a:spcBef>
                <a:spcPts val="0"/>
              </a:spcBef>
              <a:spcAft>
                <a:spcPts val="0"/>
              </a:spcAft>
              <a:buNone/>
            </a:pPr>
            <a:r>
              <a:t/>
            </a:r>
            <a:endParaRPr/>
          </a:p>
        </p:txBody>
      </p:sp>
      <p:sp>
        <p:nvSpPr>
          <p:cNvPr id="292" name="Google Shape;292;p37"/>
          <p:cNvSpPr txBox="1"/>
          <p:nvPr/>
        </p:nvSpPr>
        <p:spPr>
          <a:xfrm>
            <a:off x="6758025" y="439550"/>
            <a:ext cx="2413800" cy="10158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relaciona cada categoría de signo con su descripción </a:t>
            </a:r>
            <a:endParaRPr sz="1800">
              <a:solidFill>
                <a:schemeClr val="dk2"/>
              </a:solidFill>
            </a:endParaRPr>
          </a:p>
        </p:txBody>
      </p:sp>
      <p:sp>
        <p:nvSpPr>
          <p:cNvPr id="293" name="Google Shape;293;p37"/>
          <p:cNvSpPr txBox="1"/>
          <p:nvPr/>
        </p:nvSpPr>
        <p:spPr>
          <a:xfrm>
            <a:off x="5683300" y="1689300"/>
            <a:ext cx="32052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¡Excelente! lograste identificar correctamente las características de cada categoría en la clasificación de signos. ahora vamos a ubicar los hallazgos del caso en cada categoría. </a:t>
            </a:r>
            <a:endParaRPr>
              <a:solidFill>
                <a:srgbClr val="595959"/>
              </a:solidFill>
              <a:latin typeface="Times New Roman"/>
              <a:ea typeface="Times New Roman"/>
              <a:cs typeface="Times New Roman"/>
              <a:sym typeface="Times New Roman"/>
            </a:endParaRPr>
          </a:p>
        </p:txBody>
      </p:sp>
      <p:sp>
        <p:nvSpPr>
          <p:cNvPr id="294" name="Google Shape;294;p37"/>
          <p:cNvSpPr txBox="1"/>
          <p:nvPr/>
        </p:nvSpPr>
        <p:spPr>
          <a:xfrm>
            <a:off x="5683300" y="3327400"/>
            <a:ext cx="3488400" cy="1323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Lee detenidamente cada definición. la clasificación de los signos es fundamental para el diagnóstico clínico.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rgbClr val="595959"/>
              </a:solidFill>
            </a:endParaRPr>
          </a:p>
        </p:txBody>
      </p:sp>
      <p:graphicFrame>
        <p:nvGraphicFramePr>
          <p:cNvPr id="295" name="Google Shape;295;p37"/>
          <p:cNvGraphicFramePr/>
          <p:nvPr/>
        </p:nvGraphicFramePr>
        <p:xfrm>
          <a:off x="247825" y="778975"/>
          <a:ext cx="3000000" cy="3000000"/>
        </p:xfrm>
        <a:graphic>
          <a:graphicData uri="http://schemas.openxmlformats.org/drawingml/2006/table">
            <a:tbl>
              <a:tblPr>
                <a:noFill/>
                <a:tableStyleId>{92B18CB4-C942-4677-B446-B40BB0A2A31A}</a:tableStyleId>
              </a:tblPr>
              <a:tblGrid>
                <a:gridCol w="1271050"/>
                <a:gridCol w="3974425"/>
              </a:tblGrid>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inespecíficos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aquellos signos que nos indican enfermedad  sin embargo no señalan un órgano específico afectado. </a:t>
                      </a:r>
                      <a:endParaRPr sz="1200">
                        <a:latin typeface="Times New Roman"/>
                        <a:ea typeface="Times New Roman"/>
                        <a:cs typeface="Times New Roman"/>
                        <a:sym typeface="Times New Roman"/>
                      </a:endParaRPr>
                    </a:p>
                  </a:txBody>
                  <a:tcPr marT="91425" marB="91425" marR="91425" marL="91425">
                    <a:solidFill>
                      <a:srgbClr val="FFE599"/>
                    </a:solidFill>
                  </a:tcPr>
                </a:tc>
              </a:tr>
              <a:tr h="477425">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específicos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 son aquellos signos que nos guían a un sistema anatómico en concreto </a:t>
                      </a:r>
                      <a:endParaRPr sz="1200">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patognomónicos  </a:t>
                      </a:r>
                      <a:endParaRPr sz="1200">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aquellos signos exclusivos de una sola enfermedad y confirman el diagnóstico por sí mismos </a:t>
                      </a:r>
                      <a:endParaRPr sz="1200">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clave		 </a:t>
                      </a:r>
                      <a:endParaRPr sz="1200">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son aquellos hallazgos que dominan el caso y brindan un fuerte valor diagnóstico</a:t>
                      </a:r>
                      <a:endParaRPr sz="1200">
                        <a:solidFill>
                          <a:srgbClr val="595959"/>
                        </a:solidFill>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accidentales  		</a:t>
                      </a:r>
                      <a:endParaRPr sz="1200">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aquellos encontrados durante la exploración y que no tienen una relación directa con el problema actual del paciente </a:t>
                      </a:r>
                      <a:endParaRPr sz="1200">
                        <a:solidFill>
                          <a:srgbClr val="595959"/>
                        </a:solidFill>
                        <a:latin typeface="Times New Roman"/>
                        <a:ea typeface="Times New Roman"/>
                        <a:cs typeface="Times New Roman"/>
                        <a:sym typeface="Times New Roman"/>
                      </a:endParaRPr>
                    </a:p>
                  </a:txBody>
                  <a:tcPr marT="91425" marB="91425" marR="91425" marL="91425">
                    <a:solidFill>
                      <a:srgbClr val="FFE599"/>
                    </a:solidFill>
                  </a:tcPr>
                </a:tc>
              </a:tr>
              <a:tr h="639700">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signos complementarios </a:t>
                      </a:r>
                      <a:endParaRPr sz="1200">
                        <a:solidFill>
                          <a:srgbClr val="595959"/>
                        </a:solidFill>
                        <a:latin typeface="Times New Roman"/>
                        <a:ea typeface="Times New Roman"/>
                        <a:cs typeface="Times New Roman"/>
                        <a:sym typeface="Times New Roman"/>
                      </a:endParaRPr>
                    </a:p>
                  </a:txBody>
                  <a:tcPr marT="91425" marB="91425" marR="91425" marL="91425">
                    <a:solidFill>
                      <a:srgbClr val="FFD966"/>
                    </a:solidFill>
                  </a:tcPr>
                </a:tc>
                <a:tc>
                  <a:txBody>
                    <a:bodyPr/>
                    <a:lstStyle/>
                    <a:p>
                      <a:pPr indent="0" lvl="0" marL="0" rtl="0" algn="just">
                        <a:lnSpc>
                          <a:spcPct val="115000"/>
                        </a:lnSpc>
                        <a:spcBef>
                          <a:spcPts val="0"/>
                        </a:spcBef>
                        <a:spcAft>
                          <a:spcPts val="1200"/>
                        </a:spcAft>
                        <a:buNone/>
                      </a:pPr>
                      <a:r>
                        <a:rPr lang="es" sz="1200">
                          <a:solidFill>
                            <a:srgbClr val="595959"/>
                          </a:solidFill>
                          <a:latin typeface="Times New Roman"/>
                          <a:ea typeface="Times New Roman"/>
                          <a:cs typeface="Times New Roman"/>
                          <a:sym typeface="Times New Roman"/>
                        </a:rPr>
                        <a:t>son aquellos que aparecen con el progreso de la enfermedad o se obtienen realizando pruebas complementarias </a:t>
                      </a:r>
                      <a:endParaRPr sz="1200">
                        <a:solidFill>
                          <a:srgbClr val="595959"/>
                        </a:solidFill>
                        <a:latin typeface="Times New Roman"/>
                        <a:ea typeface="Times New Roman"/>
                        <a:cs typeface="Times New Roman"/>
                        <a:sym typeface="Times New Roman"/>
                      </a:endParaRPr>
                    </a:p>
                  </a:txBody>
                  <a:tcPr marT="91425" marB="91425" marR="91425" marL="91425">
                    <a:solidFill>
                      <a:srgbClr val="FFE599"/>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8"/>
          <p:cNvSpPr/>
          <p:nvPr/>
        </p:nvSpPr>
        <p:spPr>
          <a:xfrm>
            <a:off x="96664" y="4676933"/>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3. secreción nasal y ocular </a:t>
            </a:r>
            <a:endParaRPr sz="1000"/>
          </a:p>
        </p:txBody>
      </p:sp>
      <p:sp>
        <p:nvSpPr>
          <p:cNvPr id="301" name="Google Shape;301;p38"/>
          <p:cNvSpPr/>
          <p:nvPr/>
        </p:nvSpPr>
        <p:spPr>
          <a:xfrm>
            <a:off x="96664" y="403024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2. Pobre condición corporal </a:t>
            </a:r>
            <a:endParaRPr sz="1000"/>
          </a:p>
        </p:txBody>
      </p:sp>
      <p:sp>
        <p:nvSpPr>
          <p:cNvPr id="302" name="Google Shape;302;p38"/>
          <p:cNvSpPr/>
          <p:nvPr/>
        </p:nvSpPr>
        <p:spPr>
          <a:xfrm>
            <a:off x="1940600" y="4063013"/>
            <a:ext cx="1202690"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5. disminución en la producción </a:t>
            </a:r>
            <a:endParaRPr sz="1000"/>
          </a:p>
        </p:txBody>
      </p:sp>
      <p:sp>
        <p:nvSpPr>
          <p:cNvPr id="303" name="Google Shape;303;p38"/>
          <p:cNvSpPr/>
          <p:nvPr/>
        </p:nvSpPr>
        <p:spPr>
          <a:xfrm>
            <a:off x="1847513" y="456114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6. Mucosas  pálidas </a:t>
            </a:r>
            <a:endParaRPr sz="1000"/>
          </a:p>
        </p:txBody>
      </p:sp>
      <p:sp>
        <p:nvSpPr>
          <p:cNvPr id="304" name="Google Shape;304;p38"/>
          <p:cNvSpPr/>
          <p:nvPr/>
        </p:nvSpPr>
        <p:spPr>
          <a:xfrm>
            <a:off x="3774639" y="3634483"/>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7. tos y estornudos </a:t>
            </a:r>
            <a:endParaRPr sz="1000">
              <a:latin typeface="Calibri"/>
              <a:ea typeface="Calibri"/>
              <a:cs typeface="Calibri"/>
              <a:sym typeface="Calibri"/>
            </a:endParaRPr>
          </a:p>
        </p:txBody>
      </p:sp>
      <p:sp>
        <p:nvSpPr>
          <p:cNvPr id="305" name="Google Shape;305;p38"/>
          <p:cNvSpPr/>
          <p:nvPr/>
        </p:nvSpPr>
        <p:spPr>
          <a:xfrm>
            <a:off x="3774639" y="416714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t>8. estertor húmedo </a:t>
            </a:r>
            <a:endParaRPr sz="1000"/>
          </a:p>
        </p:txBody>
      </p:sp>
      <p:sp>
        <p:nvSpPr>
          <p:cNvPr id="306" name="Google Shape;306;p38"/>
          <p:cNvSpPr/>
          <p:nvPr/>
        </p:nvSpPr>
        <p:spPr>
          <a:xfrm>
            <a:off x="3774639" y="474564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9. anemia severa  </a:t>
            </a:r>
            <a:endParaRPr sz="1000"/>
          </a:p>
        </p:txBody>
      </p:sp>
      <p:sp>
        <p:nvSpPr>
          <p:cNvPr id="307" name="Google Shape;307;p38"/>
          <p:cNvSpPr/>
          <p:nvPr/>
        </p:nvSpPr>
        <p:spPr>
          <a:xfrm>
            <a:off x="1785538" y="36131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4. retraso en el crecimiento </a:t>
            </a:r>
            <a:endParaRPr sz="1000"/>
          </a:p>
        </p:txBody>
      </p:sp>
      <p:sp>
        <p:nvSpPr>
          <p:cNvPr id="308" name="Google Shape;308;p38"/>
          <p:cNvSpPr/>
          <p:nvPr/>
        </p:nvSpPr>
        <p:spPr>
          <a:xfrm>
            <a:off x="96675" y="3580425"/>
            <a:ext cx="1043844"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1..pelo hirsuto </a:t>
            </a:r>
            <a:endParaRPr sz="1000"/>
          </a:p>
        </p:txBody>
      </p:sp>
      <p:sp>
        <p:nvSpPr>
          <p:cNvPr id="309" name="Google Shape;309;p38"/>
          <p:cNvSpPr/>
          <p:nvPr/>
        </p:nvSpPr>
        <p:spPr>
          <a:xfrm>
            <a:off x="193675" y="12688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clave</a:t>
            </a:r>
            <a:endParaRPr sz="1014"/>
          </a:p>
        </p:txBody>
      </p:sp>
      <p:sp>
        <p:nvSpPr>
          <p:cNvPr id="310" name="Google Shape;310;p38"/>
          <p:cNvSpPr/>
          <p:nvPr/>
        </p:nvSpPr>
        <p:spPr>
          <a:xfrm rot="-5400000">
            <a:off x="1863147" y="300400"/>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1" name="Google Shape;311;p38"/>
          <p:cNvSpPr/>
          <p:nvPr/>
        </p:nvSpPr>
        <p:spPr>
          <a:xfrm>
            <a:off x="3532625" y="12688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inespecíficos</a:t>
            </a:r>
            <a:endParaRPr sz="1014"/>
          </a:p>
        </p:txBody>
      </p:sp>
      <p:sp>
        <p:nvSpPr>
          <p:cNvPr id="312" name="Google Shape;312;p38"/>
          <p:cNvSpPr/>
          <p:nvPr/>
        </p:nvSpPr>
        <p:spPr>
          <a:xfrm rot="-5400000">
            <a:off x="5225850" y="289194"/>
            <a:ext cx="9177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3" name="Google Shape;313;p38"/>
          <p:cNvSpPr/>
          <p:nvPr/>
        </p:nvSpPr>
        <p:spPr>
          <a:xfrm>
            <a:off x="193675" y="25434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especificos</a:t>
            </a:r>
            <a:endParaRPr sz="1014"/>
          </a:p>
        </p:txBody>
      </p:sp>
      <p:sp>
        <p:nvSpPr>
          <p:cNvPr id="314" name="Google Shape;314;p38"/>
          <p:cNvSpPr/>
          <p:nvPr/>
        </p:nvSpPr>
        <p:spPr>
          <a:xfrm rot="-5400000">
            <a:off x="1910097" y="1523800"/>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5" name="Google Shape;315;p38"/>
          <p:cNvSpPr/>
          <p:nvPr/>
        </p:nvSpPr>
        <p:spPr>
          <a:xfrm>
            <a:off x="3626513" y="2409029"/>
            <a:ext cx="1042500" cy="5727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a:t>
            </a:r>
            <a:r>
              <a:rPr lang="es" sz="1158">
                <a:latin typeface="Calibri"/>
                <a:ea typeface="Calibri"/>
                <a:cs typeface="Calibri"/>
                <a:sym typeface="Calibri"/>
              </a:rPr>
              <a:t> complementarios</a:t>
            </a:r>
            <a:endParaRPr sz="1014"/>
          </a:p>
        </p:txBody>
      </p:sp>
      <p:sp>
        <p:nvSpPr>
          <p:cNvPr id="316" name="Google Shape;316;p38"/>
          <p:cNvSpPr/>
          <p:nvPr/>
        </p:nvSpPr>
        <p:spPr>
          <a:xfrm rot="-5400000">
            <a:off x="5260485" y="1420800"/>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7" name="Google Shape;317;p38"/>
          <p:cNvSpPr/>
          <p:nvPr/>
        </p:nvSpPr>
        <p:spPr>
          <a:xfrm>
            <a:off x="7245650" y="10299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accidentales</a:t>
            </a:r>
            <a:endParaRPr sz="1014"/>
          </a:p>
        </p:txBody>
      </p:sp>
      <p:sp>
        <p:nvSpPr>
          <p:cNvPr id="318" name="Google Shape;318;p38"/>
          <p:cNvSpPr/>
          <p:nvPr/>
        </p:nvSpPr>
        <p:spPr>
          <a:xfrm>
            <a:off x="7245647" y="142081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19" name="Google Shape;319;p38"/>
          <p:cNvSpPr txBox="1"/>
          <p:nvPr/>
        </p:nvSpPr>
        <p:spPr>
          <a:xfrm>
            <a:off x="3143300" y="138250"/>
            <a:ext cx="5654700" cy="572700"/>
          </a:xfrm>
          <a:prstGeom prst="rect">
            <a:avLst/>
          </a:prstGeom>
          <a:solidFill>
            <a:srgbClr val="EEFF41"/>
          </a:solid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s" sz="1800">
                <a:solidFill>
                  <a:srgbClr val="000000"/>
                </a:solidFill>
                <a:latin typeface="Times New Roman"/>
                <a:ea typeface="Times New Roman"/>
                <a:cs typeface="Times New Roman"/>
                <a:sym typeface="Times New Roman"/>
              </a:rPr>
              <a:t>clasifica las manifestaciones clínicas del paciente: </a:t>
            </a:r>
            <a:endParaRPr sz="1800">
              <a:solidFill>
                <a:srgbClr val="000000"/>
              </a:solidFill>
              <a:latin typeface="Times New Roman"/>
              <a:ea typeface="Times New Roman"/>
              <a:cs typeface="Times New Roman"/>
              <a:sym typeface="Times New Roman"/>
            </a:endParaRPr>
          </a:p>
        </p:txBody>
      </p:sp>
      <p:sp>
        <p:nvSpPr>
          <p:cNvPr id="320" name="Google Shape;320;p38"/>
          <p:cNvSpPr txBox="1"/>
          <p:nvPr/>
        </p:nvSpPr>
        <p:spPr>
          <a:xfrm>
            <a:off x="247825" y="62175"/>
            <a:ext cx="3112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Signología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sp>
        <p:nvSpPr>
          <p:cNvPr id="321" name="Google Shape;321;p38"/>
          <p:cNvSpPr/>
          <p:nvPr/>
        </p:nvSpPr>
        <p:spPr>
          <a:xfrm>
            <a:off x="5453614" y="361319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10. parasitosis severa </a:t>
            </a:r>
            <a:endParaRPr sz="10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9"/>
          <p:cNvSpPr txBox="1"/>
          <p:nvPr/>
        </p:nvSpPr>
        <p:spPr>
          <a:xfrm>
            <a:off x="3143300" y="138250"/>
            <a:ext cx="5654700" cy="572700"/>
          </a:xfrm>
          <a:prstGeom prst="rect">
            <a:avLst/>
          </a:prstGeom>
          <a:solidFill>
            <a:srgbClr val="EEFF41"/>
          </a:solid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s" sz="1800">
                <a:solidFill>
                  <a:srgbClr val="000000"/>
                </a:solidFill>
                <a:latin typeface="Times New Roman"/>
                <a:ea typeface="Times New Roman"/>
                <a:cs typeface="Times New Roman"/>
                <a:sym typeface="Times New Roman"/>
              </a:rPr>
              <a:t>clasifica las manifestaciones clínicas del paciente: </a:t>
            </a:r>
            <a:endParaRPr sz="1800">
              <a:solidFill>
                <a:srgbClr val="000000"/>
              </a:solidFill>
              <a:latin typeface="Times New Roman"/>
              <a:ea typeface="Times New Roman"/>
              <a:cs typeface="Times New Roman"/>
              <a:sym typeface="Times New Roman"/>
            </a:endParaRPr>
          </a:p>
        </p:txBody>
      </p:sp>
      <p:sp>
        <p:nvSpPr>
          <p:cNvPr id="327" name="Google Shape;327;p39"/>
          <p:cNvSpPr txBox="1"/>
          <p:nvPr/>
        </p:nvSpPr>
        <p:spPr>
          <a:xfrm>
            <a:off x="247825" y="62175"/>
            <a:ext cx="31125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Signología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sp>
        <p:nvSpPr>
          <p:cNvPr id="328" name="Google Shape;328;p39"/>
          <p:cNvSpPr txBox="1"/>
          <p:nvPr/>
        </p:nvSpPr>
        <p:spPr>
          <a:xfrm>
            <a:off x="35875" y="3256950"/>
            <a:ext cx="3737400" cy="12930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Retroalimentación  correcta</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¡Muy bien! lograste clasificar adecuadamente cada manifestación clínica. ahora intenta construir tu lista maestra.</a:t>
            </a:r>
            <a:endParaRPr sz="1200">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200">
                <a:solidFill>
                  <a:srgbClr val="595959"/>
                </a:solidFill>
                <a:latin typeface="Times New Roman"/>
                <a:ea typeface="Times New Roman"/>
                <a:cs typeface="Times New Roman"/>
                <a:sym typeface="Times New Roman"/>
              </a:rPr>
              <a:t>tip:   Identifica los problemas de mayor trascendencia y cuáles de la lista completa se relacionan con ellos. </a:t>
            </a:r>
            <a:endParaRPr sz="1200">
              <a:solidFill>
                <a:srgbClr val="595959"/>
              </a:solidFill>
              <a:latin typeface="Times New Roman"/>
              <a:ea typeface="Times New Roman"/>
              <a:cs typeface="Times New Roman"/>
              <a:sym typeface="Times New Roman"/>
            </a:endParaRPr>
          </a:p>
        </p:txBody>
      </p:sp>
      <p:sp>
        <p:nvSpPr>
          <p:cNvPr id="329" name="Google Shape;329;p39"/>
          <p:cNvSpPr txBox="1"/>
          <p:nvPr/>
        </p:nvSpPr>
        <p:spPr>
          <a:xfrm>
            <a:off x="3885800" y="3878700"/>
            <a:ext cx="37374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Analiza de nuevo las definiciones de las categorías de signos. </a:t>
            </a:r>
            <a:endParaRPr>
              <a:solidFill>
                <a:srgbClr val="595959"/>
              </a:solidFill>
              <a:latin typeface="Times New Roman"/>
              <a:ea typeface="Times New Roman"/>
              <a:cs typeface="Times New Roman"/>
              <a:sym typeface="Times New Roman"/>
            </a:endParaRPr>
          </a:p>
        </p:txBody>
      </p:sp>
      <p:sp>
        <p:nvSpPr>
          <p:cNvPr id="330" name="Google Shape;330;p39"/>
          <p:cNvSpPr/>
          <p:nvPr/>
        </p:nvSpPr>
        <p:spPr>
          <a:xfrm>
            <a:off x="1318638" y="2305184"/>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3. secreción nasal y ocular </a:t>
            </a:r>
            <a:endParaRPr sz="1000"/>
          </a:p>
        </p:txBody>
      </p:sp>
      <p:sp>
        <p:nvSpPr>
          <p:cNvPr id="331" name="Google Shape;331;p39"/>
          <p:cNvSpPr/>
          <p:nvPr/>
        </p:nvSpPr>
        <p:spPr>
          <a:xfrm>
            <a:off x="4597214" y="1479769"/>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2. Pobre condición corporal </a:t>
            </a:r>
            <a:endParaRPr sz="1000"/>
          </a:p>
        </p:txBody>
      </p:sp>
      <p:sp>
        <p:nvSpPr>
          <p:cNvPr id="332" name="Google Shape;332;p39"/>
          <p:cNvSpPr/>
          <p:nvPr/>
        </p:nvSpPr>
        <p:spPr>
          <a:xfrm>
            <a:off x="5663175" y="1039475"/>
            <a:ext cx="1202690"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5. disminución en la producción </a:t>
            </a:r>
            <a:endParaRPr sz="1000"/>
          </a:p>
        </p:txBody>
      </p:sp>
      <p:sp>
        <p:nvSpPr>
          <p:cNvPr id="333" name="Google Shape;333;p39"/>
          <p:cNvSpPr/>
          <p:nvPr/>
        </p:nvSpPr>
        <p:spPr>
          <a:xfrm>
            <a:off x="4597214" y="1985594"/>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6. Mucosas  pálidas </a:t>
            </a:r>
            <a:endParaRPr sz="1000"/>
          </a:p>
        </p:txBody>
      </p:sp>
      <p:sp>
        <p:nvSpPr>
          <p:cNvPr id="334" name="Google Shape;334;p39"/>
          <p:cNvSpPr/>
          <p:nvPr/>
        </p:nvSpPr>
        <p:spPr>
          <a:xfrm>
            <a:off x="1318638" y="151254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7. tos y estornudos </a:t>
            </a:r>
            <a:endParaRPr sz="1000">
              <a:latin typeface="Calibri"/>
              <a:ea typeface="Calibri"/>
              <a:cs typeface="Calibri"/>
              <a:sym typeface="Calibri"/>
            </a:endParaRPr>
          </a:p>
        </p:txBody>
      </p:sp>
      <p:sp>
        <p:nvSpPr>
          <p:cNvPr id="335" name="Google Shape;335;p39"/>
          <p:cNvSpPr/>
          <p:nvPr/>
        </p:nvSpPr>
        <p:spPr>
          <a:xfrm>
            <a:off x="1318638" y="2690132"/>
            <a:ext cx="1512818"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t>8. estertor húmedo </a:t>
            </a:r>
            <a:endParaRPr sz="1000"/>
          </a:p>
        </p:txBody>
      </p:sp>
      <p:sp>
        <p:nvSpPr>
          <p:cNvPr id="336" name="Google Shape;336;p39"/>
          <p:cNvSpPr/>
          <p:nvPr/>
        </p:nvSpPr>
        <p:spPr>
          <a:xfrm>
            <a:off x="4865639" y="3193521"/>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9. anemia severa  </a:t>
            </a:r>
            <a:endParaRPr sz="1000"/>
          </a:p>
        </p:txBody>
      </p:sp>
      <p:sp>
        <p:nvSpPr>
          <p:cNvPr id="337" name="Google Shape;337;p39"/>
          <p:cNvSpPr/>
          <p:nvPr/>
        </p:nvSpPr>
        <p:spPr>
          <a:xfrm>
            <a:off x="4597214" y="2535834"/>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4. retraso en el crecimiento </a:t>
            </a:r>
            <a:endParaRPr sz="1000"/>
          </a:p>
        </p:txBody>
      </p:sp>
      <p:sp>
        <p:nvSpPr>
          <p:cNvPr id="338" name="Google Shape;338;p39"/>
          <p:cNvSpPr/>
          <p:nvPr/>
        </p:nvSpPr>
        <p:spPr>
          <a:xfrm>
            <a:off x="4597225" y="1029950"/>
            <a:ext cx="1043844" cy="450475"/>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None/>
            </a:pPr>
            <a:r>
              <a:rPr lang="es" sz="1000">
                <a:latin typeface="Calibri"/>
                <a:ea typeface="Calibri"/>
                <a:cs typeface="Calibri"/>
                <a:sym typeface="Calibri"/>
              </a:rPr>
              <a:t>1..pelo hirsuto </a:t>
            </a:r>
            <a:endParaRPr sz="1000"/>
          </a:p>
        </p:txBody>
      </p:sp>
      <p:sp>
        <p:nvSpPr>
          <p:cNvPr id="339" name="Google Shape;339;p39"/>
          <p:cNvSpPr/>
          <p:nvPr/>
        </p:nvSpPr>
        <p:spPr>
          <a:xfrm>
            <a:off x="193675" y="12688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clave</a:t>
            </a:r>
            <a:endParaRPr sz="1014"/>
          </a:p>
        </p:txBody>
      </p:sp>
      <p:sp>
        <p:nvSpPr>
          <p:cNvPr id="340" name="Google Shape;340;p39"/>
          <p:cNvSpPr/>
          <p:nvPr/>
        </p:nvSpPr>
        <p:spPr>
          <a:xfrm rot="-5400000">
            <a:off x="1827647" y="35166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41" name="Google Shape;341;p39"/>
          <p:cNvSpPr/>
          <p:nvPr/>
        </p:nvSpPr>
        <p:spPr>
          <a:xfrm>
            <a:off x="3532625" y="126886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inespecíficos</a:t>
            </a:r>
            <a:endParaRPr sz="1014"/>
          </a:p>
        </p:txBody>
      </p:sp>
      <p:sp>
        <p:nvSpPr>
          <p:cNvPr id="342" name="Google Shape;342;p39"/>
          <p:cNvSpPr/>
          <p:nvPr/>
        </p:nvSpPr>
        <p:spPr>
          <a:xfrm rot="-5400000">
            <a:off x="4554225" y="839538"/>
            <a:ext cx="19911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43" name="Google Shape;343;p39"/>
          <p:cNvSpPr/>
          <p:nvPr/>
        </p:nvSpPr>
        <p:spPr>
          <a:xfrm>
            <a:off x="193675" y="2543491"/>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especificos</a:t>
            </a:r>
            <a:endParaRPr sz="1014"/>
          </a:p>
        </p:txBody>
      </p:sp>
      <p:sp>
        <p:nvSpPr>
          <p:cNvPr id="344" name="Google Shape;344;p39"/>
          <p:cNvSpPr/>
          <p:nvPr/>
        </p:nvSpPr>
        <p:spPr>
          <a:xfrm rot="-5400000">
            <a:off x="1827647" y="162626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45" name="Google Shape;345;p39"/>
          <p:cNvSpPr/>
          <p:nvPr/>
        </p:nvSpPr>
        <p:spPr>
          <a:xfrm>
            <a:off x="3774638" y="3466404"/>
            <a:ext cx="1042500" cy="5727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a:t>
            </a:r>
            <a:r>
              <a:rPr lang="es" sz="1158">
                <a:latin typeface="Calibri"/>
                <a:ea typeface="Calibri"/>
                <a:cs typeface="Calibri"/>
                <a:sym typeface="Calibri"/>
              </a:rPr>
              <a:t> complementarios</a:t>
            </a:r>
            <a:endParaRPr sz="1014"/>
          </a:p>
        </p:txBody>
      </p:sp>
      <p:sp>
        <p:nvSpPr>
          <p:cNvPr id="346" name="Google Shape;346;p39"/>
          <p:cNvSpPr/>
          <p:nvPr/>
        </p:nvSpPr>
        <p:spPr>
          <a:xfrm rot="-5400000">
            <a:off x="5408610" y="254916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47" name="Google Shape;347;p39"/>
          <p:cNvSpPr/>
          <p:nvPr/>
        </p:nvSpPr>
        <p:spPr>
          <a:xfrm>
            <a:off x="7245650" y="1029916"/>
            <a:ext cx="1042500" cy="390900"/>
          </a:xfrm>
          <a:prstGeom prst="roundRect">
            <a:avLst>
              <a:gd fmla="val 16667" name="adj"/>
            </a:avLst>
          </a:prstGeom>
          <a:no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158">
                <a:solidFill>
                  <a:srgbClr val="000000"/>
                </a:solidFill>
                <a:latin typeface="Calibri"/>
                <a:ea typeface="Calibri"/>
                <a:cs typeface="Calibri"/>
                <a:sym typeface="Calibri"/>
              </a:rPr>
              <a:t>Signos </a:t>
            </a:r>
            <a:r>
              <a:rPr lang="es" sz="1158">
                <a:latin typeface="Calibri"/>
                <a:ea typeface="Calibri"/>
                <a:cs typeface="Calibri"/>
                <a:sym typeface="Calibri"/>
              </a:rPr>
              <a:t>accidentales</a:t>
            </a:r>
            <a:endParaRPr sz="1014"/>
          </a:p>
        </p:txBody>
      </p:sp>
      <p:sp>
        <p:nvSpPr>
          <p:cNvPr id="348" name="Google Shape;348;p39"/>
          <p:cNvSpPr/>
          <p:nvPr/>
        </p:nvSpPr>
        <p:spPr>
          <a:xfrm>
            <a:off x="7245647" y="1420812"/>
            <a:ext cx="10425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349" name="Google Shape;349;p39"/>
          <p:cNvSpPr/>
          <p:nvPr/>
        </p:nvSpPr>
        <p:spPr>
          <a:xfrm>
            <a:off x="1318638" y="1029946"/>
            <a:ext cx="1512818" cy="3849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latin typeface="Calibri"/>
                <a:ea typeface="Calibri"/>
                <a:cs typeface="Calibri"/>
                <a:sym typeface="Calibri"/>
              </a:rPr>
              <a:t>10. parasitosis severa </a:t>
            </a:r>
            <a:endParaRPr sz="10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graphicFrame>
        <p:nvGraphicFramePr>
          <p:cNvPr id="354" name="Google Shape;354;p40"/>
          <p:cNvGraphicFramePr/>
          <p:nvPr/>
        </p:nvGraphicFramePr>
        <p:xfrm>
          <a:off x="315299" y="1246496"/>
          <a:ext cx="3000000" cy="3000000"/>
        </p:xfrm>
        <a:graphic>
          <a:graphicData uri="http://schemas.openxmlformats.org/drawingml/2006/table">
            <a:tbl>
              <a:tblPr bandRow="1" firstRow="1">
                <a:noFill/>
                <a:tableStyleId>{A9DDAC80-695F-4E1E-A50D-8878856A436B}</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t/>
                      </a:r>
                      <a:endParaRPr sz="10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t/>
                      </a:r>
                      <a:endParaRPr sz="1200"/>
                    </a:p>
                  </a:txBody>
                  <a:tcPr marT="45725" marB="45725" marR="91450" marL="91450">
                    <a:solidFill>
                      <a:srgbClr val="FFE599"/>
                    </a:solidFill>
                  </a:tcPr>
                </a:tc>
              </a:tr>
            </a:tbl>
          </a:graphicData>
        </a:graphic>
      </p:graphicFrame>
      <p:sp>
        <p:nvSpPr>
          <p:cNvPr id="355" name="Google Shape;355;p40"/>
          <p:cNvSpPr txBox="1"/>
          <p:nvPr/>
        </p:nvSpPr>
        <p:spPr>
          <a:xfrm>
            <a:off x="129250" y="101575"/>
            <a:ext cx="48669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500">
                <a:solidFill>
                  <a:srgbClr val="595959"/>
                </a:solidFill>
              </a:rPr>
              <a:t>Construye la lista maestra </a:t>
            </a:r>
            <a:endParaRPr sz="3500">
              <a:solidFill>
                <a:srgbClr val="595959"/>
              </a:solidFill>
            </a:endParaRPr>
          </a:p>
        </p:txBody>
      </p:sp>
      <p:sp>
        <p:nvSpPr>
          <p:cNvPr id="356" name="Google Shape;356;p40"/>
          <p:cNvSpPr txBox="1"/>
          <p:nvPr/>
        </p:nvSpPr>
        <p:spPr>
          <a:xfrm>
            <a:off x="5202000" y="363175"/>
            <a:ext cx="33345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Escribe el o los problemas maestros </a:t>
            </a:r>
            <a:endParaRPr sz="1800">
              <a:solidFill>
                <a:srgbClr val="595959"/>
              </a:solidFill>
            </a:endParaRPr>
          </a:p>
        </p:txBody>
      </p:sp>
      <p:graphicFrame>
        <p:nvGraphicFramePr>
          <p:cNvPr id="357" name="Google Shape;357;p40"/>
          <p:cNvGraphicFramePr/>
          <p:nvPr/>
        </p:nvGraphicFramePr>
        <p:xfrm>
          <a:off x="5280250" y="1246500"/>
          <a:ext cx="3000000" cy="3000000"/>
        </p:xfrm>
        <a:graphic>
          <a:graphicData uri="http://schemas.openxmlformats.org/drawingml/2006/table">
            <a:tbl>
              <a:tblPr>
                <a:noFill/>
                <a:tableStyleId>{92B18CB4-C942-4677-B446-B40BB0A2A31A}</a:tableStyleId>
              </a:tblPr>
              <a:tblGrid>
                <a:gridCol w="611450"/>
                <a:gridCol w="3008050"/>
              </a:tblGrid>
              <a:tr h="361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pelo hirsuto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pobre condición corporal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 y ocular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retraso en el crecimiento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disminución en la produccion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y estornudos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8.</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estertor húmedo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9.</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anemia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10.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parasitosis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1"/>
          <p:cNvSpPr txBox="1"/>
          <p:nvPr/>
        </p:nvSpPr>
        <p:spPr>
          <a:xfrm>
            <a:off x="4291450" y="1130073"/>
            <a:ext cx="43581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correcta </a:t>
            </a:r>
            <a:endParaRPr>
              <a:solidFill>
                <a:srgbClr val="595959"/>
              </a:solidFill>
            </a:endParaRPr>
          </a:p>
          <a:p>
            <a:pPr indent="0" lvl="0" marL="0" rtl="0" algn="l">
              <a:spcBef>
                <a:spcPts val="0"/>
              </a:spcBef>
              <a:spcAft>
                <a:spcPts val="0"/>
              </a:spcAft>
              <a:buNone/>
            </a:pPr>
            <a:r>
              <a:rPr lang="es">
                <a:solidFill>
                  <a:srgbClr val="595959"/>
                </a:solidFill>
              </a:rPr>
              <a:t>¡Bien hecho! Lograste identificar los problemas maestros a la perfección.</a:t>
            </a:r>
            <a:endParaRPr>
              <a:solidFill>
                <a:srgbClr val="595959"/>
              </a:solidFill>
            </a:endParaRPr>
          </a:p>
          <a:p>
            <a:pPr indent="0" lvl="0" marL="0" rtl="0" algn="l">
              <a:spcBef>
                <a:spcPts val="0"/>
              </a:spcBef>
              <a:spcAft>
                <a:spcPts val="0"/>
              </a:spcAft>
              <a:buNone/>
            </a:pPr>
            <a:r>
              <a:rPr lang="es">
                <a:solidFill>
                  <a:srgbClr val="595959"/>
                </a:solidFill>
              </a:rPr>
              <a:t> </a:t>
            </a:r>
            <a:endParaRPr>
              <a:solidFill>
                <a:srgbClr val="595959"/>
              </a:solidFill>
            </a:endParaRPr>
          </a:p>
          <a:p>
            <a:pPr indent="0" lvl="0" marL="0" rtl="0" algn="l">
              <a:spcBef>
                <a:spcPts val="0"/>
              </a:spcBef>
              <a:spcAft>
                <a:spcPts val="0"/>
              </a:spcAft>
              <a:buNone/>
            </a:pPr>
            <a:r>
              <a:rPr lang="es">
                <a:solidFill>
                  <a:srgbClr val="595959"/>
                </a:solidFill>
              </a:rPr>
              <a:t>tip: Recuerda que aquí cambia la numeración romana.</a:t>
            </a:r>
            <a:endParaRPr>
              <a:solidFill>
                <a:srgbClr val="595959"/>
              </a:solidFill>
            </a:endParaRPr>
          </a:p>
        </p:txBody>
      </p:sp>
      <p:sp>
        <p:nvSpPr>
          <p:cNvPr id="363" name="Google Shape;363;p41"/>
          <p:cNvSpPr txBox="1"/>
          <p:nvPr/>
        </p:nvSpPr>
        <p:spPr>
          <a:xfrm>
            <a:off x="4365550" y="3096123"/>
            <a:ext cx="4358100" cy="12621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incorrecta </a:t>
            </a:r>
            <a:endParaRPr>
              <a:solidFill>
                <a:srgbClr val="595959"/>
              </a:solidFill>
            </a:endParaRPr>
          </a:p>
          <a:p>
            <a:pPr indent="0" lvl="0" marL="0" rtl="0" algn="l">
              <a:spcBef>
                <a:spcPts val="0"/>
              </a:spcBef>
              <a:spcAft>
                <a:spcPts val="0"/>
              </a:spcAft>
              <a:buNone/>
            </a:pPr>
            <a:r>
              <a:rPr lang="es">
                <a:solidFill>
                  <a:srgbClr val="595959"/>
                </a:solidFill>
              </a:rPr>
              <a:t>¡Ups! Vuelve a analizar tu lista de problemas. </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s">
                <a:solidFill>
                  <a:srgbClr val="595959"/>
                </a:solidFill>
              </a:rPr>
              <a:t>tip: Un problema maestro es aquel que domina por entre los demás. </a:t>
            </a:r>
            <a:endParaRPr>
              <a:solidFill>
                <a:srgbClr val="595959"/>
              </a:solidFill>
            </a:endParaRPr>
          </a:p>
        </p:txBody>
      </p:sp>
      <p:sp>
        <p:nvSpPr>
          <p:cNvPr id="364" name="Google Shape;364;p41"/>
          <p:cNvSpPr txBox="1"/>
          <p:nvPr/>
        </p:nvSpPr>
        <p:spPr>
          <a:xfrm>
            <a:off x="211525" y="109300"/>
            <a:ext cx="2104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000000"/>
                </a:solidFill>
              </a:rPr>
              <a:t>Construye la lista maestra </a:t>
            </a:r>
            <a:endParaRPr sz="2500">
              <a:solidFill>
                <a:srgbClr val="000000"/>
              </a:solidFill>
            </a:endParaRPr>
          </a:p>
        </p:txBody>
      </p:sp>
      <p:graphicFrame>
        <p:nvGraphicFramePr>
          <p:cNvPr id="365" name="Google Shape;365;p41"/>
          <p:cNvGraphicFramePr/>
          <p:nvPr/>
        </p:nvGraphicFramePr>
        <p:xfrm>
          <a:off x="224574" y="1529971"/>
          <a:ext cx="3000000" cy="3000000"/>
        </p:xfrm>
        <a:graphic>
          <a:graphicData uri="http://schemas.openxmlformats.org/drawingml/2006/table">
            <a:tbl>
              <a:tblPr bandRow="1" firstRow="1">
                <a:noFill/>
                <a:tableStyleId>{A9DDAC80-695F-4E1E-A50D-8878856A436B}</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rPr lang="es" sz="1800"/>
                        <a:t>Parasitosis severa </a:t>
                      </a:r>
                      <a:endParaRPr sz="18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rPr lang="es" sz="1800"/>
                        <a:t>Tos y estornudos </a:t>
                      </a:r>
                      <a:endParaRPr sz="1800"/>
                    </a:p>
                  </a:txBody>
                  <a:tcPr marT="45725" marB="45725" marR="91450" marL="91450">
                    <a:solidFill>
                      <a:srgbClr val="FFE599"/>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2"/>
          <p:cNvSpPr txBox="1"/>
          <p:nvPr/>
        </p:nvSpPr>
        <p:spPr>
          <a:xfrm>
            <a:off x="315300" y="195550"/>
            <a:ext cx="2960700" cy="8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500">
                <a:solidFill>
                  <a:srgbClr val="000000"/>
                </a:solidFill>
              </a:rPr>
              <a:t>Construye la lista maestra </a:t>
            </a:r>
            <a:endParaRPr sz="2500">
              <a:solidFill>
                <a:srgbClr val="000000"/>
              </a:solidFill>
            </a:endParaRPr>
          </a:p>
        </p:txBody>
      </p:sp>
      <p:sp>
        <p:nvSpPr>
          <p:cNvPr id="371" name="Google Shape;371;p42"/>
          <p:cNvSpPr txBox="1"/>
          <p:nvPr/>
        </p:nvSpPr>
        <p:spPr>
          <a:xfrm>
            <a:off x="3383850" y="0"/>
            <a:ext cx="2612400" cy="10158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000000"/>
                </a:solidFill>
              </a:rPr>
              <a:t>Escribe los problemas asociados a cada problema maestro. </a:t>
            </a:r>
            <a:endParaRPr sz="1800">
              <a:solidFill>
                <a:srgbClr val="000000"/>
              </a:solidFill>
            </a:endParaRPr>
          </a:p>
        </p:txBody>
      </p:sp>
      <p:graphicFrame>
        <p:nvGraphicFramePr>
          <p:cNvPr id="372" name="Google Shape;372;p42"/>
          <p:cNvGraphicFramePr/>
          <p:nvPr/>
        </p:nvGraphicFramePr>
        <p:xfrm>
          <a:off x="315299" y="1246496"/>
          <a:ext cx="3000000" cy="3000000"/>
        </p:xfrm>
        <a:graphic>
          <a:graphicData uri="http://schemas.openxmlformats.org/drawingml/2006/table">
            <a:tbl>
              <a:tblPr bandRow="1" firstRow="1">
                <a:noFill/>
                <a:tableStyleId>{A9DDAC80-695F-4E1E-A50D-8878856A436B}</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Font typeface="Arial"/>
                        <a:buNone/>
                      </a:pPr>
                      <a:r>
                        <a:rPr lang="es" sz="1800">
                          <a:solidFill>
                            <a:schemeClr val="dk1"/>
                          </a:solidFill>
                        </a:rPr>
                        <a:t>Parasitosis severa </a:t>
                      </a:r>
                      <a:endParaRPr sz="1800">
                        <a:solidFill>
                          <a:schemeClr val="dk1"/>
                        </a:solidFill>
                      </a:endParaRPr>
                    </a:p>
                    <a:p>
                      <a:pPr indent="0" lvl="0" marL="0" marR="0" rtl="0" algn="l">
                        <a:spcBef>
                          <a:spcPts val="0"/>
                        </a:spcBef>
                        <a:spcAft>
                          <a:spcPts val="0"/>
                        </a:spcAft>
                        <a:buNone/>
                      </a:pPr>
                      <a:r>
                        <a:t/>
                      </a:r>
                      <a:endParaRPr sz="18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marR="0" rtl="0" algn="l">
                        <a:spcBef>
                          <a:spcPts val="0"/>
                        </a:spcBef>
                        <a:spcAft>
                          <a:spcPts val="0"/>
                        </a:spcAft>
                        <a:buNone/>
                      </a:pPr>
                      <a:r>
                        <a:t/>
                      </a:r>
                      <a:endParaRPr sz="1000"/>
                    </a:p>
                    <a:p>
                      <a:pPr indent="0" lvl="0" marL="0" marR="0" rtl="0" algn="l">
                        <a:spcBef>
                          <a:spcPts val="0"/>
                        </a:spcBef>
                        <a:spcAft>
                          <a:spcPts val="0"/>
                        </a:spcAft>
                        <a:buNone/>
                      </a:pPr>
                      <a:r>
                        <a:rPr lang="es" sz="1800"/>
                        <a:t>Tos y estornudos </a:t>
                      </a:r>
                      <a:endParaRPr sz="1800"/>
                    </a:p>
                  </a:txBody>
                  <a:tcPr marT="45725" marB="45725" marR="91450" marL="91450">
                    <a:solidFill>
                      <a:srgbClr val="FFE599"/>
                    </a:solidFill>
                  </a:tcPr>
                </a:tc>
              </a:tr>
            </a:tbl>
          </a:graphicData>
        </a:graphic>
      </p:graphicFrame>
      <p:graphicFrame>
        <p:nvGraphicFramePr>
          <p:cNvPr id="373" name="Google Shape;373;p42"/>
          <p:cNvGraphicFramePr/>
          <p:nvPr/>
        </p:nvGraphicFramePr>
        <p:xfrm>
          <a:off x="5280250" y="1246500"/>
          <a:ext cx="3000000" cy="3000000"/>
        </p:xfrm>
        <a:graphic>
          <a:graphicData uri="http://schemas.openxmlformats.org/drawingml/2006/table">
            <a:tbl>
              <a:tblPr>
                <a:noFill/>
                <a:tableStyleId>{92B18CB4-C942-4677-B446-B40BB0A2A31A}</a:tableStyleId>
              </a:tblPr>
              <a:tblGrid>
                <a:gridCol w="611450"/>
                <a:gridCol w="3008050"/>
              </a:tblGrid>
              <a:tr h="361450">
                <a:tc>
                  <a:txBody>
                    <a:bodyPr/>
                    <a:lstStyle/>
                    <a:p>
                      <a:pPr indent="0" lvl="0" marL="0" rtl="0" algn="l">
                        <a:spcBef>
                          <a:spcPts val="0"/>
                        </a:spcBef>
                        <a:spcAft>
                          <a:spcPts val="0"/>
                        </a:spcAft>
                        <a:buNone/>
                      </a:pPr>
                      <a:r>
                        <a:rPr lang="es" sz="1000"/>
                        <a:t>1.</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pelo hirsuto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2.</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pobre condición corporal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3.</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secreción nasal y ocular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4.</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retraso en el crecimiento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5.</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disminución en la produccion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6.</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mucosas pálidas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7.</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tos y estornudos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8.</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estertor húmedo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9.</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anemia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61450">
                <a:tc>
                  <a:txBody>
                    <a:bodyPr/>
                    <a:lstStyle/>
                    <a:p>
                      <a:pPr indent="0" lvl="0" marL="0" rtl="0" algn="l">
                        <a:spcBef>
                          <a:spcPts val="0"/>
                        </a:spcBef>
                        <a:spcAft>
                          <a:spcPts val="0"/>
                        </a:spcAft>
                        <a:buNone/>
                      </a:pPr>
                      <a:r>
                        <a:rPr lang="es" sz="1000"/>
                        <a:t>10.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s" sz="1000"/>
                        <a:t>parasitosis severa </a:t>
                      </a:r>
                      <a:endParaRPr sz="10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43"/>
          <p:cNvSpPr txBox="1"/>
          <p:nvPr>
            <p:ph type="title"/>
          </p:nvPr>
        </p:nvSpPr>
        <p:spPr>
          <a:xfrm>
            <a:off x="124650" y="223475"/>
            <a:ext cx="4248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800"/>
              <a:t>construye la lista maestra </a:t>
            </a:r>
            <a:endParaRPr sz="1800"/>
          </a:p>
        </p:txBody>
      </p:sp>
      <p:sp>
        <p:nvSpPr>
          <p:cNvPr id="379" name="Google Shape;379;p43"/>
          <p:cNvSpPr txBox="1"/>
          <p:nvPr/>
        </p:nvSpPr>
        <p:spPr>
          <a:xfrm>
            <a:off x="4691125" y="1074250"/>
            <a:ext cx="39561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correcta </a:t>
            </a:r>
            <a:endParaRPr>
              <a:solidFill>
                <a:srgbClr val="595959"/>
              </a:solidFill>
            </a:endParaRPr>
          </a:p>
          <a:p>
            <a:pPr indent="0" lvl="0" marL="0" rtl="0" algn="l">
              <a:spcBef>
                <a:spcPts val="0"/>
              </a:spcBef>
              <a:spcAft>
                <a:spcPts val="0"/>
              </a:spcAft>
              <a:buNone/>
            </a:pPr>
            <a:r>
              <a:rPr lang="es">
                <a:solidFill>
                  <a:srgbClr val="595959"/>
                </a:solidFill>
              </a:rPr>
              <a:t>¡Muy bien! Has  establecido tu lista maestra correctamente. </a:t>
            </a:r>
            <a:endParaRPr>
              <a:solidFill>
                <a:srgbClr val="595959"/>
              </a:solidFill>
            </a:endParaRPr>
          </a:p>
          <a:p>
            <a:pPr indent="0" lvl="0" marL="0" rtl="0" algn="ctr">
              <a:spcBef>
                <a:spcPts val="0"/>
              </a:spcBef>
              <a:spcAft>
                <a:spcPts val="0"/>
              </a:spcAft>
              <a:buNone/>
            </a:pPr>
            <a:r>
              <a:rPr lang="es">
                <a:solidFill>
                  <a:srgbClr val="595959"/>
                </a:solidFill>
              </a:rPr>
              <a:t> ¡Estás cerca!</a:t>
            </a:r>
            <a:endParaRPr>
              <a:solidFill>
                <a:srgbClr val="595959"/>
              </a:solidFill>
            </a:endParaRPr>
          </a:p>
        </p:txBody>
      </p:sp>
      <p:sp>
        <p:nvSpPr>
          <p:cNvPr id="380" name="Google Shape;380;p43"/>
          <p:cNvSpPr txBox="1"/>
          <p:nvPr/>
        </p:nvSpPr>
        <p:spPr>
          <a:xfrm>
            <a:off x="4782767" y="2807150"/>
            <a:ext cx="3956100" cy="14775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rPr>
              <a:t>Retroalimentación incorrecta </a:t>
            </a:r>
            <a:endParaRPr>
              <a:solidFill>
                <a:srgbClr val="595959"/>
              </a:solidFill>
            </a:endParaRPr>
          </a:p>
          <a:p>
            <a:pPr indent="0" lvl="0" marL="0" rtl="0" algn="l">
              <a:spcBef>
                <a:spcPts val="0"/>
              </a:spcBef>
              <a:spcAft>
                <a:spcPts val="0"/>
              </a:spcAft>
              <a:buNone/>
            </a:pPr>
            <a:r>
              <a:rPr lang="es">
                <a:solidFill>
                  <a:srgbClr val="595959"/>
                </a:solidFill>
              </a:rPr>
              <a:t>¡Ups! Vuelve a analizar tu lista de problemas. </a:t>
            </a:r>
            <a:endParaRPr>
              <a:solidFill>
                <a:srgbClr val="595959"/>
              </a:solidFill>
            </a:endParaRPr>
          </a:p>
          <a:p>
            <a:pPr indent="0" lvl="0" marL="0" rtl="0" algn="l">
              <a:spcBef>
                <a:spcPts val="0"/>
              </a:spcBef>
              <a:spcAft>
                <a:spcPts val="0"/>
              </a:spcAft>
              <a:buNone/>
            </a:pPr>
            <a:r>
              <a:t/>
            </a:r>
            <a:endParaRPr>
              <a:solidFill>
                <a:srgbClr val="595959"/>
              </a:solidFill>
            </a:endParaRPr>
          </a:p>
          <a:p>
            <a:pPr indent="0" lvl="0" marL="0" rtl="0" algn="l">
              <a:spcBef>
                <a:spcPts val="0"/>
              </a:spcBef>
              <a:spcAft>
                <a:spcPts val="0"/>
              </a:spcAft>
              <a:buNone/>
            </a:pPr>
            <a:r>
              <a:rPr lang="es">
                <a:solidFill>
                  <a:srgbClr val="595959"/>
                </a:solidFill>
              </a:rPr>
              <a:t>tip: Un problema asociado puede estar relacionado con uno o más problemas maestros.  </a:t>
            </a:r>
            <a:endParaRPr>
              <a:solidFill>
                <a:srgbClr val="595959"/>
              </a:solidFill>
            </a:endParaRPr>
          </a:p>
        </p:txBody>
      </p:sp>
      <p:graphicFrame>
        <p:nvGraphicFramePr>
          <p:cNvPr id="381" name="Google Shape;381;p43"/>
          <p:cNvGraphicFramePr/>
          <p:nvPr/>
        </p:nvGraphicFramePr>
        <p:xfrm>
          <a:off x="315299" y="1261103"/>
          <a:ext cx="3000000" cy="3000000"/>
        </p:xfrm>
        <a:graphic>
          <a:graphicData uri="http://schemas.openxmlformats.org/drawingml/2006/table">
            <a:tbl>
              <a:tblPr bandRow="1" firstRow="1">
                <a:noFill/>
                <a:tableStyleId>{A9DDAC80-695F-4E1E-A50D-8878856A436B}</a:tableStyleId>
              </a:tblPr>
              <a:tblGrid>
                <a:gridCol w="672300"/>
                <a:gridCol w="3316675"/>
              </a:tblGrid>
              <a:tr h="637075">
                <a:tc>
                  <a:txBody>
                    <a:bodyPr/>
                    <a:lstStyle/>
                    <a:p>
                      <a:pPr indent="0" lvl="0" marL="0" marR="0" rtl="0" algn="ctr">
                        <a:spcBef>
                          <a:spcPts val="0"/>
                        </a:spcBef>
                        <a:spcAft>
                          <a:spcPts val="0"/>
                        </a:spcAft>
                        <a:buNone/>
                      </a:pPr>
                      <a:r>
                        <a:t/>
                      </a:r>
                      <a:endParaRPr sz="1600"/>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Problemas maestros</a:t>
                      </a:r>
                      <a:endParaRPr/>
                    </a:p>
                  </a:txBody>
                  <a:tcPr marT="45725" marB="45725" marR="91450" marL="91450">
                    <a:solidFill>
                      <a:srgbClr val="FFD966"/>
                    </a:solidFill>
                  </a:tcPr>
                </a:tc>
              </a:tr>
              <a:tr h="1386125">
                <a:tc>
                  <a:txBody>
                    <a:bodyPr/>
                    <a:lstStyle/>
                    <a:p>
                      <a:pPr indent="0" lvl="0" marL="0" marR="0" rtl="0" algn="ctr">
                        <a:spcBef>
                          <a:spcPts val="0"/>
                        </a:spcBef>
                        <a:spcAft>
                          <a:spcPts val="0"/>
                        </a:spcAft>
                        <a:buNone/>
                      </a:pPr>
                      <a:r>
                        <a:rPr lang="es" sz="1800"/>
                        <a:t>I.</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Font typeface="Arial"/>
                        <a:buNone/>
                      </a:pPr>
                      <a:r>
                        <a:rPr lang="es" sz="1800">
                          <a:solidFill>
                            <a:schemeClr val="dk1"/>
                          </a:solidFill>
                        </a:rPr>
                        <a:t>Parasitosis severa </a:t>
                      </a:r>
                      <a:endParaRPr sz="1800">
                        <a:solidFill>
                          <a:schemeClr val="dk1"/>
                        </a:solidFill>
                      </a:endParaRPr>
                    </a:p>
                    <a:p>
                      <a:pPr indent="0" lvl="0" marL="0" rtl="0" algn="l">
                        <a:spcBef>
                          <a:spcPts val="0"/>
                        </a:spcBef>
                        <a:spcAft>
                          <a:spcPts val="0"/>
                        </a:spcAft>
                        <a:buNone/>
                      </a:pPr>
                      <a:r>
                        <a:rPr lang="es" sz="1000">
                          <a:solidFill>
                            <a:schemeClr val="dk1"/>
                          </a:solidFill>
                        </a:rPr>
                        <a:t>1.pelo hirsuto </a:t>
                      </a:r>
                      <a:endParaRPr sz="1000">
                        <a:solidFill>
                          <a:schemeClr val="dk1"/>
                        </a:solidFill>
                      </a:endParaRPr>
                    </a:p>
                    <a:p>
                      <a:pPr indent="0" lvl="0" marL="0" rtl="0" algn="l">
                        <a:spcBef>
                          <a:spcPts val="0"/>
                        </a:spcBef>
                        <a:spcAft>
                          <a:spcPts val="0"/>
                        </a:spcAft>
                        <a:buNone/>
                      </a:pPr>
                      <a:r>
                        <a:rPr lang="es" sz="1000">
                          <a:solidFill>
                            <a:schemeClr val="dk1"/>
                          </a:solidFill>
                        </a:rPr>
                        <a:t>2.pobre condición corporal </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4.retraso en el crecimiento </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5.disminución en la producción </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6.mucosas pálidas </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9.anemia severa </a:t>
                      </a:r>
                      <a:endParaRPr sz="1000">
                        <a:solidFill>
                          <a:schemeClr val="dk1"/>
                        </a:solidFill>
                      </a:endParaRPr>
                    </a:p>
                    <a:p>
                      <a:pPr indent="0" lvl="0" marL="0" rtl="0" algn="l">
                        <a:spcBef>
                          <a:spcPts val="0"/>
                        </a:spcBef>
                        <a:spcAft>
                          <a:spcPts val="0"/>
                        </a:spcAft>
                        <a:buClr>
                          <a:schemeClr val="dk1"/>
                        </a:buClr>
                        <a:buFont typeface="Arial"/>
                        <a:buNone/>
                      </a:pPr>
                      <a:r>
                        <a:t/>
                      </a:r>
                      <a:endParaRPr sz="1600"/>
                    </a:p>
                  </a:txBody>
                  <a:tcPr marT="45725" marB="45725" marR="91450" marL="91450">
                    <a:solidFill>
                      <a:srgbClr val="FFE599"/>
                    </a:solidFill>
                  </a:tcPr>
                </a:tc>
              </a:tr>
              <a:tr h="1386125">
                <a:tc>
                  <a:txBody>
                    <a:bodyPr/>
                    <a:lstStyle/>
                    <a:p>
                      <a:pPr indent="0" lvl="0" marL="0" marR="0" rtl="0" algn="ctr">
                        <a:spcBef>
                          <a:spcPts val="0"/>
                        </a:spcBef>
                        <a:spcAft>
                          <a:spcPts val="0"/>
                        </a:spcAft>
                        <a:buNone/>
                      </a:pPr>
                      <a:r>
                        <a:rPr lang="es" sz="1800"/>
                        <a:t>II.</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Font typeface="Arial"/>
                        <a:buNone/>
                      </a:pPr>
                      <a:r>
                        <a:rPr lang="es" sz="1800">
                          <a:solidFill>
                            <a:schemeClr val="dk1"/>
                          </a:solidFill>
                        </a:rPr>
                        <a:t>Tos y estornudos </a:t>
                      </a:r>
                      <a:endParaRPr sz="1800">
                        <a:solidFill>
                          <a:schemeClr val="dk1"/>
                        </a:solidFill>
                      </a:endParaRPr>
                    </a:p>
                    <a:p>
                      <a:pPr indent="0" lvl="0" marL="0" rtl="0" algn="l">
                        <a:spcBef>
                          <a:spcPts val="0"/>
                        </a:spcBef>
                        <a:spcAft>
                          <a:spcPts val="0"/>
                        </a:spcAft>
                        <a:buNone/>
                      </a:pPr>
                      <a:r>
                        <a:rPr lang="es" sz="1000">
                          <a:solidFill>
                            <a:schemeClr val="dk1"/>
                          </a:solidFill>
                        </a:rPr>
                        <a:t>3.secreción nasal y ocular </a:t>
                      </a:r>
                      <a:endParaRPr sz="1000">
                        <a:solidFill>
                          <a:schemeClr val="dk1"/>
                        </a:solidFill>
                      </a:endParaRPr>
                    </a:p>
                    <a:p>
                      <a:pPr indent="0" lvl="0" marL="0" rtl="0" algn="l">
                        <a:spcBef>
                          <a:spcPts val="0"/>
                        </a:spcBef>
                        <a:spcAft>
                          <a:spcPts val="0"/>
                        </a:spcAft>
                        <a:buNone/>
                      </a:pPr>
                      <a:r>
                        <a:rPr lang="es" sz="1000">
                          <a:solidFill>
                            <a:schemeClr val="dk1"/>
                          </a:solidFill>
                        </a:rPr>
                        <a:t>4.retraso en el crecimiento</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5.disminución en la producción </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8.estertor húmedo </a:t>
                      </a:r>
                      <a:endParaRPr sz="1000">
                        <a:solidFill>
                          <a:schemeClr val="dk1"/>
                        </a:solidFill>
                      </a:endParaRPr>
                    </a:p>
                    <a:p>
                      <a:pPr indent="0" lvl="0" marL="0" rtl="0" algn="l">
                        <a:spcBef>
                          <a:spcPts val="0"/>
                        </a:spcBef>
                        <a:spcAft>
                          <a:spcPts val="0"/>
                        </a:spcAft>
                        <a:buClr>
                          <a:schemeClr val="dk1"/>
                        </a:buClr>
                        <a:buFont typeface="Arial"/>
                        <a:buNone/>
                      </a:pPr>
                      <a:r>
                        <a:rPr lang="es" sz="1000">
                          <a:solidFill>
                            <a:schemeClr val="dk1"/>
                          </a:solidFill>
                        </a:rPr>
                        <a:t>9.mucosas pálidas </a:t>
                      </a:r>
                      <a:endParaRPr sz="1000">
                        <a:solidFill>
                          <a:schemeClr val="dk1"/>
                        </a:solidFill>
                      </a:endParaRPr>
                    </a:p>
                    <a:p>
                      <a:pPr indent="0" lvl="0" marL="0" marR="0" rtl="0" algn="l">
                        <a:spcBef>
                          <a:spcPts val="0"/>
                        </a:spcBef>
                        <a:spcAft>
                          <a:spcPts val="0"/>
                        </a:spcAft>
                        <a:buNone/>
                      </a:pPr>
                      <a:r>
                        <a:t/>
                      </a:r>
                      <a:endParaRPr sz="1600"/>
                    </a:p>
                  </a:txBody>
                  <a:tcPr marT="45725" marB="45725" marR="91450" marL="91450">
                    <a:solidFill>
                      <a:srgbClr val="FFE599"/>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Lista maestra </a:t>
            </a:r>
            <a:endParaRPr/>
          </a:p>
        </p:txBody>
      </p:sp>
      <p:sp>
        <p:nvSpPr>
          <p:cNvPr id="387" name="Google Shape;387;p44"/>
          <p:cNvSpPr txBox="1"/>
          <p:nvPr>
            <p:ph idx="1" type="body"/>
          </p:nvPr>
        </p:nvSpPr>
        <p:spPr>
          <a:xfrm>
            <a:off x="391075" y="1371225"/>
            <a:ext cx="8520600" cy="2585400"/>
          </a:xfrm>
          <a:prstGeom prst="rect">
            <a:avLst/>
          </a:prstGeom>
          <a:solidFill>
            <a:srgbClr val="FFFF00"/>
          </a:solidFill>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romanUcPeriod"/>
            </a:pPr>
            <a:r>
              <a:rPr lang="es"/>
              <a:t>Parasitosis severa </a:t>
            </a:r>
            <a:r>
              <a:rPr lang="es"/>
              <a:t>  ( 1, 2, 4, 5, 6, 9).</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romanUcPeriod"/>
            </a:pPr>
            <a:r>
              <a:rPr lang="es"/>
              <a:t> Tos y estornudos </a:t>
            </a:r>
            <a:r>
              <a:rPr lang="es"/>
              <a:t>( 3, 4, 5, 8, 9).</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45"/>
          <p:cNvSpPr txBox="1"/>
          <p:nvPr>
            <p:ph idx="1" type="body"/>
          </p:nvPr>
        </p:nvSpPr>
        <p:spPr>
          <a:xfrm>
            <a:off x="311700" y="1152475"/>
            <a:ext cx="8520600" cy="2286300"/>
          </a:xfrm>
          <a:prstGeom prst="rect">
            <a:avLst/>
          </a:prstGeom>
          <a:solidFill>
            <a:srgbClr val="CFE2F3"/>
          </a:solidFill>
        </p:spPr>
        <p:txBody>
          <a:bodyPr anchorCtr="0" anchor="t" bIns="91425" lIns="91425" spcFirstLastPara="1" rIns="91425" wrap="square" tIns="91425">
            <a:normAutofit fontScale="92500"/>
          </a:bodyPr>
          <a:lstStyle/>
          <a:p>
            <a:pPr indent="0" lvl="0" marL="0" rtl="0" algn="l">
              <a:spcBef>
                <a:spcPts val="0"/>
              </a:spcBef>
              <a:spcAft>
                <a:spcPts val="0"/>
              </a:spcAft>
              <a:buNone/>
            </a:pPr>
            <a:r>
              <a:rPr lang="es"/>
              <a:t>A estas alturas, seguramente ya tienes en mente algunos diagnósticos diferenciales que cubren y justifican todas o algunas de las alteraciones clínicas del paciente. </a:t>
            </a:r>
            <a:endParaRPr/>
          </a:p>
          <a:p>
            <a:pPr indent="0" lvl="0" marL="0" rtl="0" algn="l">
              <a:spcBef>
                <a:spcPts val="1200"/>
              </a:spcBef>
              <a:spcAft>
                <a:spcPts val="0"/>
              </a:spcAft>
              <a:buNone/>
            </a:pPr>
            <a:r>
              <a:rPr lang="es"/>
              <a:t>A continuación se debe plantear una lista de diagnósticos diferenciales para cada uno de los problemas maestros. existe una nemotecnia que te ayudará a recordar los procesos fisiopatológicos que podrían estar involucrados: DAMNIT</a:t>
            </a:r>
            <a:endParaRPr/>
          </a:p>
          <a:p>
            <a:pPr indent="0" lvl="0" marL="0" rtl="0" algn="l">
              <a:spcBef>
                <a:spcPts val="1200"/>
              </a:spcBef>
              <a:spcAft>
                <a:spcPts val="1200"/>
              </a:spcAft>
              <a:buNone/>
            </a:pPr>
            <a:r>
              <a:t/>
            </a:r>
            <a:endParaRPr/>
          </a:p>
        </p:txBody>
      </p:sp>
      <p:sp>
        <p:nvSpPr>
          <p:cNvPr id="393" name="Google Shape;393;p45"/>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800">
                <a:solidFill>
                  <a:srgbClr val="000000"/>
                </a:solidFill>
              </a:rPr>
              <a:t>Proceso diagnóstico / Razonamiento  </a:t>
            </a:r>
            <a:endParaRPr sz="2800">
              <a:solidFill>
                <a:srgbClr val="000000"/>
              </a:solidFill>
            </a:endParaRPr>
          </a:p>
        </p:txBody>
      </p:sp>
      <p:sp>
        <p:nvSpPr>
          <p:cNvPr id="394" name="Google Shape;394;p45"/>
          <p:cNvSpPr txBox="1"/>
          <p:nvPr/>
        </p:nvSpPr>
        <p:spPr>
          <a:xfrm>
            <a:off x="311700" y="3740275"/>
            <a:ext cx="8641800" cy="738900"/>
          </a:xfrm>
          <a:prstGeom prst="rect">
            <a:avLst/>
          </a:prstGeom>
          <a:solidFill>
            <a:srgbClr val="EEFF4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rgbClr val="595959"/>
                </a:solidFill>
              </a:rPr>
              <a:t>Coloca debajo de cada letra de la mnemotecnia ´DAMNIT´, los procesos a los que hacen referencia. </a:t>
            </a:r>
            <a:endParaRPr sz="1800">
              <a:solidFill>
                <a:srgbClr val="59595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6"/>
          <p:cNvSpPr/>
          <p:nvPr/>
        </p:nvSpPr>
        <p:spPr>
          <a:xfrm flipH="1" rot="-989">
            <a:off x="3087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D</a:t>
            </a:r>
            <a:endParaRPr sz="1800"/>
          </a:p>
        </p:txBody>
      </p:sp>
      <p:sp>
        <p:nvSpPr>
          <p:cNvPr id="400" name="Google Shape;400;p46"/>
          <p:cNvSpPr/>
          <p:nvPr/>
        </p:nvSpPr>
        <p:spPr>
          <a:xfrm>
            <a:off x="1755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01" name="Google Shape;401;p46"/>
          <p:cNvSpPr/>
          <p:nvPr/>
        </p:nvSpPr>
        <p:spPr>
          <a:xfrm>
            <a:off x="168870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02" name="Google Shape;402;p46"/>
          <p:cNvSpPr/>
          <p:nvPr/>
        </p:nvSpPr>
        <p:spPr>
          <a:xfrm>
            <a:off x="32018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03" name="Google Shape;403;p46"/>
          <p:cNvSpPr/>
          <p:nvPr/>
        </p:nvSpPr>
        <p:spPr>
          <a:xfrm>
            <a:off x="471495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04" name="Google Shape;404;p46"/>
          <p:cNvSpPr/>
          <p:nvPr/>
        </p:nvSpPr>
        <p:spPr>
          <a:xfrm>
            <a:off x="62280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05" name="Google Shape;405;p46"/>
          <p:cNvSpPr/>
          <p:nvPr/>
        </p:nvSpPr>
        <p:spPr>
          <a:xfrm>
            <a:off x="76731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06" name="Google Shape;406;p46"/>
          <p:cNvSpPr/>
          <p:nvPr/>
        </p:nvSpPr>
        <p:spPr>
          <a:xfrm flipH="1" rot="-989">
            <a:off x="182188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A</a:t>
            </a:r>
            <a:endParaRPr sz="1800"/>
          </a:p>
        </p:txBody>
      </p:sp>
      <p:sp>
        <p:nvSpPr>
          <p:cNvPr id="407" name="Google Shape;407;p46"/>
          <p:cNvSpPr/>
          <p:nvPr/>
        </p:nvSpPr>
        <p:spPr>
          <a:xfrm flipH="1" rot="-989">
            <a:off x="33350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M</a:t>
            </a:r>
            <a:endParaRPr sz="1800"/>
          </a:p>
        </p:txBody>
      </p:sp>
      <p:sp>
        <p:nvSpPr>
          <p:cNvPr id="408" name="Google Shape;408;p46"/>
          <p:cNvSpPr/>
          <p:nvPr/>
        </p:nvSpPr>
        <p:spPr>
          <a:xfrm flipH="1" rot="-989">
            <a:off x="484813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N</a:t>
            </a:r>
            <a:endParaRPr sz="1800"/>
          </a:p>
        </p:txBody>
      </p:sp>
      <p:sp>
        <p:nvSpPr>
          <p:cNvPr id="409" name="Google Shape;409;p46"/>
          <p:cNvSpPr/>
          <p:nvPr/>
        </p:nvSpPr>
        <p:spPr>
          <a:xfrm flipH="1" rot="-989">
            <a:off x="63612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I</a:t>
            </a:r>
            <a:endParaRPr sz="1800"/>
          </a:p>
        </p:txBody>
      </p:sp>
      <p:sp>
        <p:nvSpPr>
          <p:cNvPr id="410" name="Google Shape;410;p46"/>
          <p:cNvSpPr/>
          <p:nvPr/>
        </p:nvSpPr>
        <p:spPr>
          <a:xfrm flipH="1" rot="-989">
            <a:off x="78063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T</a:t>
            </a:r>
            <a:endParaRPr sz="1800"/>
          </a:p>
        </p:txBody>
      </p:sp>
      <p:sp>
        <p:nvSpPr>
          <p:cNvPr id="411" name="Google Shape;411;p46"/>
          <p:cNvSpPr/>
          <p:nvPr/>
        </p:nvSpPr>
        <p:spPr>
          <a:xfrm>
            <a:off x="328857" y="1072134"/>
            <a:ext cx="1512818"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Degenerativo</a:t>
            </a:r>
            <a:endParaRPr/>
          </a:p>
        </p:txBody>
      </p:sp>
      <p:sp>
        <p:nvSpPr>
          <p:cNvPr id="412" name="Google Shape;412;p46"/>
          <p:cNvSpPr/>
          <p:nvPr/>
        </p:nvSpPr>
        <p:spPr>
          <a:xfrm>
            <a:off x="4022989" y="187809"/>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Alérgico</a:t>
            </a:r>
            <a:endParaRPr sz="1000">
              <a:solidFill>
                <a:srgbClr val="000000"/>
              </a:solidFill>
              <a:latin typeface="Calibri"/>
              <a:ea typeface="Calibri"/>
              <a:cs typeface="Calibri"/>
              <a:sym typeface="Calibri"/>
            </a:endParaRPr>
          </a:p>
        </p:txBody>
      </p:sp>
      <p:sp>
        <p:nvSpPr>
          <p:cNvPr id="413" name="Google Shape;413;p46"/>
          <p:cNvSpPr/>
          <p:nvPr/>
        </p:nvSpPr>
        <p:spPr>
          <a:xfrm>
            <a:off x="4022989" y="887309"/>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Autoinmune</a:t>
            </a:r>
            <a:endParaRPr sz="1000">
              <a:solidFill>
                <a:srgbClr val="000000"/>
              </a:solidFill>
              <a:latin typeface="Calibri"/>
              <a:ea typeface="Calibri"/>
              <a:cs typeface="Calibri"/>
              <a:sym typeface="Calibri"/>
            </a:endParaRPr>
          </a:p>
        </p:txBody>
      </p:sp>
      <p:sp>
        <p:nvSpPr>
          <p:cNvPr id="414" name="Google Shape;414;p46"/>
          <p:cNvSpPr/>
          <p:nvPr/>
        </p:nvSpPr>
        <p:spPr>
          <a:xfrm>
            <a:off x="2176207" y="770678"/>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Traumático</a:t>
            </a:r>
            <a:endParaRPr/>
          </a:p>
        </p:txBody>
      </p:sp>
      <p:sp>
        <p:nvSpPr>
          <p:cNvPr id="415" name="Google Shape;415;p46"/>
          <p:cNvSpPr/>
          <p:nvPr/>
        </p:nvSpPr>
        <p:spPr>
          <a:xfrm>
            <a:off x="328857" y="1415304"/>
            <a:ext cx="1512818" cy="23675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Tisular</a:t>
            </a:r>
            <a:endParaRPr/>
          </a:p>
        </p:txBody>
      </p:sp>
      <p:sp>
        <p:nvSpPr>
          <p:cNvPr id="416" name="Google Shape;416;p46"/>
          <p:cNvSpPr/>
          <p:nvPr/>
        </p:nvSpPr>
        <p:spPr>
          <a:xfrm>
            <a:off x="4022989" y="51597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Valvular</a:t>
            </a:r>
            <a:endParaRPr/>
          </a:p>
        </p:txBody>
      </p:sp>
      <p:sp>
        <p:nvSpPr>
          <p:cNvPr id="417" name="Google Shape;417;p46"/>
          <p:cNvSpPr/>
          <p:nvPr/>
        </p:nvSpPr>
        <p:spPr>
          <a:xfrm>
            <a:off x="5712132" y="51493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Desarrollo</a:t>
            </a:r>
            <a:endParaRPr sz="1000">
              <a:solidFill>
                <a:srgbClr val="000000"/>
              </a:solidFill>
              <a:latin typeface="Calibri"/>
              <a:ea typeface="Calibri"/>
              <a:cs typeface="Calibri"/>
              <a:sym typeface="Calibri"/>
            </a:endParaRPr>
          </a:p>
        </p:txBody>
      </p:sp>
      <p:sp>
        <p:nvSpPr>
          <p:cNvPr id="418" name="Google Shape;418;p46"/>
          <p:cNvSpPr/>
          <p:nvPr/>
        </p:nvSpPr>
        <p:spPr>
          <a:xfrm>
            <a:off x="5712132" y="108922"/>
            <a:ext cx="1512818" cy="261547"/>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Metabólico</a:t>
            </a:r>
            <a:endParaRPr sz="1000">
              <a:solidFill>
                <a:srgbClr val="000000"/>
              </a:solidFill>
              <a:latin typeface="Calibri"/>
              <a:ea typeface="Calibri"/>
              <a:cs typeface="Calibri"/>
              <a:sym typeface="Calibri"/>
            </a:endParaRPr>
          </a:p>
        </p:txBody>
      </p:sp>
      <p:sp>
        <p:nvSpPr>
          <p:cNvPr id="419" name="Google Shape;419;p46"/>
          <p:cNvSpPr/>
          <p:nvPr/>
        </p:nvSpPr>
        <p:spPr>
          <a:xfrm>
            <a:off x="7558364" y="15012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Mecánico</a:t>
            </a:r>
            <a:endParaRPr sz="1000">
              <a:solidFill>
                <a:srgbClr val="000000"/>
              </a:solidFill>
              <a:latin typeface="Calibri"/>
              <a:ea typeface="Calibri"/>
              <a:cs typeface="Calibri"/>
              <a:sym typeface="Calibri"/>
            </a:endParaRPr>
          </a:p>
        </p:txBody>
      </p:sp>
      <p:sp>
        <p:nvSpPr>
          <p:cNvPr id="420" name="Google Shape;420;p46"/>
          <p:cNvSpPr/>
          <p:nvPr/>
        </p:nvSpPr>
        <p:spPr>
          <a:xfrm>
            <a:off x="7558364" y="54590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Misceláneo</a:t>
            </a:r>
            <a:endParaRPr sz="1000">
              <a:solidFill>
                <a:srgbClr val="000000"/>
              </a:solidFill>
              <a:latin typeface="Calibri"/>
              <a:ea typeface="Calibri"/>
              <a:cs typeface="Calibri"/>
              <a:sym typeface="Calibri"/>
            </a:endParaRPr>
          </a:p>
        </p:txBody>
      </p:sp>
      <p:sp>
        <p:nvSpPr>
          <p:cNvPr id="421" name="Google Shape;421;p46"/>
          <p:cNvSpPr/>
          <p:nvPr/>
        </p:nvSpPr>
        <p:spPr>
          <a:xfrm>
            <a:off x="7558364" y="94168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Neoplásico</a:t>
            </a:r>
            <a:endParaRPr sz="1000">
              <a:solidFill>
                <a:srgbClr val="000000"/>
              </a:solidFill>
              <a:latin typeface="Calibri"/>
              <a:ea typeface="Calibri"/>
              <a:cs typeface="Calibri"/>
              <a:sym typeface="Calibri"/>
            </a:endParaRPr>
          </a:p>
        </p:txBody>
      </p:sp>
      <p:sp>
        <p:nvSpPr>
          <p:cNvPr id="422" name="Google Shape;422;p46"/>
          <p:cNvSpPr/>
          <p:nvPr/>
        </p:nvSpPr>
        <p:spPr>
          <a:xfrm>
            <a:off x="5712132" y="91033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Inmunomediado</a:t>
            </a:r>
            <a:endParaRPr sz="1000">
              <a:solidFill>
                <a:srgbClr val="000000"/>
              </a:solidFill>
              <a:latin typeface="Calibri"/>
              <a:ea typeface="Calibri"/>
              <a:cs typeface="Calibri"/>
              <a:sym typeface="Calibri"/>
            </a:endParaRPr>
          </a:p>
        </p:txBody>
      </p:sp>
      <p:sp>
        <p:nvSpPr>
          <p:cNvPr id="423" name="Google Shape;423;p46"/>
          <p:cNvSpPr/>
          <p:nvPr/>
        </p:nvSpPr>
        <p:spPr>
          <a:xfrm>
            <a:off x="5712132" y="129974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Tóxico</a:t>
            </a:r>
            <a:endParaRPr/>
          </a:p>
        </p:txBody>
      </p:sp>
      <p:sp>
        <p:nvSpPr>
          <p:cNvPr id="424" name="Google Shape;424;p46"/>
          <p:cNvSpPr/>
          <p:nvPr/>
        </p:nvSpPr>
        <p:spPr>
          <a:xfrm>
            <a:off x="7559492" y="1350235"/>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Distrófico</a:t>
            </a:r>
            <a:endParaRPr/>
          </a:p>
        </p:txBody>
      </p:sp>
      <p:sp>
        <p:nvSpPr>
          <p:cNvPr id="425" name="Google Shape;425;p46"/>
          <p:cNvSpPr/>
          <p:nvPr/>
        </p:nvSpPr>
        <p:spPr>
          <a:xfrm>
            <a:off x="2176195" y="1433232"/>
            <a:ext cx="1512818"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Nutricional</a:t>
            </a:r>
            <a:endParaRPr sz="800">
              <a:solidFill>
                <a:srgbClr val="000000"/>
              </a:solidFill>
              <a:latin typeface="Calibri"/>
              <a:ea typeface="Calibri"/>
              <a:cs typeface="Calibri"/>
              <a:sym typeface="Calibri"/>
            </a:endParaRPr>
          </a:p>
        </p:txBody>
      </p:sp>
      <p:sp>
        <p:nvSpPr>
          <p:cNvPr id="426" name="Google Shape;426;p46"/>
          <p:cNvSpPr/>
          <p:nvPr/>
        </p:nvSpPr>
        <p:spPr>
          <a:xfrm>
            <a:off x="2176195" y="1852868"/>
            <a:ext cx="1512818" cy="237341"/>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Idiopático</a:t>
            </a:r>
            <a:endParaRPr/>
          </a:p>
        </p:txBody>
      </p:sp>
      <p:sp>
        <p:nvSpPr>
          <p:cNvPr id="427" name="Google Shape;427;p46"/>
          <p:cNvSpPr/>
          <p:nvPr/>
        </p:nvSpPr>
        <p:spPr>
          <a:xfrm>
            <a:off x="4023555" y="1165891"/>
            <a:ext cx="1512818"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Inflamatorio</a:t>
            </a:r>
            <a:endParaRPr/>
          </a:p>
        </p:txBody>
      </p:sp>
      <p:sp>
        <p:nvSpPr>
          <p:cNvPr id="428" name="Google Shape;428;p46"/>
          <p:cNvSpPr/>
          <p:nvPr/>
        </p:nvSpPr>
        <p:spPr>
          <a:xfrm>
            <a:off x="4023555" y="1903897"/>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Infeccioso</a:t>
            </a:r>
            <a:endParaRPr/>
          </a:p>
        </p:txBody>
      </p:sp>
      <p:sp>
        <p:nvSpPr>
          <p:cNvPr id="429" name="Google Shape;429;p46"/>
          <p:cNvSpPr/>
          <p:nvPr/>
        </p:nvSpPr>
        <p:spPr>
          <a:xfrm>
            <a:off x="2176195" y="1065938"/>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Nutraceútico</a:t>
            </a:r>
            <a:endParaRPr/>
          </a:p>
        </p:txBody>
      </p:sp>
      <p:sp>
        <p:nvSpPr>
          <p:cNvPr id="430" name="Google Shape;430;p46"/>
          <p:cNvSpPr/>
          <p:nvPr/>
        </p:nvSpPr>
        <p:spPr>
          <a:xfrm>
            <a:off x="4023555" y="1530603"/>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Innato</a:t>
            </a:r>
            <a:endParaRPr sz="1000">
              <a:solidFill>
                <a:srgbClr val="000000"/>
              </a:solidFill>
              <a:latin typeface="Calibri"/>
              <a:ea typeface="Calibri"/>
              <a:cs typeface="Calibri"/>
              <a:sym typeface="Calibri"/>
            </a:endParaRPr>
          </a:p>
        </p:txBody>
      </p:sp>
      <p:sp>
        <p:nvSpPr>
          <p:cNvPr id="431" name="Google Shape;431;p46"/>
          <p:cNvSpPr/>
          <p:nvPr/>
        </p:nvSpPr>
        <p:spPr>
          <a:xfrm>
            <a:off x="7559492" y="1746996"/>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Vascular</a:t>
            </a:r>
            <a:endParaRPr sz="1000">
              <a:solidFill>
                <a:srgbClr val="000000"/>
              </a:solidFill>
              <a:latin typeface="Calibri"/>
              <a:ea typeface="Calibri"/>
              <a:cs typeface="Calibri"/>
              <a:sym typeface="Calibri"/>
            </a:endParaRPr>
          </a:p>
        </p:txBody>
      </p:sp>
      <p:sp>
        <p:nvSpPr>
          <p:cNvPr id="432" name="Google Shape;432;p46"/>
          <p:cNvSpPr/>
          <p:nvPr/>
        </p:nvSpPr>
        <p:spPr>
          <a:xfrm>
            <a:off x="5712132" y="1717320"/>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Mórbido</a:t>
            </a:r>
            <a:endParaRPr sz="800">
              <a:solidFill>
                <a:srgbClr val="000000"/>
              </a:solidFill>
              <a:latin typeface="Calibri"/>
              <a:ea typeface="Calibri"/>
              <a:cs typeface="Calibri"/>
              <a:sym typeface="Calibri"/>
            </a:endParaRPr>
          </a:p>
        </p:txBody>
      </p:sp>
      <p:sp>
        <p:nvSpPr>
          <p:cNvPr id="433" name="Google Shape;433;p46"/>
          <p:cNvSpPr/>
          <p:nvPr/>
        </p:nvSpPr>
        <p:spPr>
          <a:xfrm>
            <a:off x="328857" y="1717322"/>
            <a:ext cx="151281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Atenuante</a:t>
            </a:r>
            <a:endParaRPr/>
          </a:p>
        </p:txBody>
      </p:sp>
      <p:sp>
        <p:nvSpPr>
          <p:cNvPr id="434" name="Google Shape;434;p46"/>
          <p:cNvSpPr txBox="1"/>
          <p:nvPr/>
        </p:nvSpPr>
        <p:spPr>
          <a:xfrm>
            <a:off x="175575" y="44125"/>
            <a:ext cx="2688900" cy="8907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 sz="2800">
                <a:solidFill>
                  <a:srgbClr val="000000"/>
                </a:solidFill>
              </a:rPr>
              <a:t>Posibles causas de enfermedad </a:t>
            </a:r>
            <a:endParaRPr sz="2800">
              <a:solidFill>
                <a:srgbClr val="000000"/>
              </a:solidFill>
            </a:endParaRPr>
          </a:p>
          <a:p>
            <a:pPr indent="0" lvl="0" marL="0" rtl="0" algn="l">
              <a:spcBef>
                <a:spcPts val="0"/>
              </a:spcBef>
              <a:spcAft>
                <a:spcPts val="0"/>
              </a:spcAft>
              <a:buNone/>
            </a:pPr>
            <a:r>
              <a:t/>
            </a:r>
            <a:endParaRPr sz="2800">
              <a:solidFill>
                <a:srgbClr val="0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47"/>
          <p:cNvSpPr/>
          <p:nvPr/>
        </p:nvSpPr>
        <p:spPr>
          <a:xfrm flipH="1" rot="-989">
            <a:off x="3087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D</a:t>
            </a:r>
            <a:endParaRPr sz="1800"/>
          </a:p>
        </p:txBody>
      </p:sp>
      <p:sp>
        <p:nvSpPr>
          <p:cNvPr id="440" name="Google Shape;440;p47"/>
          <p:cNvSpPr/>
          <p:nvPr/>
        </p:nvSpPr>
        <p:spPr>
          <a:xfrm>
            <a:off x="1755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41" name="Google Shape;441;p47"/>
          <p:cNvSpPr/>
          <p:nvPr/>
        </p:nvSpPr>
        <p:spPr>
          <a:xfrm>
            <a:off x="168870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42" name="Google Shape;442;p47"/>
          <p:cNvSpPr/>
          <p:nvPr/>
        </p:nvSpPr>
        <p:spPr>
          <a:xfrm>
            <a:off x="32018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43" name="Google Shape;443;p47"/>
          <p:cNvSpPr/>
          <p:nvPr/>
        </p:nvSpPr>
        <p:spPr>
          <a:xfrm>
            <a:off x="4714951"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44" name="Google Shape;444;p47"/>
          <p:cNvSpPr/>
          <p:nvPr/>
        </p:nvSpPr>
        <p:spPr>
          <a:xfrm>
            <a:off x="622807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45" name="Google Shape;445;p47"/>
          <p:cNvSpPr/>
          <p:nvPr/>
        </p:nvSpPr>
        <p:spPr>
          <a:xfrm>
            <a:off x="7673126" y="2782025"/>
            <a:ext cx="1308900" cy="2225400"/>
          </a:xfrm>
          <a:prstGeom prst="roundRect">
            <a:avLst>
              <a:gd fmla="val 16667" name="adj"/>
            </a:avLst>
          </a:prstGeom>
          <a:noFill/>
          <a:ln cap="flat" cmpd="sng" w="9175">
            <a:solidFill>
              <a:srgbClr val="1C3052"/>
            </a:solidFill>
            <a:prstDash val="dash"/>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t/>
            </a:r>
            <a:endParaRPr sz="2027">
              <a:solidFill>
                <a:srgbClr val="7F7F7F"/>
              </a:solidFill>
              <a:latin typeface="Calibri"/>
              <a:ea typeface="Calibri"/>
              <a:cs typeface="Calibri"/>
              <a:sym typeface="Calibri"/>
            </a:endParaRPr>
          </a:p>
        </p:txBody>
      </p:sp>
      <p:sp>
        <p:nvSpPr>
          <p:cNvPr id="446" name="Google Shape;446;p47"/>
          <p:cNvSpPr/>
          <p:nvPr/>
        </p:nvSpPr>
        <p:spPr>
          <a:xfrm flipH="1" rot="-989">
            <a:off x="182188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A</a:t>
            </a:r>
            <a:endParaRPr sz="1800"/>
          </a:p>
        </p:txBody>
      </p:sp>
      <p:sp>
        <p:nvSpPr>
          <p:cNvPr id="447" name="Google Shape;447;p47"/>
          <p:cNvSpPr/>
          <p:nvPr/>
        </p:nvSpPr>
        <p:spPr>
          <a:xfrm flipH="1" rot="-989">
            <a:off x="33350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M</a:t>
            </a:r>
            <a:endParaRPr sz="1800"/>
          </a:p>
        </p:txBody>
      </p:sp>
      <p:sp>
        <p:nvSpPr>
          <p:cNvPr id="448" name="Google Shape;448;p47"/>
          <p:cNvSpPr/>
          <p:nvPr/>
        </p:nvSpPr>
        <p:spPr>
          <a:xfrm flipH="1" rot="-989">
            <a:off x="4848139"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N</a:t>
            </a:r>
            <a:endParaRPr sz="1800"/>
          </a:p>
        </p:txBody>
      </p:sp>
      <p:sp>
        <p:nvSpPr>
          <p:cNvPr id="449" name="Google Shape;449;p47"/>
          <p:cNvSpPr/>
          <p:nvPr/>
        </p:nvSpPr>
        <p:spPr>
          <a:xfrm flipH="1" rot="-989">
            <a:off x="636126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I</a:t>
            </a:r>
            <a:endParaRPr sz="1800"/>
          </a:p>
        </p:txBody>
      </p:sp>
      <p:sp>
        <p:nvSpPr>
          <p:cNvPr id="450" name="Google Shape;450;p47"/>
          <p:cNvSpPr/>
          <p:nvPr/>
        </p:nvSpPr>
        <p:spPr>
          <a:xfrm flipH="1" rot="-989">
            <a:off x="7806314" y="2114231"/>
            <a:ext cx="1042500" cy="573000"/>
          </a:xfrm>
          <a:prstGeom prst="roundRect">
            <a:avLst>
              <a:gd fmla="val 16667" name="adj"/>
            </a:avLst>
          </a:prstGeom>
          <a:solidFill>
            <a:srgbClr val="FFE599"/>
          </a:solidFill>
          <a:ln cap="flat" cmpd="sng" w="9175">
            <a:solidFill>
              <a:srgbClr val="1C3052"/>
            </a:solidFill>
            <a:prstDash val="solid"/>
            <a:miter lim="800000"/>
            <a:headEnd len="sm" w="sm" type="none"/>
            <a:tailEnd len="sm" w="sm" type="none"/>
          </a:ln>
        </p:spPr>
        <p:txBody>
          <a:bodyPr anchorCtr="0" anchor="ctr" bIns="33100" lIns="66175" spcFirstLastPara="1" rIns="66175" wrap="square" tIns="33100">
            <a:noAutofit/>
          </a:bodyPr>
          <a:lstStyle/>
          <a:p>
            <a:pPr indent="0" lvl="0" marL="0" marR="0" rtl="0" algn="ctr">
              <a:spcBef>
                <a:spcPts val="0"/>
              </a:spcBef>
              <a:spcAft>
                <a:spcPts val="0"/>
              </a:spcAft>
              <a:buNone/>
            </a:pPr>
            <a:r>
              <a:rPr lang="es" sz="1800">
                <a:latin typeface="Calibri"/>
                <a:ea typeface="Calibri"/>
                <a:cs typeface="Calibri"/>
                <a:sym typeface="Calibri"/>
              </a:rPr>
              <a:t>T</a:t>
            </a:r>
            <a:endParaRPr sz="1800"/>
          </a:p>
        </p:txBody>
      </p:sp>
      <p:sp>
        <p:nvSpPr>
          <p:cNvPr id="451" name="Google Shape;451;p47"/>
          <p:cNvSpPr/>
          <p:nvPr/>
        </p:nvSpPr>
        <p:spPr>
          <a:xfrm>
            <a:off x="308098" y="2847975"/>
            <a:ext cx="1043844"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Degenerativo</a:t>
            </a:r>
            <a:endParaRPr/>
          </a:p>
        </p:txBody>
      </p:sp>
      <p:sp>
        <p:nvSpPr>
          <p:cNvPr id="452" name="Google Shape;452;p47"/>
          <p:cNvSpPr/>
          <p:nvPr/>
        </p:nvSpPr>
        <p:spPr>
          <a:xfrm>
            <a:off x="1841671" y="2927175"/>
            <a:ext cx="1021152"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Alérgico</a:t>
            </a:r>
            <a:endParaRPr sz="1000">
              <a:solidFill>
                <a:srgbClr val="000000"/>
              </a:solidFill>
              <a:latin typeface="Calibri"/>
              <a:ea typeface="Calibri"/>
              <a:cs typeface="Calibri"/>
              <a:sym typeface="Calibri"/>
            </a:endParaRPr>
          </a:p>
        </p:txBody>
      </p:sp>
      <p:sp>
        <p:nvSpPr>
          <p:cNvPr id="453" name="Google Shape;453;p47"/>
          <p:cNvSpPr/>
          <p:nvPr/>
        </p:nvSpPr>
        <p:spPr>
          <a:xfrm>
            <a:off x="1821897" y="33150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Autoinmune</a:t>
            </a:r>
            <a:endParaRPr sz="1000">
              <a:solidFill>
                <a:srgbClr val="000000"/>
              </a:solidFill>
              <a:latin typeface="Calibri"/>
              <a:ea typeface="Calibri"/>
              <a:cs typeface="Calibri"/>
              <a:sym typeface="Calibri"/>
            </a:endParaRPr>
          </a:p>
        </p:txBody>
      </p:sp>
      <p:sp>
        <p:nvSpPr>
          <p:cNvPr id="454" name="Google Shape;454;p47"/>
          <p:cNvSpPr/>
          <p:nvPr/>
        </p:nvSpPr>
        <p:spPr>
          <a:xfrm>
            <a:off x="7810403" y="3442575"/>
            <a:ext cx="866088"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Traumático</a:t>
            </a:r>
            <a:endParaRPr/>
          </a:p>
        </p:txBody>
      </p:sp>
      <p:sp>
        <p:nvSpPr>
          <p:cNvPr id="455" name="Google Shape;455;p47"/>
          <p:cNvSpPr/>
          <p:nvPr/>
        </p:nvSpPr>
        <p:spPr>
          <a:xfrm>
            <a:off x="328852" y="3163350"/>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Desarrollo</a:t>
            </a:r>
            <a:endParaRPr sz="1000">
              <a:solidFill>
                <a:srgbClr val="000000"/>
              </a:solidFill>
              <a:latin typeface="Calibri"/>
              <a:ea typeface="Calibri"/>
              <a:cs typeface="Calibri"/>
              <a:sym typeface="Calibri"/>
            </a:endParaRPr>
          </a:p>
        </p:txBody>
      </p:sp>
      <p:sp>
        <p:nvSpPr>
          <p:cNvPr id="456" name="Google Shape;456;p47"/>
          <p:cNvSpPr/>
          <p:nvPr/>
        </p:nvSpPr>
        <p:spPr>
          <a:xfrm>
            <a:off x="4849722" y="292717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Neoplásico</a:t>
            </a:r>
            <a:endParaRPr sz="1000">
              <a:solidFill>
                <a:srgbClr val="000000"/>
              </a:solidFill>
              <a:latin typeface="Calibri"/>
              <a:ea typeface="Calibri"/>
              <a:cs typeface="Calibri"/>
              <a:sym typeface="Calibri"/>
            </a:endParaRPr>
          </a:p>
        </p:txBody>
      </p:sp>
      <p:sp>
        <p:nvSpPr>
          <p:cNvPr id="457" name="Google Shape;457;p47"/>
          <p:cNvSpPr/>
          <p:nvPr/>
        </p:nvSpPr>
        <p:spPr>
          <a:xfrm>
            <a:off x="1821902" y="36052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Inmunomediado</a:t>
            </a:r>
            <a:endParaRPr sz="1000">
              <a:solidFill>
                <a:srgbClr val="000000"/>
              </a:solidFill>
              <a:latin typeface="Calibri"/>
              <a:ea typeface="Calibri"/>
              <a:cs typeface="Calibri"/>
              <a:sym typeface="Calibri"/>
            </a:endParaRPr>
          </a:p>
        </p:txBody>
      </p:sp>
      <p:sp>
        <p:nvSpPr>
          <p:cNvPr id="458" name="Google Shape;458;p47"/>
          <p:cNvSpPr/>
          <p:nvPr/>
        </p:nvSpPr>
        <p:spPr>
          <a:xfrm>
            <a:off x="7807475" y="2948074"/>
            <a:ext cx="866088" cy="233798"/>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Tóxico</a:t>
            </a:r>
            <a:endParaRPr/>
          </a:p>
        </p:txBody>
      </p:sp>
      <p:sp>
        <p:nvSpPr>
          <p:cNvPr id="459" name="Google Shape;459;p47"/>
          <p:cNvSpPr/>
          <p:nvPr/>
        </p:nvSpPr>
        <p:spPr>
          <a:xfrm>
            <a:off x="4846798" y="3265550"/>
            <a:ext cx="1043844"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Nutricional</a:t>
            </a:r>
            <a:endParaRPr sz="800">
              <a:solidFill>
                <a:srgbClr val="000000"/>
              </a:solidFill>
              <a:latin typeface="Calibri"/>
              <a:ea typeface="Calibri"/>
              <a:cs typeface="Calibri"/>
              <a:sym typeface="Calibri"/>
            </a:endParaRPr>
          </a:p>
        </p:txBody>
      </p:sp>
      <p:sp>
        <p:nvSpPr>
          <p:cNvPr id="460" name="Google Shape;460;p47"/>
          <p:cNvSpPr/>
          <p:nvPr/>
        </p:nvSpPr>
        <p:spPr>
          <a:xfrm>
            <a:off x="6298351" y="3011100"/>
            <a:ext cx="1104357" cy="254462"/>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Inflamatorio</a:t>
            </a:r>
            <a:endParaRPr/>
          </a:p>
        </p:txBody>
      </p:sp>
      <p:sp>
        <p:nvSpPr>
          <p:cNvPr id="461" name="Google Shape;461;p47"/>
          <p:cNvSpPr/>
          <p:nvPr/>
        </p:nvSpPr>
        <p:spPr>
          <a:xfrm>
            <a:off x="3313602" y="2914475"/>
            <a:ext cx="1043844" cy="261547"/>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Metabólico</a:t>
            </a:r>
            <a:endParaRPr sz="1000">
              <a:solidFill>
                <a:srgbClr val="000000"/>
              </a:solidFill>
              <a:latin typeface="Calibri"/>
              <a:ea typeface="Calibri"/>
              <a:cs typeface="Calibri"/>
              <a:sym typeface="Calibri"/>
            </a:endParaRPr>
          </a:p>
        </p:txBody>
      </p:sp>
      <p:sp>
        <p:nvSpPr>
          <p:cNvPr id="462" name="Google Shape;462;p47"/>
          <p:cNvSpPr/>
          <p:nvPr/>
        </p:nvSpPr>
        <p:spPr>
          <a:xfrm>
            <a:off x="3260522" y="3291825"/>
            <a:ext cx="1043844"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Mecánico</a:t>
            </a:r>
            <a:endParaRPr sz="1000">
              <a:solidFill>
                <a:srgbClr val="000000"/>
              </a:solidFill>
              <a:latin typeface="Calibri"/>
              <a:ea typeface="Calibri"/>
              <a:cs typeface="Calibri"/>
              <a:sym typeface="Calibri"/>
            </a:endParaRPr>
          </a:p>
        </p:txBody>
      </p:sp>
      <p:sp>
        <p:nvSpPr>
          <p:cNvPr id="463" name="Google Shape;463;p47"/>
          <p:cNvSpPr/>
          <p:nvPr/>
        </p:nvSpPr>
        <p:spPr>
          <a:xfrm>
            <a:off x="6298351" y="3460425"/>
            <a:ext cx="1104357" cy="236160"/>
          </a:xfrm>
          <a:custGeom>
            <a:rect b="b" l="l" r="r" t="t"/>
            <a:pathLst>
              <a:path extrusionOk="0" h="236160" w="1512818">
                <a:moveTo>
                  <a:pt x="0" y="39361"/>
                </a:moveTo>
                <a:cubicBezTo>
                  <a:pt x="0" y="17623"/>
                  <a:pt x="17623" y="0"/>
                  <a:pt x="39361" y="0"/>
                </a:cubicBezTo>
                <a:lnTo>
                  <a:pt x="1473457" y="0"/>
                </a:lnTo>
                <a:cubicBezTo>
                  <a:pt x="1495195" y="0"/>
                  <a:pt x="1512818" y="17623"/>
                  <a:pt x="1512818" y="39361"/>
                </a:cubicBezTo>
                <a:lnTo>
                  <a:pt x="1512818" y="196799"/>
                </a:lnTo>
                <a:cubicBezTo>
                  <a:pt x="1512818" y="218537"/>
                  <a:pt x="1495195" y="236160"/>
                  <a:pt x="1473457" y="236160"/>
                </a:cubicBezTo>
                <a:lnTo>
                  <a:pt x="39361" y="236160"/>
                </a:lnTo>
                <a:cubicBezTo>
                  <a:pt x="17623" y="236160"/>
                  <a:pt x="0" y="218537"/>
                  <a:pt x="0" y="196799"/>
                </a:cubicBezTo>
                <a:lnTo>
                  <a:pt x="0" y="39361"/>
                </a:lnTo>
                <a:close/>
              </a:path>
            </a:pathLst>
          </a:custGeom>
          <a:solidFill>
            <a:srgbClr val="FFFFFF"/>
          </a:solidFill>
          <a:ln cap="flat" cmpd="sng" w="12700">
            <a:solidFill>
              <a:srgbClr val="3A66B1"/>
            </a:solidFill>
            <a:prstDash val="solid"/>
            <a:miter lim="800000"/>
            <a:headEnd len="sm" w="sm" type="none"/>
            <a:tailEnd len="sm" w="sm" type="none"/>
          </a:ln>
        </p:spPr>
        <p:txBody>
          <a:bodyPr anchorCtr="0" anchor="ctr" bIns="11525" lIns="68700" spcFirstLastPara="1" rIns="68700" wrap="square" tIns="11525">
            <a:noAutofit/>
          </a:bodyPr>
          <a:lstStyle/>
          <a:p>
            <a:pPr indent="0" lvl="0" marL="0" marR="0" rtl="0" algn="l">
              <a:lnSpc>
                <a:spcPct val="90000"/>
              </a:lnSpc>
              <a:spcBef>
                <a:spcPts val="0"/>
              </a:spcBef>
              <a:spcAft>
                <a:spcPts val="0"/>
              </a:spcAft>
              <a:buClr>
                <a:srgbClr val="000000"/>
              </a:buClr>
              <a:buSzPts val="1000"/>
              <a:buFont typeface="Calibri"/>
              <a:buNone/>
            </a:pPr>
            <a:r>
              <a:rPr lang="es" sz="1000">
                <a:solidFill>
                  <a:srgbClr val="000000"/>
                </a:solidFill>
                <a:latin typeface="Calibri"/>
                <a:ea typeface="Calibri"/>
                <a:cs typeface="Calibri"/>
                <a:sym typeface="Calibri"/>
              </a:rPr>
              <a:t>Infeccioso</a:t>
            </a:r>
            <a:endParaRPr/>
          </a:p>
        </p:txBody>
      </p:sp>
      <p:sp>
        <p:nvSpPr>
          <p:cNvPr id="464" name="Google Shape;464;p47"/>
          <p:cNvSpPr txBox="1"/>
          <p:nvPr/>
        </p:nvSpPr>
        <p:spPr>
          <a:xfrm>
            <a:off x="2819250" y="49250"/>
            <a:ext cx="60420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¡Excelente! Ahora tenemos bien ubicados los procesos fisiopatológicos del método DAMNIT. </a:t>
            </a:r>
            <a:endParaRPr>
              <a:solidFill>
                <a:srgbClr val="595959"/>
              </a:solidFill>
              <a:latin typeface="Times New Roman"/>
              <a:ea typeface="Times New Roman"/>
              <a:cs typeface="Times New Roman"/>
              <a:sym typeface="Times New Roman"/>
            </a:endParaRPr>
          </a:p>
        </p:txBody>
      </p:sp>
      <p:sp>
        <p:nvSpPr>
          <p:cNvPr id="465" name="Google Shape;465;p47"/>
          <p:cNvSpPr txBox="1"/>
          <p:nvPr/>
        </p:nvSpPr>
        <p:spPr>
          <a:xfrm>
            <a:off x="2819250" y="1024725"/>
            <a:ext cx="6162900" cy="6156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Revisa con detenimiento cada proceso fisiopatológico de nuevo. </a:t>
            </a:r>
            <a:endParaRPr>
              <a:solidFill>
                <a:srgbClr val="595959"/>
              </a:solidFill>
              <a:latin typeface="Times New Roman"/>
              <a:ea typeface="Times New Roman"/>
              <a:cs typeface="Times New Roman"/>
              <a:sym typeface="Times New Roman"/>
            </a:endParaRPr>
          </a:p>
        </p:txBody>
      </p:sp>
      <p:sp>
        <p:nvSpPr>
          <p:cNvPr id="466" name="Google Shape;466;p47"/>
          <p:cNvSpPr txBox="1"/>
          <p:nvPr/>
        </p:nvSpPr>
        <p:spPr>
          <a:xfrm rot="-1789187">
            <a:off x="-20400" y="446464"/>
            <a:ext cx="3159428" cy="1093987"/>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 sz="2800">
                <a:solidFill>
                  <a:srgbClr val="000000"/>
                </a:solidFill>
              </a:rPr>
              <a:t>Posibles causas de enfermedad </a:t>
            </a:r>
            <a:endParaRPr sz="2800">
              <a:solidFill>
                <a:srgbClr val="000000"/>
              </a:solidFill>
            </a:endParaRPr>
          </a:p>
          <a:p>
            <a:pPr indent="0" lvl="0" marL="0" rtl="0" algn="l">
              <a:spcBef>
                <a:spcPts val="0"/>
              </a:spcBef>
              <a:spcAft>
                <a:spcPts val="0"/>
              </a:spcAft>
              <a:buNone/>
            </a:pPr>
            <a:r>
              <a:t/>
            </a:r>
            <a:endParaRPr sz="2800">
              <a:solidFill>
                <a:srgbClr val="0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8"/>
          <p:cNvSpPr txBox="1"/>
          <p:nvPr>
            <p:ph type="title"/>
          </p:nvPr>
        </p:nvSpPr>
        <p:spPr>
          <a:xfrm>
            <a:off x="311700" y="1079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DAMNIT vs lista maestra </a:t>
            </a:r>
            <a:endParaRPr/>
          </a:p>
        </p:txBody>
      </p:sp>
      <p:graphicFrame>
        <p:nvGraphicFramePr>
          <p:cNvPr id="472" name="Google Shape;472;p48"/>
          <p:cNvGraphicFramePr/>
          <p:nvPr/>
        </p:nvGraphicFramePr>
        <p:xfrm>
          <a:off x="311711" y="651655"/>
          <a:ext cx="3000000" cy="3000000"/>
        </p:xfrm>
        <a:graphic>
          <a:graphicData uri="http://schemas.openxmlformats.org/drawingml/2006/table">
            <a:tbl>
              <a:tblPr>
                <a:noFill/>
                <a:tableStyleId>{4DF54483-8325-43BE-8346-27B4DF7EC6F3}</a:tableStyleId>
              </a:tblPr>
              <a:tblGrid>
                <a:gridCol w="4028050"/>
                <a:gridCol w="459825"/>
              </a:tblGrid>
              <a:tr h="228600">
                <a:tc>
                  <a:txBody>
                    <a:bodyPr/>
                    <a:lstStyle/>
                    <a:p>
                      <a:pPr indent="0" lvl="0" marL="0" marR="0" rtl="0" algn="l">
                        <a:spcBef>
                          <a:spcPts val="0"/>
                        </a:spcBef>
                        <a:spcAft>
                          <a:spcPts val="0"/>
                        </a:spcAft>
                        <a:buNone/>
                      </a:pPr>
                      <a:r>
                        <a:rPr lang="es" sz="1800"/>
                        <a:t>Degenerativo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Desarrollo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Alérgico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Autoinmune</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Metabólico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Mecánico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Neoplásico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Nutricional</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Idiopático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Inmunomediado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Inflamatorio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Infeccioso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Traumático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Tóxico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73" name="Google Shape;473;p48"/>
          <p:cNvSpPr txBox="1"/>
          <p:nvPr/>
        </p:nvSpPr>
        <p:spPr>
          <a:xfrm>
            <a:off x="4915450" y="1516550"/>
            <a:ext cx="3911100" cy="1725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AutoNum type="romanUcPeriod"/>
            </a:pPr>
            <a:r>
              <a:rPr b="1" lang="es" sz="1800">
                <a:solidFill>
                  <a:schemeClr val="dk2"/>
                </a:solidFill>
              </a:rPr>
              <a:t>Parasitosis severa   ( 1, 2, 4, 5, 6, 9).</a:t>
            </a:r>
            <a:endParaRPr b="1" sz="1800">
              <a:solidFill>
                <a:schemeClr val="dk2"/>
              </a:solidFill>
            </a:endParaRPr>
          </a:p>
          <a:p>
            <a:pPr indent="0" lvl="0" marL="0" rtl="0" algn="l">
              <a:lnSpc>
                <a:spcPct val="115000"/>
              </a:lnSpc>
              <a:spcBef>
                <a:spcPts val="1200"/>
              </a:spcBef>
              <a:spcAft>
                <a:spcPts val="0"/>
              </a:spcAft>
              <a:buClr>
                <a:schemeClr val="dk1"/>
              </a:buClr>
              <a:buSzPts val="1100"/>
              <a:buFont typeface="Arial"/>
              <a:buNone/>
            </a:pPr>
            <a:r>
              <a:t/>
            </a:r>
            <a:endParaRPr sz="1800">
              <a:solidFill>
                <a:schemeClr val="dk2"/>
              </a:solidFill>
            </a:endParaRPr>
          </a:p>
          <a:p>
            <a:pPr indent="-330200" lvl="0" marL="457200" rtl="0" algn="l">
              <a:lnSpc>
                <a:spcPct val="115000"/>
              </a:lnSpc>
              <a:spcBef>
                <a:spcPts val="1200"/>
              </a:spcBef>
              <a:spcAft>
                <a:spcPts val="0"/>
              </a:spcAft>
              <a:buClr>
                <a:schemeClr val="dk2"/>
              </a:buClr>
              <a:buSzPts val="1600"/>
              <a:buAutoNum type="romanUcPeriod"/>
            </a:pPr>
            <a:r>
              <a:rPr lang="es" sz="1800">
                <a:solidFill>
                  <a:schemeClr val="dk2"/>
                </a:solidFill>
              </a:rPr>
              <a:t>Tos y estornudos ( 3, 4, 5, 8, 9).</a:t>
            </a:r>
            <a:endParaRPr b="1" sz="1600">
              <a:solidFill>
                <a:schemeClr val="dk2"/>
              </a:solidFill>
            </a:endParaRPr>
          </a:p>
        </p:txBody>
      </p:sp>
      <p:sp>
        <p:nvSpPr>
          <p:cNvPr id="474" name="Google Shape;474;p48"/>
          <p:cNvSpPr txBox="1"/>
          <p:nvPr/>
        </p:nvSpPr>
        <p:spPr>
          <a:xfrm>
            <a:off x="4915450" y="145100"/>
            <a:ext cx="42603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de la lista de procesos DAMNIT, selecciona aquellos que </a:t>
            </a:r>
            <a:r>
              <a:rPr lang="es" sz="1800">
                <a:solidFill>
                  <a:schemeClr val="dk2"/>
                </a:solidFill>
              </a:rPr>
              <a:t>están</a:t>
            </a:r>
            <a:r>
              <a:rPr lang="es" sz="1800">
                <a:solidFill>
                  <a:schemeClr val="dk2"/>
                </a:solidFill>
              </a:rPr>
              <a:t> relacionados con cada problema maestro </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9"/>
          <p:cNvSpPr txBox="1"/>
          <p:nvPr>
            <p:ph type="title"/>
          </p:nvPr>
        </p:nvSpPr>
        <p:spPr>
          <a:xfrm>
            <a:off x="311700" y="10797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DAMNIT vs lista maestra </a:t>
            </a:r>
            <a:endParaRPr/>
          </a:p>
        </p:txBody>
      </p:sp>
      <p:graphicFrame>
        <p:nvGraphicFramePr>
          <p:cNvPr id="480" name="Google Shape;480;p49"/>
          <p:cNvGraphicFramePr/>
          <p:nvPr/>
        </p:nvGraphicFramePr>
        <p:xfrm>
          <a:off x="311711" y="639017"/>
          <a:ext cx="3000000" cy="3000000"/>
        </p:xfrm>
        <a:graphic>
          <a:graphicData uri="http://schemas.openxmlformats.org/drawingml/2006/table">
            <a:tbl>
              <a:tblPr>
                <a:noFill/>
                <a:tableStyleId>{4DF54483-8325-43BE-8346-27B4DF7EC6F3}</a:tableStyleId>
              </a:tblPr>
              <a:tblGrid>
                <a:gridCol w="4028050"/>
                <a:gridCol w="459825"/>
              </a:tblGrid>
              <a:tr h="228600">
                <a:tc>
                  <a:txBody>
                    <a:bodyPr/>
                    <a:lstStyle/>
                    <a:p>
                      <a:pPr indent="0" lvl="0" marL="0" marR="0" rtl="0" algn="l">
                        <a:spcBef>
                          <a:spcPts val="0"/>
                        </a:spcBef>
                        <a:spcAft>
                          <a:spcPts val="0"/>
                        </a:spcAft>
                        <a:buNone/>
                      </a:pPr>
                      <a:r>
                        <a:rPr lang="es" sz="1800"/>
                        <a:t>Degenerativo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Desarrollo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Alérgico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sz="1800"/>
                        <a:t>*</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Autoinmune</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Metabólico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Mecánico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Neoplásico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Nutricional</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Idiopático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Inmunomediado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Inflamatorio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Infeccioso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a:t>*</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Traumático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00000"/>
                        </a:lnSpc>
                        <a:spcBef>
                          <a:spcPts val="0"/>
                        </a:spcBef>
                        <a:spcAft>
                          <a:spcPts val="0"/>
                        </a:spcAft>
                        <a:buClr>
                          <a:srgbClr val="000000"/>
                        </a:buClr>
                        <a:buSzPts val="1800"/>
                        <a:buFont typeface="Calibri"/>
                        <a:buNone/>
                      </a:pPr>
                      <a:r>
                        <a:rPr lang="es" sz="1800"/>
                        <a:t>Tóxico</a:t>
                      </a:r>
                      <a:endParaRPr/>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spcBef>
                          <a:spcPts val="0"/>
                        </a:spcBef>
                        <a:spcAft>
                          <a:spcPts val="0"/>
                        </a:spcAft>
                        <a:buNone/>
                      </a:pPr>
                      <a:r>
                        <a:rPr lang="es" sz="1800"/>
                        <a:t>*</a:t>
                      </a:r>
                      <a:endParaRPr sz="1800"/>
                    </a:p>
                  </a:txBody>
                  <a:tcPr marT="0" marB="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481" name="Google Shape;481;p49"/>
          <p:cNvSpPr txBox="1"/>
          <p:nvPr/>
        </p:nvSpPr>
        <p:spPr>
          <a:xfrm>
            <a:off x="4915450" y="1570150"/>
            <a:ext cx="4043400" cy="10989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0"/>
              </a:spcBef>
              <a:spcAft>
                <a:spcPts val="0"/>
              </a:spcAft>
              <a:buClr>
                <a:schemeClr val="dk2"/>
              </a:buClr>
              <a:buSzPts val="1800"/>
              <a:buAutoNum type="romanUcPeriod"/>
            </a:pPr>
            <a:r>
              <a:rPr lang="es" sz="1800">
                <a:solidFill>
                  <a:schemeClr val="dk2"/>
                </a:solidFill>
              </a:rPr>
              <a:t>Parasitosis severa   ( 1, 2, 4, 5, 6, 9).</a:t>
            </a:r>
            <a:endParaRPr sz="1800">
              <a:solidFill>
                <a:schemeClr val="dk2"/>
              </a:solidFill>
            </a:endParaRPr>
          </a:p>
          <a:p>
            <a:pPr indent="-330200" lvl="0" marL="457200" rtl="0" algn="l">
              <a:lnSpc>
                <a:spcPct val="115000"/>
              </a:lnSpc>
              <a:spcBef>
                <a:spcPts val="0"/>
              </a:spcBef>
              <a:spcAft>
                <a:spcPts val="0"/>
              </a:spcAft>
              <a:buClr>
                <a:schemeClr val="dk2"/>
              </a:buClr>
              <a:buSzPts val="1600"/>
              <a:buAutoNum type="romanUcPeriod"/>
            </a:pPr>
            <a:r>
              <a:rPr b="1" lang="es" sz="1800">
                <a:solidFill>
                  <a:schemeClr val="dk2"/>
                </a:solidFill>
              </a:rPr>
              <a:t>Tos y estornudos ( 3, 4, 5, 8, 9).</a:t>
            </a:r>
            <a:endParaRPr b="1" sz="1600">
              <a:solidFill>
                <a:schemeClr val="dk2"/>
              </a:solidFill>
            </a:endParaRPr>
          </a:p>
        </p:txBody>
      </p:sp>
      <p:sp>
        <p:nvSpPr>
          <p:cNvPr id="482" name="Google Shape;482;p49"/>
          <p:cNvSpPr txBox="1"/>
          <p:nvPr/>
        </p:nvSpPr>
        <p:spPr>
          <a:xfrm>
            <a:off x="4915450" y="145100"/>
            <a:ext cx="4260300" cy="1293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800">
                <a:solidFill>
                  <a:schemeClr val="dk2"/>
                </a:solidFill>
              </a:rPr>
              <a:t>de la lista de procesos DAMNIT, selecciona aquellos que </a:t>
            </a:r>
            <a:r>
              <a:rPr lang="es" sz="1800">
                <a:solidFill>
                  <a:schemeClr val="dk2"/>
                </a:solidFill>
              </a:rPr>
              <a:t>están</a:t>
            </a:r>
            <a:r>
              <a:rPr lang="es" sz="1800">
                <a:solidFill>
                  <a:schemeClr val="dk2"/>
                </a:solidFill>
              </a:rPr>
              <a:t> relacionados con cada problema maestro </a:t>
            </a:r>
            <a:endParaRPr sz="1800">
              <a:solidFill>
                <a:schemeClr val="dk2"/>
              </a:solidFill>
            </a:endParaRPr>
          </a:p>
        </p:txBody>
      </p:sp>
      <p:sp>
        <p:nvSpPr>
          <p:cNvPr id="483" name="Google Shape;483;p49"/>
          <p:cNvSpPr txBox="1"/>
          <p:nvPr/>
        </p:nvSpPr>
        <p:spPr>
          <a:xfrm>
            <a:off x="5179450" y="2978100"/>
            <a:ext cx="3383100" cy="11082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¡Perfecto! Lograste relacionar el problema maestro de tu paciente con los procesos patológicos del DAMNIT correctamente.</a:t>
            </a:r>
            <a:r>
              <a:rPr lang="es" sz="1800">
                <a:solidFill>
                  <a:srgbClr val="595959"/>
                </a:solidFill>
              </a:rPr>
              <a:t> </a:t>
            </a:r>
            <a:endParaRPr sz="1800">
              <a:solidFill>
                <a:srgbClr val="595959"/>
              </a:solidFill>
            </a:endParaRPr>
          </a:p>
        </p:txBody>
      </p:sp>
      <p:sp>
        <p:nvSpPr>
          <p:cNvPr id="484" name="Google Shape;484;p49"/>
          <p:cNvSpPr txBox="1"/>
          <p:nvPr/>
        </p:nvSpPr>
        <p:spPr>
          <a:xfrm>
            <a:off x="5179450" y="4195251"/>
            <a:ext cx="33831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Analiza detenidamente todos los datos que tienes y qué proceso fisiopatológico puede estar relacionado.</a:t>
            </a:r>
            <a:endParaRPr>
              <a:solidFill>
                <a:srgbClr val="595959"/>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0"/>
          <p:cNvSpPr txBox="1"/>
          <p:nvPr>
            <p:ph type="title"/>
          </p:nvPr>
        </p:nvSpPr>
        <p:spPr>
          <a:xfrm>
            <a:off x="311700" y="44502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lluvia de enfermedades </a:t>
            </a:r>
            <a:endParaRPr/>
          </a:p>
        </p:txBody>
      </p:sp>
      <p:graphicFrame>
        <p:nvGraphicFramePr>
          <p:cNvPr id="490" name="Google Shape;490;p50"/>
          <p:cNvGraphicFramePr/>
          <p:nvPr/>
        </p:nvGraphicFramePr>
        <p:xfrm>
          <a:off x="311692" y="1126313"/>
          <a:ext cx="3000000" cy="3000000"/>
        </p:xfrm>
        <a:graphic>
          <a:graphicData uri="http://schemas.openxmlformats.org/drawingml/2006/table">
            <a:tbl>
              <a:tblPr bandRow="1" firstRow="1">
                <a:noFill/>
                <a:tableStyleId>{A9DDAC80-695F-4E1E-A50D-8878856A436B}</a:tableStyleId>
              </a:tblPr>
              <a:tblGrid>
                <a:gridCol w="1915150"/>
                <a:gridCol w="2894975"/>
              </a:tblGrid>
              <a:tr h="370850">
                <a:tc>
                  <a:txBody>
                    <a:bodyPr/>
                    <a:lstStyle/>
                    <a:p>
                      <a:pPr indent="0" lvl="0" marL="0" marR="0" rtl="0" algn="ctr">
                        <a:spcBef>
                          <a:spcPts val="0"/>
                        </a:spcBef>
                        <a:spcAft>
                          <a:spcPts val="0"/>
                        </a:spcAft>
                        <a:buNone/>
                      </a:pPr>
                      <a:r>
                        <a:rPr lang="es" sz="1600"/>
                        <a:t>Lista maestra</a:t>
                      </a:r>
                      <a:endParaRPr/>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Diagnósticos diferenciales</a:t>
                      </a:r>
                      <a:endParaRPr/>
                    </a:p>
                  </a:txBody>
                  <a:tcPr marT="45725" marB="45725" marR="91450" marL="91450">
                    <a:solidFill>
                      <a:srgbClr val="FFD966"/>
                    </a:solidFill>
                  </a:tcPr>
                </a:tc>
              </a:tr>
              <a:tr h="1260000">
                <a:tc>
                  <a:txBody>
                    <a:bodyPr/>
                    <a:lstStyle/>
                    <a:p>
                      <a:pPr indent="-342900" lvl="0" marL="457200" rtl="0" algn="l">
                        <a:lnSpc>
                          <a:spcPct val="115000"/>
                        </a:lnSpc>
                        <a:spcBef>
                          <a:spcPts val="0"/>
                        </a:spcBef>
                        <a:spcAft>
                          <a:spcPts val="0"/>
                        </a:spcAft>
                        <a:buClr>
                          <a:schemeClr val="dk2"/>
                        </a:buClr>
                        <a:buSzPts val="1800"/>
                        <a:buAutoNum type="romanUcPeriod"/>
                      </a:pPr>
                      <a:r>
                        <a:rPr lang="es" sz="1800">
                          <a:solidFill>
                            <a:schemeClr val="dk2"/>
                          </a:solidFill>
                          <a:latin typeface="Arial"/>
                          <a:ea typeface="Arial"/>
                          <a:cs typeface="Arial"/>
                          <a:sym typeface="Arial"/>
                        </a:rPr>
                        <a:t>Parasitosis severa   ( 1, 2, 4, 5, 6, 9).</a:t>
                      </a:r>
                      <a:endParaRPr sz="1600">
                        <a:solidFill>
                          <a:schemeClr val="dk2"/>
                        </a:solidFill>
                        <a:latin typeface="Arial"/>
                        <a:ea typeface="Arial"/>
                        <a:cs typeface="Arial"/>
                        <a:sym typeface="Arial"/>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t/>
                      </a:r>
                      <a:endParaRPr sz="1200">
                        <a:solidFill>
                          <a:schemeClr val="dk1"/>
                        </a:solidFill>
                        <a:latin typeface="Arial"/>
                        <a:ea typeface="Arial"/>
                        <a:cs typeface="Arial"/>
                        <a:sym typeface="Arial"/>
                      </a:endParaRPr>
                    </a:p>
                  </a:txBody>
                  <a:tcPr marT="45725" marB="45725" marR="91450" marL="91450">
                    <a:solidFill>
                      <a:srgbClr val="FFE599"/>
                    </a:solidFill>
                  </a:tcPr>
                </a:tc>
              </a:tr>
              <a:tr h="1260000">
                <a:tc>
                  <a:txBody>
                    <a:bodyPr/>
                    <a:lstStyle/>
                    <a:p>
                      <a:pPr indent="0" lvl="0" marL="0" rtl="0" algn="l">
                        <a:lnSpc>
                          <a:spcPct val="115000"/>
                        </a:lnSpc>
                        <a:spcBef>
                          <a:spcPts val="0"/>
                        </a:spcBef>
                        <a:spcAft>
                          <a:spcPts val="1200"/>
                        </a:spcAft>
                        <a:buNone/>
                      </a:pPr>
                      <a:r>
                        <a:rPr lang="es" sz="1800">
                          <a:solidFill>
                            <a:schemeClr val="dk2"/>
                          </a:solidFill>
                          <a:latin typeface="Arial"/>
                          <a:ea typeface="Arial"/>
                          <a:cs typeface="Arial"/>
                          <a:sym typeface="Arial"/>
                        </a:rPr>
                        <a:t>II. </a:t>
                      </a:r>
                      <a:r>
                        <a:rPr lang="es" sz="1800">
                          <a:solidFill>
                            <a:schemeClr val="dk2"/>
                          </a:solidFill>
                          <a:latin typeface="Arial"/>
                          <a:ea typeface="Arial"/>
                          <a:cs typeface="Arial"/>
                          <a:sym typeface="Arial"/>
                        </a:rPr>
                        <a:t>Tos y estornudos ( 3, 4, 5, 8, 9).</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t/>
                      </a:r>
                      <a:endParaRPr sz="1200">
                        <a:solidFill>
                          <a:schemeClr val="dk1"/>
                        </a:solidFill>
                        <a:latin typeface="Arial"/>
                        <a:ea typeface="Arial"/>
                        <a:cs typeface="Arial"/>
                        <a:sym typeface="Arial"/>
                      </a:endParaRPr>
                    </a:p>
                  </a:txBody>
                  <a:tcPr marT="45725" marB="45725" marR="91450" marL="91450">
                    <a:solidFill>
                      <a:srgbClr val="FFE599"/>
                    </a:solidFill>
                  </a:tcPr>
                </a:tc>
              </a:tr>
            </a:tbl>
          </a:graphicData>
        </a:graphic>
      </p:graphicFrame>
      <p:graphicFrame>
        <p:nvGraphicFramePr>
          <p:cNvPr id="491" name="Google Shape;491;p50"/>
          <p:cNvGraphicFramePr/>
          <p:nvPr/>
        </p:nvGraphicFramePr>
        <p:xfrm>
          <a:off x="5253850" y="1473943"/>
          <a:ext cx="3000000" cy="3000000"/>
        </p:xfrm>
        <a:graphic>
          <a:graphicData uri="http://schemas.openxmlformats.org/drawingml/2006/table">
            <a:tbl>
              <a:tblPr>
                <a:noFill/>
                <a:tableStyleId>{92B18CB4-C942-4677-B446-B40BB0A2A31A}</a:tableStyleId>
              </a:tblPr>
              <a:tblGrid>
                <a:gridCol w="1489600"/>
                <a:gridCol w="1489600"/>
              </a:tblGrid>
              <a:tr h="269400">
                <a:tc>
                  <a:txBody>
                    <a:bodyPr/>
                    <a:lstStyle/>
                    <a:p>
                      <a:pPr indent="0" lvl="0" marL="0" rtl="0" algn="l">
                        <a:spcBef>
                          <a:spcPts val="0"/>
                        </a:spcBef>
                        <a:spcAft>
                          <a:spcPts val="0"/>
                        </a:spcAft>
                        <a:buNone/>
                      </a:pPr>
                      <a:r>
                        <a:rPr lang="es" sz="1200"/>
                        <a:t>Haemoncosis </a:t>
                      </a:r>
                      <a:endParaRPr sz="1200"/>
                    </a:p>
                  </a:txBody>
                  <a:tcPr marT="91425" marB="91425" marR="91425" marL="91425"/>
                </a:tc>
                <a:tc>
                  <a:txBody>
                    <a:bodyPr/>
                    <a:lstStyle/>
                    <a:p>
                      <a:pPr indent="0" lvl="0" marL="0" rtl="0" algn="l">
                        <a:spcBef>
                          <a:spcPts val="0"/>
                        </a:spcBef>
                        <a:spcAft>
                          <a:spcPts val="0"/>
                        </a:spcAft>
                        <a:buNone/>
                      </a:pPr>
                      <a:r>
                        <a:rPr lang="es" sz="1200"/>
                        <a:t>herpesvirus aprino tipo 1  </a:t>
                      </a:r>
                      <a:endParaRPr sz="1200"/>
                    </a:p>
                  </a:txBody>
                  <a:tcPr marT="91425" marB="91425" marR="91425" marL="91425"/>
                </a:tc>
              </a:tr>
              <a:tr h="538825">
                <a:tc>
                  <a:txBody>
                    <a:bodyPr/>
                    <a:lstStyle/>
                    <a:p>
                      <a:pPr indent="0" lvl="0" marL="0" rtl="0" algn="l">
                        <a:spcBef>
                          <a:spcPts val="0"/>
                        </a:spcBef>
                        <a:spcAft>
                          <a:spcPts val="0"/>
                        </a:spcAft>
                        <a:buNone/>
                      </a:pPr>
                      <a:r>
                        <a:rPr lang="es" sz="1200"/>
                        <a:t>Parasitosis por </a:t>
                      </a:r>
                      <a:r>
                        <a:rPr i="1" lang="es" sz="1200"/>
                        <a:t>Oesophagostomum sp</a:t>
                      </a:r>
                      <a:endParaRPr i="1" sz="1200"/>
                    </a:p>
                  </a:txBody>
                  <a:tcPr marT="91425" marB="91425" marR="91425" marL="91425"/>
                </a:tc>
                <a:tc>
                  <a:txBody>
                    <a:bodyPr/>
                    <a:lstStyle/>
                    <a:p>
                      <a:pPr indent="0" lvl="0" marL="0" rtl="0" algn="l">
                        <a:spcBef>
                          <a:spcPts val="0"/>
                        </a:spcBef>
                        <a:spcAft>
                          <a:spcPts val="0"/>
                        </a:spcAft>
                        <a:buNone/>
                      </a:pPr>
                      <a:r>
                        <a:rPr lang="es" sz="1200"/>
                        <a:t>Pasteurelosis </a:t>
                      </a:r>
                      <a:endParaRPr sz="1200"/>
                    </a:p>
                  </a:txBody>
                  <a:tcPr marT="91425" marB="91425" marR="91425" marL="91425"/>
                </a:tc>
              </a:tr>
              <a:tr h="404125">
                <a:tc>
                  <a:txBody>
                    <a:bodyPr/>
                    <a:lstStyle/>
                    <a:p>
                      <a:pPr indent="0" lvl="0" marL="0" rtl="0" algn="l">
                        <a:spcBef>
                          <a:spcPts val="0"/>
                        </a:spcBef>
                        <a:spcAft>
                          <a:spcPts val="0"/>
                        </a:spcAft>
                        <a:buNone/>
                      </a:pPr>
                      <a:r>
                        <a:rPr lang="es" sz="1200"/>
                        <a:t>Parasitosis por </a:t>
                      </a:r>
                      <a:r>
                        <a:rPr i="1" lang="es" sz="1200"/>
                        <a:t>Tricostrongylus sp</a:t>
                      </a:r>
                      <a:endParaRPr i="1" sz="1200"/>
                    </a:p>
                  </a:txBody>
                  <a:tcPr marT="91425" marB="91425" marR="91425" marL="91425"/>
                </a:tc>
                <a:tc>
                  <a:txBody>
                    <a:bodyPr/>
                    <a:lstStyle/>
                    <a:p>
                      <a:pPr indent="0" lvl="0" marL="0" rtl="0" algn="l">
                        <a:spcBef>
                          <a:spcPts val="0"/>
                        </a:spcBef>
                        <a:spcAft>
                          <a:spcPts val="0"/>
                        </a:spcAft>
                        <a:buNone/>
                      </a:pPr>
                      <a:r>
                        <a:rPr lang="es" sz="1200"/>
                        <a:t>parasitosis por oestrus ovis </a:t>
                      </a:r>
                      <a:r>
                        <a:rPr lang="es" sz="1200"/>
                        <a:t> </a:t>
                      </a:r>
                      <a:endParaRPr sz="1200"/>
                    </a:p>
                  </a:txBody>
                  <a:tcPr marT="91425" marB="91425" marR="91425" marL="91425"/>
                </a:tc>
              </a:tr>
              <a:tr h="269400">
                <a:tc>
                  <a:txBody>
                    <a:bodyPr/>
                    <a:lstStyle/>
                    <a:p>
                      <a:pPr indent="0" lvl="0" marL="0" rtl="0" algn="l">
                        <a:spcBef>
                          <a:spcPts val="0"/>
                        </a:spcBef>
                        <a:spcAft>
                          <a:spcPts val="0"/>
                        </a:spcAft>
                        <a:buNone/>
                      </a:pPr>
                      <a:r>
                        <a:rPr lang="es" sz="1200"/>
                        <a:t>Acidosis ruminal  </a:t>
                      </a:r>
                      <a:endParaRPr sz="1200"/>
                    </a:p>
                  </a:txBody>
                  <a:tcPr marT="91425" marB="91425" marR="91425" marL="91425"/>
                </a:tc>
                <a:tc>
                  <a:txBody>
                    <a:bodyPr/>
                    <a:lstStyle/>
                    <a:p>
                      <a:pPr indent="0" lvl="0" marL="0" rtl="0" algn="l">
                        <a:spcBef>
                          <a:spcPts val="0"/>
                        </a:spcBef>
                        <a:spcAft>
                          <a:spcPts val="0"/>
                        </a:spcAft>
                        <a:buNone/>
                      </a:pPr>
                      <a:r>
                        <a:rPr lang="es" sz="1200"/>
                        <a:t>Mycoplasmosis </a:t>
                      </a:r>
                      <a:endParaRPr sz="1200"/>
                    </a:p>
                  </a:txBody>
                  <a:tcPr marT="91425" marB="91425" marR="91425" marL="91425"/>
                </a:tc>
              </a:tr>
              <a:tr h="281975">
                <a:tc>
                  <a:txBody>
                    <a:bodyPr/>
                    <a:lstStyle/>
                    <a:p>
                      <a:pPr indent="0" lvl="0" marL="0" rtl="0" algn="l">
                        <a:spcBef>
                          <a:spcPts val="0"/>
                        </a:spcBef>
                        <a:spcAft>
                          <a:spcPts val="0"/>
                        </a:spcAft>
                        <a:buNone/>
                      </a:pPr>
                      <a:r>
                        <a:rPr lang="es" sz="1200"/>
                        <a:t>Coccidiosis </a:t>
                      </a:r>
                      <a:endParaRPr sz="1200"/>
                    </a:p>
                  </a:txBody>
                  <a:tcPr marT="91425" marB="91425" marR="91425" marL="91425"/>
                </a:tc>
                <a:tc>
                  <a:txBody>
                    <a:bodyPr/>
                    <a:lstStyle/>
                    <a:p>
                      <a:pPr indent="0" lvl="0" marL="0" rtl="0" algn="l">
                        <a:spcBef>
                          <a:spcPts val="0"/>
                        </a:spcBef>
                        <a:spcAft>
                          <a:spcPts val="0"/>
                        </a:spcAft>
                        <a:buNone/>
                      </a:pPr>
                      <a:r>
                        <a:rPr lang="es" sz="1200"/>
                        <a:t>Mannheimiosis</a:t>
                      </a:r>
                      <a:r>
                        <a:rPr lang="es" sz="1200"/>
                        <a:t> </a:t>
                      </a:r>
                      <a:endParaRPr sz="1200"/>
                    </a:p>
                  </a:txBody>
                  <a:tcPr marT="91425" marB="91425" marR="91425" marL="91425"/>
                </a:tc>
              </a:tr>
              <a:tr h="272200">
                <a:tc>
                  <a:txBody>
                    <a:bodyPr/>
                    <a:lstStyle/>
                    <a:p>
                      <a:pPr indent="0" lvl="0" marL="0" rtl="0" algn="l">
                        <a:spcBef>
                          <a:spcPts val="0"/>
                        </a:spcBef>
                        <a:spcAft>
                          <a:spcPts val="0"/>
                        </a:spcAft>
                        <a:buNone/>
                      </a:pPr>
                      <a:r>
                        <a:rPr lang="es" sz="1200"/>
                        <a:t>virus respiratorio sincitial </a:t>
                      </a:r>
                      <a:endParaRPr sz="1200"/>
                    </a:p>
                  </a:txBody>
                  <a:tcPr marT="91425" marB="91425" marR="91425" marL="91425"/>
                </a:tc>
                <a:tc>
                  <a:txBody>
                    <a:bodyPr/>
                    <a:lstStyle/>
                    <a:p>
                      <a:pPr indent="0" lvl="0" marL="0" rtl="0" algn="l">
                        <a:spcBef>
                          <a:spcPts val="0"/>
                        </a:spcBef>
                        <a:spcAft>
                          <a:spcPts val="0"/>
                        </a:spcAft>
                        <a:buNone/>
                      </a:pPr>
                      <a:r>
                        <a:rPr lang="es" sz="1200"/>
                        <a:t> Brucelosis </a:t>
                      </a:r>
                      <a:endParaRPr sz="1200"/>
                    </a:p>
                  </a:txBody>
                  <a:tcPr marT="91425" marB="91425" marR="91425" marL="91425"/>
                </a:tc>
              </a:tr>
              <a:tr h="272200">
                <a:tc>
                  <a:txBody>
                    <a:bodyPr/>
                    <a:lstStyle/>
                    <a:p>
                      <a:pPr indent="0" lvl="0" marL="0" rtl="0" algn="l">
                        <a:spcBef>
                          <a:spcPts val="0"/>
                        </a:spcBef>
                        <a:spcAft>
                          <a:spcPts val="0"/>
                        </a:spcAft>
                        <a:buNone/>
                      </a:pPr>
                      <a:r>
                        <a:rPr lang="es" sz="1200"/>
                        <a:t>ectima contagioso </a:t>
                      </a:r>
                      <a:endParaRPr sz="1200"/>
                    </a:p>
                  </a:txBody>
                  <a:tcPr marT="91425" marB="91425" marR="91425" marL="91425"/>
                </a:tc>
                <a:tc>
                  <a:txBody>
                    <a:bodyPr/>
                    <a:lstStyle/>
                    <a:p>
                      <a:pPr indent="0" lvl="0" marL="0" rtl="0" algn="l">
                        <a:spcBef>
                          <a:spcPts val="0"/>
                        </a:spcBef>
                        <a:spcAft>
                          <a:spcPts val="0"/>
                        </a:spcAft>
                        <a:buNone/>
                      </a:pPr>
                      <a:r>
                        <a:rPr lang="es" sz="1200"/>
                        <a:t>parainfluenza-3</a:t>
                      </a:r>
                      <a:endParaRPr sz="1200"/>
                    </a:p>
                  </a:txBody>
                  <a:tcPr marT="91425" marB="91425" marR="91425" marL="91425"/>
                </a:tc>
              </a:tr>
            </a:tbl>
          </a:graphicData>
        </a:graphic>
      </p:graphicFrame>
      <p:sp>
        <p:nvSpPr>
          <p:cNvPr id="492" name="Google Shape;492;p50"/>
          <p:cNvSpPr txBox="1"/>
          <p:nvPr/>
        </p:nvSpPr>
        <p:spPr>
          <a:xfrm>
            <a:off x="5446050" y="352000"/>
            <a:ext cx="3721800" cy="11082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500">
                <a:solidFill>
                  <a:schemeClr val="dk2"/>
                </a:solidFill>
              </a:rPr>
              <a:t>D</a:t>
            </a:r>
            <a:r>
              <a:rPr lang="es" sz="1500">
                <a:solidFill>
                  <a:schemeClr val="dk2"/>
                </a:solidFill>
              </a:rPr>
              <a:t>e las enfermedades enlistadas a la derecha, selecciona y coloca aquellas que puedan explicar cada problema maestro </a:t>
            </a:r>
            <a:endParaRPr sz="15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1"/>
          <p:cNvSpPr txBox="1"/>
          <p:nvPr/>
        </p:nvSpPr>
        <p:spPr>
          <a:xfrm>
            <a:off x="5265350" y="1294400"/>
            <a:ext cx="3505500" cy="10467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correcta</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¡Muy bien! Has establecido ahora tus diagnósticos diferenciales para cada uno de los problemas maestros  </a:t>
            </a:r>
            <a:endParaRPr>
              <a:solidFill>
                <a:srgbClr val="595959"/>
              </a:solidFill>
              <a:latin typeface="Times New Roman"/>
              <a:ea typeface="Times New Roman"/>
              <a:cs typeface="Times New Roman"/>
              <a:sym typeface="Times New Roman"/>
            </a:endParaRPr>
          </a:p>
        </p:txBody>
      </p:sp>
      <p:sp>
        <p:nvSpPr>
          <p:cNvPr id="498" name="Google Shape;498;p51"/>
          <p:cNvSpPr txBox="1"/>
          <p:nvPr/>
        </p:nvSpPr>
        <p:spPr>
          <a:xfrm>
            <a:off x="5265350" y="2617775"/>
            <a:ext cx="3505500" cy="831300"/>
          </a:xfrm>
          <a:prstGeom prst="rect">
            <a:avLst/>
          </a:prstGeom>
          <a:solidFill>
            <a:srgbClr val="00FF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Retroalimentación incorrecta </a:t>
            </a:r>
            <a:endParaRPr>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a:solidFill>
                  <a:srgbClr val="595959"/>
                </a:solidFill>
                <a:latin typeface="Times New Roman"/>
                <a:ea typeface="Times New Roman"/>
                <a:cs typeface="Times New Roman"/>
                <a:sym typeface="Times New Roman"/>
              </a:rPr>
              <a:t>¡Ups! toma en consideración los sistemas y aparatos que están mayormente afectados </a:t>
            </a:r>
            <a:endParaRPr>
              <a:solidFill>
                <a:srgbClr val="595959"/>
              </a:solidFill>
              <a:latin typeface="Times New Roman"/>
              <a:ea typeface="Times New Roman"/>
              <a:cs typeface="Times New Roman"/>
              <a:sym typeface="Times New Roman"/>
            </a:endParaRPr>
          </a:p>
        </p:txBody>
      </p:sp>
      <p:sp>
        <p:nvSpPr>
          <p:cNvPr id="499" name="Google Shape;499;p51"/>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Lluvia de enfermedades </a:t>
            </a:r>
            <a:endParaRPr sz="3500">
              <a:solidFill>
                <a:srgbClr val="000000"/>
              </a:solidFill>
            </a:endParaRPr>
          </a:p>
          <a:p>
            <a:pPr indent="0" lvl="0" marL="0" rtl="0" algn="l">
              <a:spcBef>
                <a:spcPts val="0"/>
              </a:spcBef>
              <a:spcAft>
                <a:spcPts val="0"/>
              </a:spcAft>
              <a:buNone/>
            </a:pPr>
            <a:r>
              <a:t/>
            </a:r>
            <a:endParaRPr sz="3500">
              <a:solidFill>
                <a:srgbClr val="000000"/>
              </a:solidFill>
            </a:endParaRPr>
          </a:p>
        </p:txBody>
      </p:sp>
      <p:graphicFrame>
        <p:nvGraphicFramePr>
          <p:cNvPr id="500" name="Google Shape;500;p51"/>
          <p:cNvGraphicFramePr/>
          <p:nvPr/>
        </p:nvGraphicFramePr>
        <p:xfrm>
          <a:off x="311692" y="1126313"/>
          <a:ext cx="3000000" cy="3000000"/>
        </p:xfrm>
        <a:graphic>
          <a:graphicData uri="http://schemas.openxmlformats.org/drawingml/2006/table">
            <a:tbl>
              <a:tblPr bandRow="1" firstRow="1">
                <a:noFill/>
                <a:tableStyleId>{A9DDAC80-695F-4E1E-A50D-8878856A436B}</a:tableStyleId>
              </a:tblPr>
              <a:tblGrid>
                <a:gridCol w="1915150"/>
                <a:gridCol w="2894975"/>
              </a:tblGrid>
              <a:tr h="445425">
                <a:tc>
                  <a:txBody>
                    <a:bodyPr/>
                    <a:lstStyle/>
                    <a:p>
                      <a:pPr indent="0" lvl="0" marL="0" marR="0" rtl="0" algn="ctr">
                        <a:spcBef>
                          <a:spcPts val="0"/>
                        </a:spcBef>
                        <a:spcAft>
                          <a:spcPts val="0"/>
                        </a:spcAft>
                        <a:buNone/>
                      </a:pPr>
                      <a:r>
                        <a:rPr lang="es" sz="1600"/>
                        <a:t>Lista maestra</a:t>
                      </a:r>
                      <a:endParaRPr/>
                    </a:p>
                  </a:txBody>
                  <a:tcPr marT="45725" marB="45725" marR="91450" marL="91450">
                    <a:solidFill>
                      <a:srgbClr val="FFD966"/>
                    </a:solidFill>
                  </a:tcPr>
                </a:tc>
                <a:tc>
                  <a:txBody>
                    <a:bodyPr/>
                    <a:lstStyle/>
                    <a:p>
                      <a:pPr indent="0" lvl="0" marL="0" marR="0" rtl="0" algn="ctr">
                        <a:spcBef>
                          <a:spcPts val="0"/>
                        </a:spcBef>
                        <a:spcAft>
                          <a:spcPts val="0"/>
                        </a:spcAft>
                        <a:buNone/>
                      </a:pPr>
                      <a:r>
                        <a:rPr lang="es" sz="1600"/>
                        <a:t>Diagnósticos diferenciales</a:t>
                      </a:r>
                      <a:endParaRPr/>
                    </a:p>
                  </a:txBody>
                  <a:tcPr marT="45725" marB="45725" marR="91450" marL="91450">
                    <a:solidFill>
                      <a:srgbClr val="FFD966"/>
                    </a:solidFill>
                  </a:tcPr>
                </a:tc>
              </a:tr>
              <a:tr h="1513375">
                <a:tc>
                  <a:txBody>
                    <a:bodyPr/>
                    <a:lstStyle/>
                    <a:p>
                      <a:pPr indent="-342900" lvl="0" marL="457200" rtl="0" algn="l">
                        <a:lnSpc>
                          <a:spcPct val="115000"/>
                        </a:lnSpc>
                        <a:spcBef>
                          <a:spcPts val="0"/>
                        </a:spcBef>
                        <a:spcAft>
                          <a:spcPts val="0"/>
                        </a:spcAft>
                        <a:buClr>
                          <a:schemeClr val="dk2"/>
                        </a:buClr>
                        <a:buSzPts val="1800"/>
                        <a:buAutoNum type="romanUcPeriod"/>
                      </a:pPr>
                      <a:r>
                        <a:rPr lang="es" sz="1800">
                          <a:solidFill>
                            <a:schemeClr val="dk2"/>
                          </a:solidFill>
                          <a:latin typeface="Arial"/>
                          <a:ea typeface="Arial"/>
                          <a:cs typeface="Arial"/>
                          <a:sym typeface="Arial"/>
                        </a:rPr>
                        <a:t>Parasitosis severa   ( 1, 2, 4, 5, 6, 9).</a:t>
                      </a:r>
                      <a:endParaRPr sz="1600">
                        <a:solidFill>
                          <a:schemeClr val="dk2"/>
                        </a:solidFill>
                        <a:latin typeface="Arial"/>
                        <a:ea typeface="Arial"/>
                        <a:cs typeface="Arial"/>
                        <a:sym typeface="Arial"/>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Haemoncosis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Parasitosis por </a:t>
                      </a:r>
                      <a:r>
                        <a:rPr i="1" lang="es" sz="1200">
                          <a:solidFill>
                            <a:schemeClr val="dk1"/>
                          </a:solidFill>
                          <a:latin typeface="Arial"/>
                          <a:ea typeface="Arial"/>
                          <a:cs typeface="Arial"/>
                          <a:sym typeface="Arial"/>
                        </a:rPr>
                        <a:t>Oesophagostomum sp</a:t>
                      </a:r>
                      <a:endParaRPr i="1"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Parasitosis por </a:t>
                      </a:r>
                      <a:r>
                        <a:rPr i="1" lang="es" sz="1200">
                          <a:solidFill>
                            <a:schemeClr val="dk1"/>
                          </a:solidFill>
                          <a:latin typeface="Arial"/>
                          <a:ea typeface="Arial"/>
                          <a:cs typeface="Arial"/>
                          <a:sym typeface="Arial"/>
                        </a:rPr>
                        <a:t>Trichostrongylus sp</a:t>
                      </a:r>
                      <a:endParaRPr i="1"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Coccidiosis </a:t>
                      </a:r>
                      <a:endParaRPr sz="1800">
                        <a:solidFill>
                          <a:schemeClr val="dk1"/>
                        </a:solidFill>
                      </a:endParaRPr>
                    </a:p>
                  </a:txBody>
                  <a:tcPr marT="45725" marB="45725" marR="91450" marL="91450">
                    <a:solidFill>
                      <a:srgbClr val="FFE599"/>
                    </a:solidFill>
                  </a:tcPr>
                </a:tc>
              </a:tr>
              <a:tr h="1513375">
                <a:tc>
                  <a:txBody>
                    <a:bodyPr/>
                    <a:lstStyle/>
                    <a:p>
                      <a:pPr indent="0" lvl="0" marL="0" rtl="0" algn="l">
                        <a:lnSpc>
                          <a:spcPct val="115000"/>
                        </a:lnSpc>
                        <a:spcBef>
                          <a:spcPts val="0"/>
                        </a:spcBef>
                        <a:spcAft>
                          <a:spcPts val="1200"/>
                        </a:spcAft>
                        <a:buNone/>
                      </a:pPr>
                      <a:r>
                        <a:rPr lang="es" sz="1800">
                          <a:solidFill>
                            <a:schemeClr val="dk2"/>
                          </a:solidFill>
                          <a:latin typeface="Arial"/>
                          <a:ea typeface="Arial"/>
                          <a:cs typeface="Arial"/>
                          <a:sym typeface="Arial"/>
                        </a:rPr>
                        <a:t>II. </a:t>
                      </a:r>
                      <a:r>
                        <a:rPr lang="es" sz="1800">
                          <a:solidFill>
                            <a:schemeClr val="dk2"/>
                          </a:solidFill>
                          <a:latin typeface="Arial"/>
                          <a:ea typeface="Arial"/>
                          <a:cs typeface="Arial"/>
                          <a:sym typeface="Arial"/>
                        </a:rPr>
                        <a:t>Tos y estornudos ( 3, 4, 5, 8, 9).</a:t>
                      </a:r>
                      <a:endParaRPr/>
                    </a:p>
                  </a:txBody>
                  <a:tcPr marT="45725" marB="45725" marR="91450" marL="91450" anchor="ctr">
                    <a:solidFill>
                      <a:srgbClr val="FFD966"/>
                    </a:solidFill>
                  </a:tcPr>
                </a:tc>
                <a:tc>
                  <a:txBody>
                    <a:bodyPr/>
                    <a:lstStyle/>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Pasteurelosis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parasitosis por oestrus ovis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Mycoplasmosis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Mannheimiosis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ectima contagioso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parainfluenza - 3</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s" sz="1200">
                          <a:solidFill>
                            <a:schemeClr val="dk1"/>
                          </a:solidFill>
                          <a:latin typeface="Arial"/>
                          <a:ea typeface="Arial"/>
                          <a:cs typeface="Arial"/>
                          <a:sym typeface="Arial"/>
                        </a:rPr>
                        <a:t>herpesvirus - 1 </a:t>
                      </a:r>
                      <a:endParaRPr sz="1200">
                        <a:solidFill>
                          <a:schemeClr val="dk1"/>
                        </a:solidFill>
                        <a:latin typeface="Arial"/>
                        <a:ea typeface="Arial"/>
                        <a:cs typeface="Arial"/>
                        <a:sym typeface="Arial"/>
                      </a:endParaRPr>
                    </a:p>
                  </a:txBody>
                  <a:tcPr marT="45725" marB="45725" marR="91450" marL="91450">
                    <a:solidFill>
                      <a:srgbClr val="FFE599"/>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506" name="Google Shape;506;p52"/>
          <p:cNvSpPr txBox="1"/>
          <p:nvPr/>
        </p:nvSpPr>
        <p:spPr>
          <a:xfrm>
            <a:off x="791625" y="1495425"/>
            <a:ext cx="7502700" cy="1435200"/>
          </a:xfrm>
          <a:prstGeom prst="rect">
            <a:avLst/>
          </a:prstGeom>
          <a:solidFill>
            <a:srgbClr val="CFE2F3"/>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800">
                <a:solidFill>
                  <a:srgbClr val="595959"/>
                </a:solidFill>
              </a:rPr>
              <a:t>De acuerdo a tus diagnósticos diferenciales,  determina ahora que tipo de prueba complementaria del laboratorio de diagnóstico veterinario te puede ser útil para ir descartando / confirmando los posibles diagnósticos. </a:t>
            </a:r>
            <a:endParaRPr sz="1800">
              <a:solidFill>
                <a:srgbClr val="595959"/>
              </a:solidFill>
            </a:endParaRPr>
          </a:p>
        </p:txBody>
      </p:sp>
      <p:sp>
        <p:nvSpPr>
          <p:cNvPr id="507" name="Google Shape;507;p52"/>
          <p:cNvSpPr txBox="1"/>
          <p:nvPr/>
        </p:nvSpPr>
        <p:spPr>
          <a:xfrm>
            <a:off x="930975" y="3213575"/>
            <a:ext cx="7502700" cy="852300"/>
          </a:xfrm>
          <a:prstGeom prst="rect">
            <a:avLst/>
          </a:prstGeom>
          <a:solidFill>
            <a:srgbClr val="EEFF41"/>
          </a:solid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s" sz="1800">
                <a:solidFill>
                  <a:srgbClr val="595959"/>
                </a:solidFill>
              </a:rPr>
              <a:t>Ubica en la lista de la izquierda las pruebas diagnósticas que necesitas y las que no. </a:t>
            </a:r>
            <a:endParaRPr sz="1800">
              <a:solidFill>
                <a:srgbClr val="595959"/>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graphicFrame>
        <p:nvGraphicFramePr>
          <p:cNvPr id="512" name="Google Shape;512;p53"/>
          <p:cNvGraphicFramePr/>
          <p:nvPr/>
        </p:nvGraphicFramePr>
        <p:xfrm>
          <a:off x="3259900" y="571736"/>
          <a:ext cx="3000000" cy="3000000"/>
        </p:xfrm>
        <a:graphic>
          <a:graphicData uri="http://schemas.openxmlformats.org/drawingml/2006/table">
            <a:tbl>
              <a:tblPr bandRow="1" firstRow="1">
                <a:noFill/>
                <a:tableStyleId>{A9DDAC80-695F-4E1E-A50D-8878856A436B}</a:tableStyleId>
              </a:tblPr>
              <a:tblGrid>
                <a:gridCol w="1343500"/>
                <a:gridCol w="1275900"/>
                <a:gridCol w="625000"/>
                <a:gridCol w="625000"/>
                <a:gridCol w="625000"/>
                <a:gridCol w="625000"/>
                <a:gridCol w="625000"/>
              </a:tblGrid>
              <a:tr h="4262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FFD966"/>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c>
                  <a:txBody>
                    <a:bodyPr/>
                    <a:lstStyle/>
                    <a:p>
                      <a:pPr indent="0" lvl="0" marL="0" marR="0" rtl="0" algn="ctr">
                        <a:spcBef>
                          <a:spcPts val="0"/>
                        </a:spcBef>
                        <a:spcAft>
                          <a:spcPts val="0"/>
                        </a:spcAft>
                        <a:buNone/>
                      </a:pPr>
                      <a:r>
                        <a:t/>
                      </a:r>
                      <a:endParaRPr sz="1200">
                        <a:solidFill>
                          <a:srgbClr val="FFFFFF"/>
                        </a:solidFill>
                      </a:endParaRPr>
                    </a:p>
                  </a:txBody>
                  <a:tcPr marT="45725" marB="45725" marR="91450" marL="91450">
                    <a:solidFill>
                      <a:srgbClr val="FFD966"/>
                    </a:solidFill>
                  </a:tcPr>
                </a:tc>
              </a:tr>
              <a:tr h="255750">
                <a:tc rowSpan="4">
                  <a:txBody>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latin typeface="Arial"/>
                          <a:ea typeface="Arial"/>
                          <a:cs typeface="Arial"/>
                          <a:sym typeface="Arial"/>
                        </a:rPr>
                        <a:t>I.</a:t>
                      </a:r>
                      <a:r>
                        <a:rPr lang="es" sz="1800">
                          <a:solidFill>
                            <a:schemeClr val="dk2"/>
                          </a:solidFill>
                          <a:latin typeface="Arial"/>
                          <a:ea typeface="Arial"/>
                          <a:cs typeface="Arial"/>
                          <a:sym typeface="Arial"/>
                        </a:rPr>
                        <a:t>Parasitosis severa   ( 1, 2, 4, 5, 6, 9).</a:t>
                      </a:r>
                      <a:endParaRPr>
                        <a:solidFill>
                          <a:schemeClr val="dk2"/>
                        </a:solidFill>
                        <a:latin typeface="Arial"/>
                        <a:ea typeface="Arial"/>
                        <a:cs typeface="Arial"/>
                        <a:sym typeface="Arial"/>
                      </a:endParaRPr>
                    </a:p>
                  </a:txBody>
                  <a:tcPr marT="45725" marB="45725" marR="91450" marL="91450">
                    <a:solidFill>
                      <a:srgbClr val="FFD966"/>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Haemoncosis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2557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100">
                          <a:solidFill>
                            <a:schemeClr val="dk1"/>
                          </a:solidFill>
                        </a:rPr>
                        <a:t>Oesophagostomum sp.</a:t>
                      </a:r>
                      <a:endParaRPr i="1" sz="11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l">
                        <a:spcBef>
                          <a:spcPts val="0"/>
                        </a:spcBef>
                        <a:spcAft>
                          <a:spcPts val="0"/>
                        </a:spcAft>
                        <a:buNone/>
                      </a:pPr>
                      <a:r>
                        <a:rPr lang="es" sz="1200">
                          <a:solidFill>
                            <a:srgbClr val="A5A5A5"/>
                          </a:solidFill>
                        </a:rPr>
                        <a:t>Co</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4262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200">
                          <a:solidFill>
                            <a:schemeClr val="dk1"/>
                          </a:solidFill>
                        </a:rPr>
                        <a:t>Tricostrongylus sp.</a:t>
                      </a:r>
                      <a:endParaRPr i="1"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426250">
                <a:tc vMerge="1"/>
                <a:tc>
                  <a:txBody>
                    <a:bodyPr/>
                    <a:lstStyle/>
                    <a:p>
                      <a:pPr indent="0" lvl="0" marL="0" rtl="0" algn="l">
                        <a:spcBef>
                          <a:spcPts val="0"/>
                        </a:spcBef>
                        <a:spcAft>
                          <a:spcPts val="0"/>
                        </a:spcAft>
                        <a:buClr>
                          <a:schemeClr val="dk1"/>
                        </a:buClr>
                        <a:buFont typeface="Arial"/>
                        <a:buNone/>
                      </a:pPr>
                      <a:r>
                        <a:rPr lang="es" sz="1200">
                          <a:solidFill>
                            <a:schemeClr val="dk1"/>
                          </a:solidFill>
                        </a:rPr>
                        <a:t>coccidiosis </a:t>
                      </a:r>
                      <a:r>
                        <a:rPr lang="es" sz="1200">
                          <a:solidFill>
                            <a:schemeClr val="dk1"/>
                          </a:solidFill>
                        </a:rPr>
                        <a:t>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426250">
                <a:tc rowSpan="8">
                  <a:txBody>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latin typeface="Arial"/>
                          <a:ea typeface="Arial"/>
                          <a:cs typeface="Arial"/>
                          <a:sym typeface="Arial"/>
                        </a:rPr>
                        <a:t>II. Tos y estornudos ( 3, 4, 5, 8, 9).</a:t>
                      </a:r>
                      <a:endParaRPr>
                        <a:solidFill>
                          <a:srgbClr val="A5A5A5"/>
                        </a:solidFill>
                      </a:endParaRPr>
                    </a:p>
                  </a:txBody>
                  <a:tcPr marT="45725" marB="45725" marR="91450" marL="91450">
                    <a:solidFill>
                      <a:srgbClr val="FFD966"/>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pasteurelosis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255750">
                <a:tc vMerge="1"/>
                <a:tc>
                  <a:txBody>
                    <a:bodyPr/>
                    <a:lstStyle/>
                    <a:p>
                      <a:pPr indent="0" lvl="0" marL="0" rtl="0" algn="l">
                        <a:spcBef>
                          <a:spcPts val="0"/>
                        </a:spcBef>
                        <a:spcAft>
                          <a:spcPts val="0"/>
                        </a:spcAft>
                        <a:buClr>
                          <a:schemeClr val="dk1"/>
                        </a:buClr>
                        <a:buFont typeface="Arial"/>
                        <a:buNone/>
                      </a:pPr>
                      <a:r>
                        <a:rPr lang="es" sz="1200">
                          <a:solidFill>
                            <a:schemeClr val="dk1"/>
                          </a:solidFill>
                        </a:rPr>
                        <a:t>Mannheimiosis</a:t>
                      </a:r>
                      <a:r>
                        <a:rPr lang="es" sz="1200">
                          <a:solidFill>
                            <a:schemeClr val="dk1"/>
                          </a:solidFill>
                        </a:rPr>
                        <a:t>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parsitosis por </a:t>
                      </a:r>
                      <a:r>
                        <a:rPr i="1" lang="es" sz="1200">
                          <a:solidFill>
                            <a:schemeClr val="dk1"/>
                          </a:solidFill>
                        </a:rPr>
                        <a:t>Oestrus ovis</a:t>
                      </a:r>
                      <a:r>
                        <a:rPr lang="es" sz="1200">
                          <a:solidFill>
                            <a:schemeClr val="dk1"/>
                          </a:solidFill>
                        </a:rPr>
                        <a:t>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herpesvirus caprino tipo 1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VRSB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ectima contagioso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None/>
                      </a:pPr>
                      <a:r>
                        <a:rPr lang="es" sz="1200">
                          <a:solidFill>
                            <a:schemeClr val="dk1"/>
                          </a:solidFill>
                        </a:rPr>
                        <a:t>PI-3 </a:t>
                      </a:r>
                      <a:endParaRPr sz="1200">
                        <a:solidFill>
                          <a:schemeClr val="dk1"/>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r h="512125">
                <a:tc vMerge="1"/>
                <a:tc>
                  <a:txBody>
                    <a:bodyPr/>
                    <a:lstStyle/>
                    <a:p>
                      <a:pPr indent="0" lvl="0" marL="0" rtl="0" algn="l">
                        <a:spcBef>
                          <a:spcPts val="0"/>
                        </a:spcBef>
                        <a:spcAft>
                          <a:spcPts val="0"/>
                        </a:spcAft>
                        <a:buClr>
                          <a:schemeClr val="dk1"/>
                        </a:buClr>
                        <a:buFont typeface="Arial"/>
                        <a:buNone/>
                      </a:pPr>
                      <a:r>
                        <a:rPr lang="es" sz="1200">
                          <a:solidFill>
                            <a:schemeClr val="dk1"/>
                          </a:solidFill>
                        </a:rPr>
                        <a:t>Mycoplasmosis </a:t>
                      </a:r>
                      <a:endParaRPr sz="1200"/>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FFE599"/>
                    </a:solidFill>
                  </a:tcPr>
                </a:tc>
              </a:tr>
            </a:tbl>
          </a:graphicData>
        </a:graphic>
      </p:graphicFrame>
      <p:sp>
        <p:nvSpPr>
          <p:cNvPr id="513" name="Google Shape;513;p53"/>
          <p:cNvSpPr txBox="1"/>
          <p:nvPr/>
        </p:nvSpPr>
        <p:spPr>
          <a:xfrm>
            <a:off x="3259900" y="209450"/>
            <a:ext cx="3226800" cy="4017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s" sz="2800">
                <a:solidFill>
                  <a:srgbClr val="000000"/>
                </a:solidFill>
              </a:rPr>
              <a:t>Herramientas diagnósticas</a:t>
            </a:r>
            <a:endParaRPr sz="2800">
              <a:solidFill>
                <a:srgbClr val="000000"/>
              </a:solidFill>
            </a:endParaRPr>
          </a:p>
        </p:txBody>
      </p:sp>
      <p:graphicFrame>
        <p:nvGraphicFramePr>
          <p:cNvPr id="514" name="Google Shape;514;p53"/>
          <p:cNvGraphicFramePr/>
          <p:nvPr/>
        </p:nvGraphicFramePr>
        <p:xfrm>
          <a:off x="122225" y="149125"/>
          <a:ext cx="3000000" cy="3000000"/>
        </p:xfrm>
        <a:graphic>
          <a:graphicData uri="http://schemas.openxmlformats.org/drawingml/2006/table">
            <a:tbl>
              <a:tblPr>
                <a:noFill/>
                <a:tableStyleId>{92B18CB4-C942-4677-B446-B40BB0A2A31A}</a:tableStyleId>
              </a:tblPr>
              <a:tblGrid>
                <a:gridCol w="909175"/>
                <a:gridCol w="909175"/>
                <a:gridCol w="909175"/>
              </a:tblGrid>
              <a:tr h="349975">
                <a:tc>
                  <a:txBody>
                    <a:bodyPr/>
                    <a:lstStyle/>
                    <a:p>
                      <a:pPr indent="0" lvl="0" marL="0" rtl="0" algn="l">
                        <a:spcBef>
                          <a:spcPts val="0"/>
                        </a:spcBef>
                        <a:spcAft>
                          <a:spcPts val="0"/>
                        </a:spcAft>
                        <a:buNone/>
                      </a:pPr>
                      <a:r>
                        <a:rPr lang="es"/>
                        <a:t>pruebas: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23075">
                <a:tc gridSpan="2">
                  <a:txBody>
                    <a:bodyPr/>
                    <a:lstStyle/>
                    <a:p>
                      <a:pPr indent="0" lvl="0" marL="0" rtl="0" algn="l">
                        <a:spcBef>
                          <a:spcPts val="0"/>
                        </a:spcBef>
                        <a:spcAft>
                          <a:spcPts val="0"/>
                        </a:spcAft>
                        <a:buNone/>
                      </a:pPr>
                      <a:r>
                        <a:rPr lang="es" sz="1200"/>
                        <a:t>examen coproparasitoscópico </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flotación  </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McMaster</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sedimentación</a:t>
                      </a:r>
                      <a:endParaRPr sz="1200"/>
                    </a:p>
                  </a:txBody>
                  <a:tcPr marT="91425" marB="91425" marR="91425" marL="91425"/>
                </a:tc>
                <a:tc hMerge="1"/>
                <a:tc>
                  <a:txBody>
                    <a:bodyPr/>
                    <a:lstStyle/>
                    <a:p>
                      <a:pPr indent="0" lvl="0" marL="0" rtl="0" algn="l">
                        <a:spcBef>
                          <a:spcPts val="0"/>
                        </a:spcBef>
                        <a:spcAft>
                          <a:spcPts val="0"/>
                        </a:spcAft>
                        <a:buNone/>
                      </a:pPr>
                      <a:r>
                        <a:rPr lang="es" sz="1200"/>
                        <a:t>NO</a:t>
                      </a:r>
                      <a:endParaRPr sz="1200"/>
                    </a:p>
                  </a:txBody>
                  <a:tcPr marT="91425" marB="91425" marR="91425" marL="91425"/>
                </a:tc>
              </a:tr>
              <a:tr h="323075">
                <a:tc gridSpan="2">
                  <a:txBody>
                    <a:bodyPr/>
                    <a:lstStyle/>
                    <a:p>
                      <a:pPr indent="0" lvl="0" marL="0" rtl="0" algn="l">
                        <a:spcBef>
                          <a:spcPts val="0"/>
                        </a:spcBef>
                        <a:spcAft>
                          <a:spcPts val="0"/>
                        </a:spcAft>
                        <a:buNone/>
                      </a:pPr>
                      <a:r>
                        <a:rPr lang="es" sz="1200"/>
                        <a:t>PCR</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ELISA</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Biometría hemática   HG</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Perfil bioquímico     BQ</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medición de pH ruminal </a:t>
                      </a:r>
                      <a:endParaRPr sz="1200"/>
                    </a:p>
                  </a:txBody>
                  <a:tcPr marT="91425" marB="91425" marR="91425" marL="91425"/>
                </a:tc>
                <a:tc hMerge="1"/>
                <a:tc>
                  <a:txBody>
                    <a:bodyPr/>
                    <a:lstStyle/>
                    <a:p>
                      <a:pPr indent="0" lvl="0" marL="0" rtl="0" algn="l">
                        <a:spcBef>
                          <a:spcPts val="0"/>
                        </a:spcBef>
                        <a:spcAft>
                          <a:spcPts val="0"/>
                        </a:spcAft>
                        <a:buNone/>
                      </a:pPr>
                      <a:r>
                        <a:rPr lang="es" sz="1200"/>
                        <a:t>NO</a:t>
                      </a:r>
                      <a:endParaRPr sz="1200"/>
                    </a:p>
                  </a:txBody>
                  <a:tcPr marT="91425" marB="91425" marR="91425" marL="91425"/>
                </a:tc>
              </a:tr>
              <a:tr h="323075">
                <a:tc gridSpan="2">
                  <a:txBody>
                    <a:bodyPr/>
                    <a:lstStyle/>
                    <a:p>
                      <a:pPr indent="0" lvl="0" marL="0" rtl="0" algn="l">
                        <a:spcBef>
                          <a:spcPts val="0"/>
                        </a:spcBef>
                        <a:spcAft>
                          <a:spcPts val="0"/>
                        </a:spcAft>
                        <a:buNone/>
                      </a:pPr>
                      <a:r>
                        <a:rPr lang="es" sz="1200"/>
                        <a:t>cultivo y aislamiento </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r h="323075">
                <a:tc gridSpan="2">
                  <a:txBody>
                    <a:bodyPr/>
                    <a:lstStyle/>
                    <a:p>
                      <a:pPr indent="0" lvl="0" marL="0" rtl="0" algn="l">
                        <a:spcBef>
                          <a:spcPts val="0"/>
                        </a:spcBef>
                        <a:spcAft>
                          <a:spcPts val="0"/>
                        </a:spcAft>
                        <a:buNone/>
                      </a:pPr>
                      <a:r>
                        <a:rPr lang="es" sz="1200"/>
                        <a:t>necropsia</a:t>
                      </a:r>
                      <a:endParaRPr sz="1200"/>
                    </a:p>
                  </a:txBody>
                  <a:tcPr marT="91425" marB="91425" marR="91425" marL="91425"/>
                </a:tc>
                <a:tc hMerge="1"/>
                <a:tc>
                  <a:txBody>
                    <a:bodyPr/>
                    <a:lstStyle/>
                    <a:p>
                      <a:pPr indent="0" lvl="0" marL="0" rtl="0" algn="l">
                        <a:spcBef>
                          <a:spcPts val="0"/>
                        </a:spcBef>
                        <a:spcAft>
                          <a:spcPts val="0"/>
                        </a:spcAft>
                        <a:buNone/>
                      </a:pPr>
                      <a:r>
                        <a:rPr lang="es" sz="1200"/>
                        <a:t>SI</a:t>
                      </a:r>
                      <a:endParaRPr sz="1200"/>
                    </a:p>
                  </a:txBody>
                  <a:tcPr marT="91425" marB="91425" marR="91425" marL="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graphicFrame>
        <p:nvGraphicFramePr>
          <p:cNvPr id="519" name="Google Shape;519;p54"/>
          <p:cNvGraphicFramePr/>
          <p:nvPr/>
        </p:nvGraphicFramePr>
        <p:xfrm>
          <a:off x="512838" y="130227"/>
          <a:ext cx="3000000" cy="3000000"/>
        </p:xfrm>
        <a:graphic>
          <a:graphicData uri="http://schemas.openxmlformats.org/drawingml/2006/table">
            <a:tbl>
              <a:tblPr bandRow="1" firstRow="1">
                <a:noFill/>
                <a:tableStyleId>{A9DDAC80-695F-4E1E-A50D-8878856A436B}</a:tableStyleId>
              </a:tblPr>
              <a:tblGrid>
                <a:gridCol w="1431475"/>
                <a:gridCol w="1359450"/>
                <a:gridCol w="665925"/>
                <a:gridCol w="665925"/>
                <a:gridCol w="665925"/>
                <a:gridCol w="665925"/>
                <a:gridCol w="665925"/>
                <a:gridCol w="665925"/>
                <a:gridCol w="665925"/>
                <a:gridCol w="665925"/>
              </a:tblGrid>
              <a:tr h="4723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93C47D"/>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rPr lang="es" sz="1200"/>
                        <a:t>coproparasitoscópico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PCR</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ELISA</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HG</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BQ</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pH ruminal</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Cultivo bacteriológico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Necropsia </a:t>
                      </a:r>
                      <a:endParaRPr sz="1200">
                        <a:solidFill>
                          <a:srgbClr val="FFFFFF"/>
                        </a:solidFill>
                      </a:endParaRPr>
                    </a:p>
                  </a:txBody>
                  <a:tcPr marT="45725" marB="45725" marR="91450" marL="91450">
                    <a:solidFill>
                      <a:srgbClr val="93C47D"/>
                    </a:solidFill>
                  </a:tcPr>
                </a:tc>
              </a:tr>
              <a:tr h="283425">
                <a:tc rowSpan="4">
                  <a:txBody>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latin typeface="Arial"/>
                          <a:ea typeface="Arial"/>
                          <a:cs typeface="Arial"/>
                          <a:sym typeface="Arial"/>
                        </a:rPr>
                        <a:t>I.</a:t>
                      </a:r>
                      <a:r>
                        <a:rPr lang="es" sz="1600">
                          <a:solidFill>
                            <a:schemeClr val="dk2"/>
                          </a:solidFill>
                          <a:latin typeface="Arial"/>
                          <a:ea typeface="Arial"/>
                          <a:cs typeface="Arial"/>
                          <a:sym typeface="Arial"/>
                        </a:rPr>
                        <a:t>Retraso en el crecimiento  (  3, 4, 5, 6, 8, 9, 10, 11)</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Haemoncosis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100">
                          <a:solidFill>
                            <a:schemeClr val="dk1"/>
                          </a:solidFill>
                        </a:rPr>
                        <a:t>Oesophagostomum sp.</a:t>
                      </a:r>
                      <a:endParaRPr i="1" sz="11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200">
                          <a:solidFill>
                            <a:schemeClr val="dk1"/>
                          </a:solidFill>
                        </a:rPr>
                        <a:t>Trichostrongylus</a:t>
                      </a:r>
                      <a:r>
                        <a:rPr i="1" lang="es" sz="1200">
                          <a:solidFill>
                            <a:schemeClr val="dk1"/>
                          </a:solidFill>
                        </a:rPr>
                        <a:t> sp.</a:t>
                      </a:r>
                      <a:endParaRPr i="1"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chemeClr val="dk1"/>
                        </a:buClr>
                        <a:buFont typeface="Arial"/>
                        <a:buNone/>
                      </a:pPr>
                      <a:r>
                        <a:rPr lang="es" sz="1200">
                          <a:solidFill>
                            <a:schemeClr val="dk1"/>
                          </a:solidFill>
                        </a:rPr>
                        <a:t>coccidiosis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rowSpan="7">
                  <a:txBody>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latin typeface="Arial"/>
                          <a:ea typeface="Arial"/>
                          <a:cs typeface="Arial"/>
                          <a:sym typeface="Arial"/>
                        </a:rPr>
                        <a:t>II. Tos y estornudos ( 3, 4, 5, 8, 9).</a:t>
                      </a:r>
                      <a:r>
                        <a:rPr lang="es" sz="1600">
                          <a:solidFill>
                            <a:schemeClr val="dk2"/>
                          </a:solidFill>
                          <a:latin typeface="Arial"/>
                          <a:ea typeface="Arial"/>
                          <a:cs typeface="Arial"/>
                          <a:sym typeface="Arial"/>
                        </a:rPr>
                        <a:t>.</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pasteurelosis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chemeClr val="dk1"/>
                        </a:buClr>
                        <a:buFont typeface="Arial"/>
                        <a:buNone/>
                      </a:pPr>
                      <a:r>
                        <a:rPr lang="es" sz="1200">
                          <a:solidFill>
                            <a:schemeClr val="dk1"/>
                          </a:solidFill>
                        </a:rPr>
                        <a:t>Mannheimiosis</a:t>
                      </a:r>
                      <a:r>
                        <a:rPr lang="es" sz="1200">
                          <a:solidFill>
                            <a:schemeClr val="dk1"/>
                          </a:solidFill>
                        </a:rPr>
                        <a:t>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parasitosis</a:t>
                      </a:r>
                      <a:r>
                        <a:rPr lang="es" sz="1200">
                          <a:solidFill>
                            <a:schemeClr val="dk1"/>
                          </a:solidFill>
                        </a:rPr>
                        <a:t> por </a:t>
                      </a:r>
                      <a:r>
                        <a:rPr i="1" lang="es" sz="1200">
                          <a:solidFill>
                            <a:schemeClr val="dk1"/>
                          </a:solidFill>
                        </a:rPr>
                        <a:t>Oestrus ovis</a:t>
                      </a:r>
                      <a:r>
                        <a:rPr lang="es" sz="1200">
                          <a:solidFill>
                            <a:schemeClr val="dk1"/>
                          </a:solidFill>
                        </a:rPr>
                        <a:t>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herpesvirus caprino tipo 1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VRSB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ectima contagioso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PI-3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bl>
          </a:graphicData>
        </a:graphic>
      </p:graphicFrame>
      <p:sp>
        <p:nvSpPr>
          <p:cNvPr id="520" name="Google Shape;520;p54"/>
          <p:cNvSpPr/>
          <p:nvPr/>
        </p:nvSpPr>
        <p:spPr>
          <a:xfrm>
            <a:off x="3553638" y="1976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54"/>
          <p:cNvSpPr/>
          <p:nvPr/>
        </p:nvSpPr>
        <p:spPr>
          <a:xfrm>
            <a:off x="5482838" y="26392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54"/>
          <p:cNvSpPr/>
          <p:nvPr/>
        </p:nvSpPr>
        <p:spPr>
          <a:xfrm>
            <a:off x="5549138" y="343005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54"/>
          <p:cNvSpPr/>
          <p:nvPr/>
        </p:nvSpPr>
        <p:spPr>
          <a:xfrm>
            <a:off x="3437488"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54"/>
          <p:cNvSpPr/>
          <p:nvPr/>
        </p:nvSpPr>
        <p:spPr>
          <a:xfrm>
            <a:off x="3553638" y="1417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54"/>
          <p:cNvSpPr/>
          <p:nvPr/>
        </p:nvSpPr>
        <p:spPr>
          <a:xfrm>
            <a:off x="6175113" y="2944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6" name="Google Shape;526;p54"/>
          <p:cNvSpPr/>
          <p:nvPr/>
        </p:nvSpPr>
        <p:spPr>
          <a:xfrm>
            <a:off x="7496113" y="26392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p54"/>
          <p:cNvSpPr/>
          <p:nvPr/>
        </p:nvSpPr>
        <p:spPr>
          <a:xfrm>
            <a:off x="48258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8" name="Google Shape;528;p54"/>
          <p:cNvSpPr/>
          <p:nvPr/>
        </p:nvSpPr>
        <p:spPr>
          <a:xfrm>
            <a:off x="3553638" y="24513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54"/>
          <p:cNvSpPr/>
          <p:nvPr/>
        </p:nvSpPr>
        <p:spPr>
          <a:xfrm>
            <a:off x="5482838"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54"/>
          <p:cNvSpPr/>
          <p:nvPr/>
        </p:nvSpPr>
        <p:spPr>
          <a:xfrm>
            <a:off x="7496113" y="2944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54"/>
          <p:cNvSpPr/>
          <p:nvPr/>
        </p:nvSpPr>
        <p:spPr>
          <a:xfrm>
            <a:off x="8253263" y="4613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54"/>
          <p:cNvSpPr/>
          <p:nvPr/>
        </p:nvSpPr>
        <p:spPr>
          <a:xfrm>
            <a:off x="8253263" y="4262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54"/>
          <p:cNvSpPr/>
          <p:nvPr/>
        </p:nvSpPr>
        <p:spPr>
          <a:xfrm>
            <a:off x="8253263" y="3762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54"/>
          <p:cNvSpPr/>
          <p:nvPr/>
        </p:nvSpPr>
        <p:spPr>
          <a:xfrm>
            <a:off x="8171563"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54"/>
          <p:cNvSpPr/>
          <p:nvPr/>
        </p:nvSpPr>
        <p:spPr>
          <a:xfrm>
            <a:off x="4825838" y="464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6" name="Google Shape;536;p54"/>
          <p:cNvSpPr/>
          <p:nvPr/>
        </p:nvSpPr>
        <p:spPr>
          <a:xfrm>
            <a:off x="8171563" y="1815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54"/>
          <p:cNvSpPr/>
          <p:nvPr/>
        </p:nvSpPr>
        <p:spPr>
          <a:xfrm>
            <a:off x="8171563" y="22135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54"/>
          <p:cNvSpPr/>
          <p:nvPr/>
        </p:nvSpPr>
        <p:spPr>
          <a:xfrm>
            <a:off x="4204138" y="46814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54"/>
          <p:cNvSpPr/>
          <p:nvPr/>
        </p:nvSpPr>
        <p:spPr>
          <a:xfrm>
            <a:off x="8171563"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54"/>
          <p:cNvSpPr/>
          <p:nvPr/>
        </p:nvSpPr>
        <p:spPr>
          <a:xfrm>
            <a:off x="42041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54"/>
          <p:cNvSpPr/>
          <p:nvPr/>
        </p:nvSpPr>
        <p:spPr>
          <a:xfrm>
            <a:off x="5482850" y="29282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54"/>
          <p:cNvSpPr/>
          <p:nvPr/>
        </p:nvSpPr>
        <p:spPr>
          <a:xfrm>
            <a:off x="5466800" y="953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54"/>
          <p:cNvSpPr/>
          <p:nvPr/>
        </p:nvSpPr>
        <p:spPr>
          <a:xfrm>
            <a:off x="8171563" y="294457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54"/>
          <p:cNvSpPr/>
          <p:nvPr/>
        </p:nvSpPr>
        <p:spPr>
          <a:xfrm>
            <a:off x="8171563" y="34136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54"/>
          <p:cNvSpPr/>
          <p:nvPr/>
        </p:nvSpPr>
        <p:spPr>
          <a:xfrm>
            <a:off x="4204138" y="44232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54"/>
          <p:cNvSpPr/>
          <p:nvPr/>
        </p:nvSpPr>
        <p:spPr>
          <a:xfrm>
            <a:off x="42041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54"/>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54"/>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54"/>
          <p:cNvSpPr/>
          <p:nvPr/>
        </p:nvSpPr>
        <p:spPr>
          <a:xfrm>
            <a:off x="4825838" y="44116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0" name="Google Shape;550;p54"/>
          <p:cNvSpPr/>
          <p:nvPr/>
        </p:nvSpPr>
        <p:spPr>
          <a:xfrm>
            <a:off x="5524875" y="194070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graphicFrame>
        <p:nvGraphicFramePr>
          <p:cNvPr id="555" name="Google Shape;555;p55"/>
          <p:cNvGraphicFramePr/>
          <p:nvPr/>
        </p:nvGraphicFramePr>
        <p:xfrm>
          <a:off x="512838" y="130227"/>
          <a:ext cx="3000000" cy="3000000"/>
        </p:xfrm>
        <a:graphic>
          <a:graphicData uri="http://schemas.openxmlformats.org/drawingml/2006/table">
            <a:tbl>
              <a:tblPr bandRow="1" firstRow="1">
                <a:noFill/>
                <a:tableStyleId>{A9DDAC80-695F-4E1E-A50D-8878856A436B}</a:tableStyleId>
              </a:tblPr>
              <a:tblGrid>
                <a:gridCol w="1431475"/>
                <a:gridCol w="1359450"/>
                <a:gridCol w="665925"/>
                <a:gridCol w="665925"/>
                <a:gridCol w="665925"/>
                <a:gridCol w="665925"/>
                <a:gridCol w="665925"/>
                <a:gridCol w="665925"/>
                <a:gridCol w="665925"/>
                <a:gridCol w="665925"/>
              </a:tblGrid>
              <a:tr h="472350">
                <a:tc gridSpan="2">
                  <a:txBody>
                    <a:bodyPr/>
                    <a:lstStyle/>
                    <a:p>
                      <a:pPr indent="0" lvl="0" marL="0" marR="0" rtl="0" algn="ctr">
                        <a:spcBef>
                          <a:spcPts val="0"/>
                        </a:spcBef>
                        <a:spcAft>
                          <a:spcPts val="0"/>
                        </a:spcAft>
                        <a:buNone/>
                      </a:pPr>
                      <a:r>
                        <a:rPr lang="es" sz="1200">
                          <a:solidFill>
                            <a:srgbClr val="FFFFFF"/>
                          </a:solidFill>
                        </a:rPr>
                        <a:t>Pruebas</a:t>
                      </a:r>
                      <a:endParaRPr/>
                    </a:p>
                  </a:txBody>
                  <a:tcPr marT="45725" marB="45725" marR="91450" marL="91450" anchor="ctr">
                    <a:solidFill>
                      <a:srgbClr val="93C47D"/>
                    </a:solidFill>
                  </a:tcPr>
                </a:tc>
                <a:tc hMerge="1"/>
                <a:tc>
                  <a:txBody>
                    <a:bodyPr/>
                    <a:lstStyle/>
                    <a:p>
                      <a:pPr indent="0" lvl="0" marL="0" marR="0" rtl="0" algn="ctr">
                        <a:spcBef>
                          <a:spcPts val="0"/>
                        </a:spcBef>
                        <a:spcAft>
                          <a:spcPts val="0"/>
                        </a:spcAft>
                        <a:buNone/>
                      </a:pPr>
                      <a:r>
                        <a:t/>
                      </a:r>
                      <a:endParaRPr sz="1200">
                        <a:solidFill>
                          <a:srgbClr val="FFFFFF"/>
                        </a:solidFill>
                      </a:endParaRPr>
                    </a:p>
                    <a:p>
                      <a:pPr indent="0" lvl="0" marL="0" marR="0" rtl="0" algn="ctr">
                        <a:spcBef>
                          <a:spcPts val="0"/>
                        </a:spcBef>
                        <a:spcAft>
                          <a:spcPts val="0"/>
                        </a:spcAft>
                        <a:buNone/>
                      </a:pPr>
                      <a:r>
                        <a:rPr lang="es" sz="1200"/>
                        <a:t>coproparasitoscópico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PCR</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ELISA</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HG</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BQ</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pH ruminal</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Cultivo bacteriológico</a:t>
                      </a:r>
                      <a:endParaRPr sz="1200">
                        <a:solidFill>
                          <a:srgbClr val="FFFFFF"/>
                        </a:solidFill>
                      </a:endParaRPr>
                    </a:p>
                  </a:txBody>
                  <a:tcPr marT="45725" marB="45725" marR="91450" marL="91450">
                    <a:solidFill>
                      <a:srgbClr val="93C47D"/>
                    </a:solidFill>
                  </a:tcPr>
                </a:tc>
                <a:tc>
                  <a:txBody>
                    <a:bodyPr/>
                    <a:lstStyle/>
                    <a:p>
                      <a:pPr indent="0" lvl="0" marL="0" marR="0" rtl="0" algn="ctr">
                        <a:spcBef>
                          <a:spcPts val="0"/>
                        </a:spcBef>
                        <a:spcAft>
                          <a:spcPts val="0"/>
                        </a:spcAft>
                        <a:buNone/>
                      </a:pPr>
                      <a:r>
                        <a:rPr lang="es" sz="1200"/>
                        <a:t>Necropsia </a:t>
                      </a:r>
                      <a:endParaRPr sz="1200">
                        <a:solidFill>
                          <a:srgbClr val="FFFFFF"/>
                        </a:solidFill>
                      </a:endParaRPr>
                    </a:p>
                  </a:txBody>
                  <a:tcPr marT="45725" marB="45725" marR="91450" marL="91450">
                    <a:solidFill>
                      <a:srgbClr val="93C47D"/>
                    </a:solidFill>
                  </a:tcPr>
                </a:tc>
              </a:tr>
              <a:tr h="283425">
                <a:tc rowSpan="4">
                  <a:txBody>
                    <a:bodyPr/>
                    <a:lstStyle/>
                    <a:p>
                      <a:pPr indent="0" lvl="0" marL="0" rtl="0" algn="l">
                        <a:lnSpc>
                          <a:spcPct val="115000"/>
                        </a:lnSpc>
                        <a:spcBef>
                          <a:spcPts val="0"/>
                        </a:spcBef>
                        <a:spcAft>
                          <a:spcPts val="1200"/>
                        </a:spcAft>
                        <a:buClr>
                          <a:schemeClr val="dk1"/>
                        </a:buClr>
                        <a:buSzPts val="1100"/>
                        <a:buFont typeface="Arial"/>
                        <a:buNone/>
                      </a:pPr>
                      <a:r>
                        <a:rPr lang="es">
                          <a:solidFill>
                            <a:schemeClr val="dk2"/>
                          </a:solidFill>
                          <a:latin typeface="Arial"/>
                          <a:ea typeface="Arial"/>
                          <a:cs typeface="Arial"/>
                          <a:sym typeface="Arial"/>
                        </a:rPr>
                        <a:t>I.</a:t>
                      </a:r>
                      <a:r>
                        <a:rPr lang="es" sz="1600">
                          <a:solidFill>
                            <a:schemeClr val="dk2"/>
                          </a:solidFill>
                          <a:latin typeface="Arial"/>
                          <a:ea typeface="Arial"/>
                          <a:cs typeface="Arial"/>
                          <a:sym typeface="Arial"/>
                        </a:rPr>
                        <a:t>Retraso en el crecimiento  (  3, 4, 5, 6, 8, 9, 10, 11)</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Haemoncosis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100">
                          <a:solidFill>
                            <a:schemeClr val="dk1"/>
                          </a:solidFill>
                        </a:rPr>
                        <a:t>Oesophagostomum sp.</a:t>
                      </a:r>
                      <a:endParaRPr i="1" sz="11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472350">
                <a:tc vMerge="1"/>
                <a:tc>
                  <a:txBody>
                    <a:bodyPr/>
                    <a:lstStyle/>
                    <a:p>
                      <a:pPr indent="0" lvl="0" marL="0" rtl="0" algn="l">
                        <a:spcBef>
                          <a:spcPts val="0"/>
                        </a:spcBef>
                        <a:spcAft>
                          <a:spcPts val="0"/>
                        </a:spcAft>
                        <a:buClr>
                          <a:schemeClr val="dk1"/>
                        </a:buClr>
                        <a:buFont typeface="Arial"/>
                        <a:buNone/>
                      </a:pPr>
                      <a:r>
                        <a:rPr lang="es" sz="1200">
                          <a:solidFill>
                            <a:schemeClr val="dk1"/>
                          </a:solidFill>
                        </a:rPr>
                        <a:t>parasitosis por </a:t>
                      </a:r>
                      <a:r>
                        <a:rPr i="1" lang="es" sz="1200">
                          <a:solidFill>
                            <a:schemeClr val="dk1"/>
                          </a:solidFill>
                        </a:rPr>
                        <a:t>Trichostrongylus sp.</a:t>
                      </a:r>
                      <a:endParaRPr i="1"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chemeClr val="dk1"/>
                        </a:buClr>
                        <a:buFont typeface="Arial"/>
                        <a:buNone/>
                      </a:pPr>
                      <a:r>
                        <a:rPr lang="es" sz="1200">
                          <a:solidFill>
                            <a:schemeClr val="dk1"/>
                          </a:solidFill>
                        </a:rPr>
                        <a:t>coccidiosis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rowSpan="7">
                  <a:txBody>
                    <a:bodyPr/>
                    <a:lstStyle/>
                    <a:p>
                      <a:pPr indent="0" lvl="0" marL="0" rtl="0" algn="l">
                        <a:lnSpc>
                          <a:spcPct val="115000"/>
                        </a:lnSpc>
                        <a:spcBef>
                          <a:spcPts val="0"/>
                        </a:spcBef>
                        <a:spcAft>
                          <a:spcPts val="1200"/>
                        </a:spcAft>
                        <a:buClr>
                          <a:schemeClr val="dk1"/>
                        </a:buClr>
                        <a:buSzPts val="1100"/>
                        <a:buFont typeface="Arial"/>
                        <a:buNone/>
                      </a:pPr>
                      <a:r>
                        <a:rPr lang="es" sz="1800">
                          <a:solidFill>
                            <a:schemeClr val="dk2"/>
                          </a:solidFill>
                          <a:latin typeface="Arial"/>
                          <a:ea typeface="Arial"/>
                          <a:cs typeface="Arial"/>
                          <a:sym typeface="Arial"/>
                        </a:rPr>
                        <a:t>II. Tos y estornudos ( 3, 4, 5, 8, 9).</a:t>
                      </a:r>
                      <a:r>
                        <a:rPr lang="es" sz="1600">
                          <a:solidFill>
                            <a:schemeClr val="dk2"/>
                          </a:solidFill>
                          <a:latin typeface="Arial"/>
                          <a:ea typeface="Arial"/>
                          <a:cs typeface="Arial"/>
                          <a:sym typeface="Arial"/>
                        </a:rPr>
                        <a:t>.</a:t>
                      </a:r>
                      <a:endParaRPr>
                        <a:solidFill>
                          <a:srgbClr val="A5A5A5"/>
                        </a:solidFill>
                      </a:endParaRPr>
                    </a:p>
                  </a:txBody>
                  <a:tcPr marT="45725" marB="45725" marR="91450" marL="91450">
                    <a:lnR cap="flat" cmpd="sng" w="12700">
                      <a:solidFill>
                        <a:srgbClr val="FFFFFF"/>
                      </a:solidFill>
                      <a:prstDash val="solid"/>
                      <a:round/>
                      <a:headEnd len="sm" w="sm" type="none"/>
                      <a:tailEnd len="sm" w="sm" type="none"/>
                    </a:lnR>
                    <a:solidFill>
                      <a:srgbClr val="93C47D"/>
                    </a:solidFill>
                  </a:tcPr>
                </a:tc>
                <a:tc>
                  <a:txBody>
                    <a:bodyPr/>
                    <a:lstStyle/>
                    <a:p>
                      <a:pPr indent="0" lvl="0" marL="0" rtl="0" algn="l">
                        <a:spcBef>
                          <a:spcPts val="0"/>
                        </a:spcBef>
                        <a:spcAft>
                          <a:spcPts val="0"/>
                        </a:spcAft>
                        <a:buClr>
                          <a:schemeClr val="dk1"/>
                        </a:buClr>
                        <a:buFont typeface="Arial"/>
                        <a:buNone/>
                      </a:pPr>
                      <a:r>
                        <a:rPr lang="es" sz="1200">
                          <a:solidFill>
                            <a:schemeClr val="dk1"/>
                          </a:solidFill>
                        </a:rPr>
                        <a:t>pasteurelosis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Clr>
                          <a:schemeClr val="dk1"/>
                        </a:buClr>
                        <a:buFont typeface="Arial"/>
                        <a:buNone/>
                      </a:pPr>
                      <a:r>
                        <a:rPr lang="es" sz="1200">
                          <a:solidFill>
                            <a:schemeClr val="dk1"/>
                          </a:solidFill>
                        </a:rPr>
                        <a:t>Mannheimiosis </a:t>
                      </a:r>
                      <a:endParaRPr sz="1200"/>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parasitosis por </a:t>
                      </a:r>
                      <a:r>
                        <a:rPr i="1" lang="es" sz="1200">
                          <a:solidFill>
                            <a:schemeClr val="dk1"/>
                          </a:solidFill>
                        </a:rPr>
                        <a:t>Oestrus ovis</a:t>
                      </a:r>
                      <a:r>
                        <a:rPr lang="es" sz="1200">
                          <a:solidFill>
                            <a:schemeClr val="dk1"/>
                          </a:solidFill>
                        </a:rPr>
                        <a:t>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herpesvirus caprino tipo 1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VRSB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ectima contagioso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r h="283425">
                <a:tc vMerge="1"/>
                <a:tc>
                  <a:txBody>
                    <a:bodyPr/>
                    <a:lstStyle/>
                    <a:p>
                      <a:pPr indent="0" lvl="0" marL="0" rtl="0" algn="l">
                        <a:spcBef>
                          <a:spcPts val="0"/>
                        </a:spcBef>
                        <a:spcAft>
                          <a:spcPts val="0"/>
                        </a:spcAft>
                        <a:buNone/>
                      </a:pPr>
                      <a:r>
                        <a:rPr lang="es" sz="1200">
                          <a:solidFill>
                            <a:schemeClr val="dk1"/>
                          </a:solidFill>
                        </a:rPr>
                        <a:t>PI-3 </a:t>
                      </a:r>
                      <a:endParaRPr sz="1200">
                        <a:solidFill>
                          <a:schemeClr val="dk1"/>
                        </a:solidFill>
                      </a:endParaRPr>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lnL cap="flat" cmpd="sng" w="12700">
                      <a:solidFill>
                        <a:srgbClr val="FFFFFF"/>
                      </a:solidFill>
                      <a:prstDash val="solid"/>
                      <a:round/>
                      <a:headEnd len="sm" w="sm" type="none"/>
                      <a:tailEnd len="sm" w="sm" type="none"/>
                    </a:lnL>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c>
                  <a:txBody>
                    <a:bodyPr/>
                    <a:lstStyle/>
                    <a:p>
                      <a:pPr indent="0" lvl="0" marL="0" marR="0" rtl="0" algn="ctr">
                        <a:spcBef>
                          <a:spcPts val="0"/>
                        </a:spcBef>
                        <a:spcAft>
                          <a:spcPts val="0"/>
                        </a:spcAft>
                        <a:buNone/>
                      </a:pPr>
                      <a:r>
                        <a:t/>
                      </a:r>
                      <a:endParaRPr sz="1200">
                        <a:solidFill>
                          <a:srgbClr val="A5A5A5"/>
                        </a:solidFill>
                      </a:endParaRPr>
                    </a:p>
                  </a:txBody>
                  <a:tcPr marT="45725" marB="45725" marR="91450" marL="91450">
                    <a:solidFill>
                      <a:srgbClr val="B6D7A8"/>
                    </a:solidFill>
                  </a:tcPr>
                </a:tc>
              </a:tr>
            </a:tbl>
          </a:graphicData>
        </a:graphic>
      </p:graphicFrame>
      <p:sp>
        <p:nvSpPr>
          <p:cNvPr id="556" name="Google Shape;556;p55"/>
          <p:cNvSpPr/>
          <p:nvPr/>
        </p:nvSpPr>
        <p:spPr>
          <a:xfrm>
            <a:off x="3553638" y="1976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7" name="Google Shape;557;p55"/>
          <p:cNvSpPr/>
          <p:nvPr/>
        </p:nvSpPr>
        <p:spPr>
          <a:xfrm>
            <a:off x="5482838" y="26392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55"/>
          <p:cNvSpPr/>
          <p:nvPr/>
        </p:nvSpPr>
        <p:spPr>
          <a:xfrm>
            <a:off x="5549138" y="343005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55"/>
          <p:cNvSpPr/>
          <p:nvPr/>
        </p:nvSpPr>
        <p:spPr>
          <a:xfrm>
            <a:off x="3437488"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55"/>
          <p:cNvSpPr/>
          <p:nvPr/>
        </p:nvSpPr>
        <p:spPr>
          <a:xfrm>
            <a:off x="3553638" y="14177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1" name="Google Shape;561;p55"/>
          <p:cNvSpPr/>
          <p:nvPr/>
        </p:nvSpPr>
        <p:spPr>
          <a:xfrm>
            <a:off x="6175113" y="2944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p55"/>
          <p:cNvSpPr/>
          <p:nvPr/>
        </p:nvSpPr>
        <p:spPr>
          <a:xfrm>
            <a:off x="7496113" y="26392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3" name="Google Shape;563;p55"/>
          <p:cNvSpPr/>
          <p:nvPr/>
        </p:nvSpPr>
        <p:spPr>
          <a:xfrm>
            <a:off x="48258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4" name="Google Shape;564;p55"/>
          <p:cNvSpPr/>
          <p:nvPr/>
        </p:nvSpPr>
        <p:spPr>
          <a:xfrm>
            <a:off x="3553638" y="24513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5" name="Google Shape;565;p55"/>
          <p:cNvSpPr/>
          <p:nvPr/>
        </p:nvSpPr>
        <p:spPr>
          <a:xfrm>
            <a:off x="5482838"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6" name="Google Shape;566;p55"/>
          <p:cNvSpPr/>
          <p:nvPr/>
        </p:nvSpPr>
        <p:spPr>
          <a:xfrm>
            <a:off x="7496113" y="29445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55"/>
          <p:cNvSpPr/>
          <p:nvPr/>
        </p:nvSpPr>
        <p:spPr>
          <a:xfrm>
            <a:off x="8253263" y="4613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55"/>
          <p:cNvSpPr/>
          <p:nvPr/>
        </p:nvSpPr>
        <p:spPr>
          <a:xfrm>
            <a:off x="8253263" y="4262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55"/>
          <p:cNvSpPr/>
          <p:nvPr/>
        </p:nvSpPr>
        <p:spPr>
          <a:xfrm>
            <a:off x="8253263" y="3762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55"/>
          <p:cNvSpPr/>
          <p:nvPr/>
        </p:nvSpPr>
        <p:spPr>
          <a:xfrm>
            <a:off x="8171563" y="10198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55"/>
          <p:cNvSpPr/>
          <p:nvPr/>
        </p:nvSpPr>
        <p:spPr>
          <a:xfrm>
            <a:off x="4825838" y="4649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55"/>
          <p:cNvSpPr/>
          <p:nvPr/>
        </p:nvSpPr>
        <p:spPr>
          <a:xfrm>
            <a:off x="8171563" y="181563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55"/>
          <p:cNvSpPr/>
          <p:nvPr/>
        </p:nvSpPr>
        <p:spPr>
          <a:xfrm>
            <a:off x="8171563" y="22135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55"/>
          <p:cNvSpPr/>
          <p:nvPr/>
        </p:nvSpPr>
        <p:spPr>
          <a:xfrm>
            <a:off x="4204138" y="46814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55"/>
          <p:cNvSpPr/>
          <p:nvPr/>
        </p:nvSpPr>
        <p:spPr>
          <a:xfrm>
            <a:off x="8171563" y="141775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55"/>
          <p:cNvSpPr/>
          <p:nvPr/>
        </p:nvSpPr>
        <p:spPr>
          <a:xfrm>
            <a:off x="4204138" y="39239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55"/>
          <p:cNvSpPr/>
          <p:nvPr/>
        </p:nvSpPr>
        <p:spPr>
          <a:xfrm>
            <a:off x="5482850" y="29282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 name="Google Shape;578;p55"/>
          <p:cNvSpPr/>
          <p:nvPr/>
        </p:nvSpPr>
        <p:spPr>
          <a:xfrm>
            <a:off x="5466800" y="9531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9" name="Google Shape;579;p55"/>
          <p:cNvSpPr/>
          <p:nvPr/>
        </p:nvSpPr>
        <p:spPr>
          <a:xfrm>
            <a:off x="8171563" y="2944571"/>
            <a:ext cx="234600" cy="1284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55"/>
          <p:cNvSpPr/>
          <p:nvPr/>
        </p:nvSpPr>
        <p:spPr>
          <a:xfrm>
            <a:off x="8171563" y="3413688"/>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55"/>
          <p:cNvSpPr/>
          <p:nvPr/>
        </p:nvSpPr>
        <p:spPr>
          <a:xfrm>
            <a:off x="4204138" y="442326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55"/>
          <p:cNvSpPr/>
          <p:nvPr/>
        </p:nvSpPr>
        <p:spPr>
          <a:xfrm>
            <a:off x="42041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55"/>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4" name="Google Shape;584;p55"/>
          <p:cNvSpPr/>
          <p:nvPr/>
        </p:nvSpPr>
        <p:spPr>
          <a:xfrm>
            <a:off x="4825838" y="4173613"/>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5" name="Google Shape;585;p55"/>
          <p:cNvSpPr/>
          <p:nvPr/>
        </p:nvSpPr>
        <p:spPr>
          <a:xfrm>
            <a:off x="4825838" y="4411625"/>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6" name="Google Shape;586;p55"/>
          <p:cNvSpPr/>
          <p:nvPr/>
        </p:nvSpPr>
        <p:spPr>
          <a:xfrm>
            <a:off x="5524875" y="1940700"/>
            <a:ext cx="234600" cy="1611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7" name="Google Shape;587;p55"/>
          <p:cNvSpPr txBox="1"/>
          <p:nvPr/>
        </p:nvSpPr>
        <p:spPr>
          <a:xfrm>
            <a:off x="4537850" y="261175"/>
            <a:ext cx="4388400" cy="1580100"/>
          </a:xfrm>
          <a:prstGeom prst="rect">
            <a:avLst/>
          </a:prstGeom>
          <a:solidFill>
            <a:srgbClr val="00FFFF"/>
          </a:solidFill>
          <a:ln>
            <a:noFill/>
          </a:ln>
        </p:spPr>
        <p:txBody>
          <a:bodyPr anchorCtr="0" anchor="t" bIns="114450" lIns="114450" spcFirstLastPara="1" rIns="114450" wrap="square" tIns="114450">
            <a:spAutoFit/>
          </a:bodyPr>
          <a:lstStyle/>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Retroalimentación correcta</a:t>
            </a:r>
            <a:endParaRPr sz="1753">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¡Correcto! Ahora tenemos una batería de herramientas diagnósticas útiles que nos ayudan a determinar la o las enfermedades que presenta el paciente.  </a:t>
            </a:r>
            <a:endParaRPr sz="1753">
              <a:solidFill>
                <a:srgbClr val="595959"/>
              </a:solidFill>
              <a:latin typeface="Times New Roman"/>
              <a:ea typeface="Times New Roman"/>
              <a:cs typeface="Times New Roman"/>
              <a:sym typeface="Times New Roman"/>
            </a:endParaRPr>
          </a:p>
        </p:txBody>
      </p:sp>
      <p:sp>
        <p:nvSpPr>
          <p:cNvPr id="588" name="Google Shape;588;p55"/>
          <p:cNvSpPr txBox="1"/>
          <p:nvPr/>
        </p:nvSpPr>
        <p:spPr>
          <a:xfrm>
            <a:off x="4537850" y="1917870"/>
            <a:ext cx="4388400" cy="1310400"/>
          </a:xfrm>
          <a:prstGeom prst="rect">
            <a:avLst/>
          </a:prstGeom>
          <a:solidFill>
            <a:srgbClr val="00FFFF"/>
          </a:solidFill>
          <a:ln>
            <a:noFill/>
          </a:ln>
        </p:spPr>
        <p:txBody>
          <a:bodyPr anchorCtr="0" anchor="t" bIns="114450" lIns="114450" spcFirstLastPara="1" rIns="114450" wrap="square" tIns="114450">
            <a:spAutoFit/>
          </a:bodyPr>
          <a:lstStyle/>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Retroalimentación incorrecta </a:t>
            </a:r>
            <a:endParaRPr sz="1753">
              <a:solidFill>
                <a:srgbClr val="595959"/>
              </a:solidFill>
              <a:latin typeface="Times New Roman"/>
              <a:ea typeface="Times New Roman"/>
              <a:cs typeface="Times New Roman"/>
              <a:sym typeface="Times New Roman"/>
            </a:endParaRPr>
          </a:p>
          <a:p>
            <a:pPr indent="0" lvl="0" marL="0" rtl="0" algn="l">
              <a:spcBef>
                <a:spcPts val="0"/>
              </a:spcBef>
              <a:spcAft>
                <a:spcPts val="0"/>
              </a:spcAft>
              <a:buNone/>
            </a:pPr>
            <a:r>
              <a:rPr lang="es" sz="1753">
                <a:solidFill>
                  <a:srgbClr val="595959"/>
                </a:solidFill>
                <a:latin typeface="Times New Roman"/>
                <a:ea typeface="Times New Roman"/>
                <a:cs typeface="Times New Roman"/>
                <a:sym typeface="Times New Roman"/>
              </a:rPr>
              <a:t>¡Ups! Revisa de nuevo la lista de herramientas. Toma en cuenta la situación y las muestras que puedes tomar. </a:t>
            </a:r>
            <a:endParaRPr sz="1753">
              <a:solidFill>
                <a:srgbClr val="595959"/>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D</a:t>
            </a:r>
            <a:r>
              <a:rPr lang="es"/>
              <a:t>iagnóstico</a:t>
            </a:r>
            <a:r>
              <a:rPr lang="es"/>
              <a:t> definitivo</a:t>
            </a:r>
            <a:endParaRPr/>
          </a:p>
        </p:txBody>
      </p:sp>
      <p:sp>
        <p:nvSpPr>
          <p:cNvPr id="594" name="Google Shape;594;p56"/>
          <p:cNvSpPr txBox="1"/>
          <p:nvPr>
            <p:ph idx="1" type="body"/>
          </p:nvPr>
        </p:nvSpPr>
        <p:spPr>
          <a:xfrm>
            <a:off x="311700" y="1152475"/>
            <a:ext cx="8520600" cy="285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con todos los datos recolectados y </a:t>
            </a:r>
            <a:r>
              <a:rPr lang="es"/>
              <a:t>metodologías</a:t>
            </a:r>
            <a:r>
              <a:rPr lang="es"/>
              <a:t> utilizadas… cual de estos </a:t>
            </a:r>
            <a:r>
              <a:rPr lang="es"/>
              <a:t>diagnósticos</a:t>
            </a:r>
            <a:r>
              <a:rPr lang="es"/>
              <a:t> es el definitivo </a:t>
            </a:r>
            <a:endParaRPr/>
          </a:p>
          <a:p>
            <a:pPr indent="0" lvl="0" marL="0" rtl="0" algn="l">
              <a:spcBef>
                <a:spcPts val="1200"/>
              </a:spcBef>
              <a:spcAft>
                <a:spcPts val="1200"/>
              </a:spcAft>
              <a:buNone/>
            </a:pPr>
            <a:r>
              <a:t/>
            </a:r>
            <a:endParaRPr/>
          </a:p>
        </p:txBody>
      </p:sp>
      <p:graphicFrame>
        <p:nvGraphicFramePr>
          <p:cNvPr id="595" name="Google Shape;595;p56"/>
          <p:cNvGraphicFramePr/>
          <p:nvPr/>
        </p:nvGraphicFramePr>
        <p:xfrm>
          <a:off x="952500" y="2190750"/>
          <a:ext cx="3000000" cy="3000000"/>
        </p:xfrm>
        <a:graphic>
          <a:graphicData uri="http://schemas.openxmlformats.org/drawingml/2006/table">
            <a:tbl>
              <a:tblPr>
                <a:noFill/>
                <a:tableStyleId>{92B18CB4-C942-4677-B446-B40BB0A2A31A}</a:tableStyleId>
              </a:tblPr>
              <a:tblGrid>
                <a:gridCol w="3815600"/>
                <a:gridCol w="733975"/>
              </a:tblGrid>
              <a:tr h="381000">
                <a:tc>
                  <a:txBody>
                    <a:bodyPr/>
                    <a:lstStyle/>
                    <a:p>
                      <a:pPr indent="-342900" lvl="0" marL="457200" rtl="0" algn="l">
                        <a:spcBef>
                          <a:spcPts val="0"/>
                        </a:spcBef>
                        <a:spcAft>
                          <a:spcPts val="0"/>
                        </a:spcAft>
                        <a:buClr>
                          <a:schemeClr val="dk2"/>
                        </a:buClr>
                        <a:buSzPts val="1800"/>
                        <a:buAutoNum type="alphaLcParenR"/>
                      </a:pPr>
                      <a:r>
                        <a:rPr lang="es" sz="1800">
                          <a:solidFill>
                            <a:schemeClr val="dk2"/>
                          </a:solidFill>
                        </a:rPr>
                        <a:t>Haemonchosis </a:t>
                      </a:r>
                      <a:endParaRPr/>
                    </a:p>
                  </a:txBody>
                  <a:tcPr marT="91425" marB="91425" marR="91425" marL="91425">
                    <a:solidFill>
                      <a:srgbClr val="93C47D"/>
                    </a:solidFill>
                  </a:tcPr>
                </a:tc>
                <a:tc>
                  <a:txBody>
                    <a:bodyPr/>
                    <a:lstStyle/>
                    <a:p>
                      <a:pPr indent="0" lvl="0" marL="0" rtl="0" algn="l">
                        <a:spcBef>
                          <a:spcPts val="0"/>
                        </a:spcBef>
                        <a:spcAft>
                          <a:spcPts val="0"/>
                        </a:spcAft>
                        <a:buNone/>
                      </a:pPr>
                      <a:r>
                        <a:t/>
                      </a:r>
                      <a:endParaRPr/>
                    </a:p>
                  </a:txBody>
                  <a:tcPr marT="91425" marB="91425" marR="91425" marL="91425">
                    <a:solidFill>
                      <a:srgbClr val="93C47D"/>
                    </a:solidFill>
                  </a:tcPr>
                </a:tc>
              </a:tr>
              <a:tr h="381000">
                <a:tc>
                  <a:txBody>
                    <a:bodyPr/>
                    <a:lstStyle/>
                    <a:p>
                      <a:pPr indent="0" lvl="0" marL="0" rtl="0" algn="l">
                        <a:spcBef>
                          <a:spcPts val="0"/>
                        </a:spcBef>
                        <a:spcAft>
                          <a:spcPts val="0"/>
                        </a:spcAft>
                        <a:buNone/>
                      </a:pPr>
                      <a:r>
                        <a:rPr lang="es" sz="1800">
                          <a:solidFill>
                            <a:schemeClr val="dk2"/>
                          </a:solidFill>
                        </a:rPr>
                        <a:t>b)   bronconeumonía </a:t>
                      </a:r>
                      <a:endParaRPr/>
                    </a:p>
                  </a:txBody>
                  <a:tcPr marT="91425" marB="91425" marR="91425" marL="91425">
                    <a:solidFill>
                      <a:srgbClr val="93C47D"/>
                    </a:solidFill>
                  </a:tcPr>
                </a:tc>
                <a:tc>
                  <a:txBody>
                    <a:bodyPr/>
                    <a:lstStyle/>
                    <a:p>
                      <a:pPr indent="0" lvl="0" marL="0" rtl="0" algn="l">
                        <a:spcBef>
                          <a:spcPts val="0"/>
                        </a:spcBef>
                        <a:spcAft>
                          <a:spcPts val="0"/>
                        </a:spcAft>
                        <a:buNone/>
                      </a:pPr>
                      <a:r>
                        <a:t/>
                      </a:r>
                      <a:endParaRPr/>
                    </a:p>
                  </a:txBody>
                  <a:tcPr marT="91425" marB="91425" marR="91425" marL="91425">
                    <a:solidFill>
                      <a:srgbClr val="93C47D"/>
                    </a:solidFill>
                  </a:tcPr>
                </a:tc>
              </a:tr>
              <a:tr h="381000">
                <a:tc>
                  <a:txBody>
                    <a:bodyPr/>
                    <a:lstStyle/>
                    <a:p>
                      <a:pPr indent="0" lvl="0" marL="0" rtl="0" algn="l">
                        <a:spcBef>
                          <a:spcPts val="0"/>
                        </a:spcBef>
                        <a:spcAft>
                          <a:spcPts val="0"/>
                        </a:spcAft>
                        <a:buNone/>
                      </a:pPr>
                      <a:r>
                        <a:rPr lang="es" sz="1800">
                          <a:solidFill>
                            <a:schemeClr val="dk2"/>
                          </a:solidFill>
                        </a:rPr>
                        <a:t>c)   ectima contagioso </a:t>
                      </a:r>
                      <a:endParaRPr sz="1800">
                        <a:solidFill>
                          <a:schemeClr val="dk2"/>
                        </a:solidFill>
                      </a:endParaRPr>
                    </a:p>
                  </a:txBody>
                  <a:tcPr marT="91425" marB="91425" marR="91425" marL="91425">
                    <a:solidFill>
                      <a:srgbClr val="93C47D"/>
                    </a:solidFill>
                  </a:tcPr>
                </a:tc>
                <a:tc>
                  <a:txBody>
                    <a:bodyPr/>
                    <a:lstStyle/>
                    <a:p>
                      <a:pPr indent="0" lvl="0" marL="0" rtl="0" algn="l">
                        <a:spcBef>
                          <a:spcPts val="0"/>
                        </a:spcBef>
                        <a:spcAft>
                          <a:spcPts val="0"/>
                        </a:spcAft>
                        <a:buNone/>
                      </a:pPr>
                      <a:r>
                        <a:t/>
                      </a:r>
                      <a:endParaRPr/>
                    </a:p>
                  </a:txBody>
                  <a:tcPr marT="91425" marB="91425" marR="91425" marL="91425">
                    <a:solidFill>
                      <a:srgbClr val="93C47D"/>
                    </a:solidFill>
                  </a:tcPr>
                </a:tc>
              </a:tr>
            </a:tbl>
          </a:graphicData>
        </a:graphic>
      </p:graphicFrame>
      <p:sp>
        <p:nvSpPr>
          <p:cNvPr id="596" name="Google Shape;596;p56"/>
          <p:cNvSpPr/>
          <p:nvPr/>
        </p:nvSpPr>
        <p:spPr>
          <a:xfrm>
            <a:off x="4861700" y="2237839"/>
            <a:ext cx="533700" cy="3339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56"/>
          <p:cNvSpPr/>
          <p:nvPr/>
        </p:nvSpPr>
        <p:spPr>
          <a:xfrm>
            <a:off x="4768100" y="2709514"/>
            <a:ext cx="533700" cy="333900"/>
          </a:xfrm>
          <a:prstGeom prst="diamond">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57"/>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500">
                <a:solidFill>
                  <a:srgbClr val="000000"/>
                </a:solidFill>
              </a:rPr>
              <a:t>Recomendaciones al productor: </a:t>
            </a:r>
            <a:endParaRPr sz="3500">
              <a:solidFill>
                <a:srgbClr val="000000"/>
              </a:solidFill>
            </a:endParaRPr>
          </a:p>
        </p:txBody>
      </p:sp>
      <p:sp>
        <p:nvSpPr>
          <p:cNvPr id="603" name="Google Shape;603;p57"/>
          <p:cNvSpPr txBox="1"/>
          <p:nvPr/>
        </p:nvSpPr>
        <p:spPr>
          <a:xfrm>
            <a:off x="311700" y="1152475"/>
            <a:ext cx="8520600" cy="34164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0"/>
              </a:spcAft>
              <a:buNone/>
            </a:pPr>
            <a:r>
              <a:rPr lang="es" sz="1800">
                <a:solidFill>
                  <a:srgbClr val="595959"/>
                </a:solidFill>
              </a:rPr>
              <a:t>Obligatorio. Todos los animales de nuevo ingreso deberán someterse a un programa de medicina preventiva integral: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Desparasitación contra parásitos internos  y externos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Se deberá establecer un protocolo de </a:t>
            </a:r>
            <a:r>
              <a:rPr lang="es" sz="1800">
                <a:solidFill>
                  <a:srgbClr val="595959"/>
                </a:solidFill>
              </a:rPr>
              <a:t>desparasitación</a:t>
            </a:r>
            <a:r>
              <a:rPr lang="es" sz="1800">
                <a:solidFill>
                  <a:srgbClr val="595959"/>
                </a:solidFill>
              </a:rPr>
              <a:t> interna </a:t>
            </a:r>
            <a:r>
              <a:rPr lang="es" sz="1800">
                <a:solidFill>
                  <a:srgbClr val="595959"/>
                </a:solidFill>
              </a:rPr>
              <a:t>periódicamente</a:t>
            </a:r>
            <a:r>
              <a:rPr lang="es" sz="1800">
                <a:solidFill>
                  <a:srgbClr val="595959"/>
                </a:solidFill>
              </a:rPr>
              <a:t>, con previo examen parasitoscópico.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Se deberá separar por edades a los animales, y en medida de lo posible no mezclar  los caprinos  con bovinos.  </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Establecer  un periodo esquema de vacunacion</a:t>
            </a:r>
            <a:endParaRPr sz="1800">
              <a:solidFill>
                <a:srgbClr val="595959"/>
              </a:solidFill>
            </a:endParaRPr>
          </a:p>
          <a:p>
            <a:pPr indent="0" lvl="0" marL="0" rtl="0" algn="l">
              <a:lnSpc>
                <a:spcPct val="115000"/>
              </a:lnSpc>
              <a:spcBef>
                <a:spcPts val="1200"/>
              </a:spcBef>
              <a:spcAft>
                <a:spcPts val="0"/>
              </a:spcAft>
              <a:buNone/>
            </a:pPr>
            <a:r>
              <a:rPr lang="es" sz="1800">
                <a:solidFill>
                  <a:srgbClr val="595959"/>
                </a:solidFill>
              </a:rPr>
              <a:t>Vacunación:</a:t>
            </a:r>
            <a:endParaRPr sz="1800">
              <a:solidFill>
                <a:srgbClr val="595959"/>
              </a:solidFill>
            </a:endParaRPr>
          </a:p>
          <a:p>
            <a:pPr indent="-300038" lvl="0" marL="457200" rtl="0" algn="l">
              <a:lnSpc>
                <a:spcPct val="115000"/>
              </a:lnSpc>
              <a:spcBef>
                <a:spcPts val="1200"/>
              </a:spcBef>
              <a:spcAft>
                <a:spcPts val="0"/>
              </a:spcAft>
              <a:buClr>
                <a:srgbClr val="595959"/>
              </a:buClr>
              <a:buSzPct val="100000"/>
              <a:buChar char="●"/>
            </a:pPr>
            <a:r>
              <a:rPr lang="es" sz="1800">
                <a:solidFill>
                  <a:srgbClr val="595959"/>
                </a:solidFill>
              </a:rPr>
              <a:t> Bacterina Biovac 11 vías (contra carbón sintomático, edema maligno, hepatitis necrrótica infecciosa, enterotoxemias, miositis, pasteurelosis, manhemia haemolytica, histophilus somni)  de laboratorio Biozoo  </a:t>
            </a:r>
            <a:endParaRPr sz="1800">
              <a:solidFill>
                <a:srgbClr val="595959"/>
              </a:solidFill>
            </a:endParaRPr>
          </a:p>
          <a:p>
            <a:pPr indent="-300038" lvl="0" marL="457200" rtl="0" algn="l">
              <a:lnSpc>
                <a:spcPct val="115000"/>
              </a:lnSpc>
              <a:spcBef>
                <a:spcPts val="0"/>
              </a:spcBef>
              <a:spcAft>
                <a:spcPts val="0"/>
              </a:spcAft>
              <a:buClr>
                <a:srgbClr val="595959"/>
              </a:buClr>
              <a:buSzPct val="100000"/>
              <a:buChar char="●"/>
            </a:pPr>
            <a:r>
              <a:rPr lang="es" sz="1800">
                <a:solidFill>
                  <a:srgbClr val="595959"/>
                </a:solidFill>
              </a:rPr>
              <a:t>Refuerzo de Bacterina Biovac 11 vias de laboratorio Biozoo </a:t>
            </a:r>
            <a:endParaRPr sz="1800">
              <a:solidFill>
                <a:srgbClr val="595959"/>
              </a:solidFill>
            </a:endParaRPr>
          </a:p>
          <a:p>
            <a:pPr indent="-300038" lvl="0" marL="457200" rtl="0" algn="l">
              <a:lnSpc>
                <a:spcPct val="115000"/>
              </a:lnSpc>
              <a:spcBef>
                <a:spcPts val="0"/>
              </a:spcBef>
              <a:spcAft>
                <a:spcPts val="0"/>
              </a:spcAft>
              <a:buClr>
                <a:srgbClr val="595959"/>
              </a:buClr>
              <a:buSzPct val="100000"/>
              <a:buChar char="●"/>
            </a:pPr>
            <a:r>
              <a:rPr lang="es" sz="1800">
                <a:solidFill>
                  <a:srgbClr val="595959"/>
                </a:solidFill>
              </a:rPr>
              <a:t>bacterina contra brucella abortus </a:t>
            </a:r>
            <a:endParaRPr sz="1800">
              <a:solidFill>
                <a:srgbClr val="595959"/>
              </a:solidFill>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rPr lang="es" sz="1800">
                <a:solidFill>
                  <a:srgbClr val="595959"/>
                </a:solidFill>
              </a:rPr>
              <a:t>El intervalo mínimo entre una vacunación y otra debe ser de al menos 15 días </a:t>
            </a:r>
            <a:endParaRPr sz="1800">
              <a:solidFill>
                <a:srgbClr val="595959"/>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58"/>
          <p:cNvSpPr txBox="1"/>
          <p:nvPr/>
        </p:nvSpPr>
        <p:spPr>
          <a:xfrm>
            <a:off x="215025" y="776625"/>
            <a:ext cx="9018600" cy="2569200"/>
          </a:xfrm>
          <a:prstGeom prst="rect">
            <a:avLst/>
          </a:prstGeom>
          <a:solidFill>
            <a:srgbClr val="B6D7A8"/>
          </a:solid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 sz="1800">
                <a:solidFill>
                  <a:srgbClr val="595959"/>
                </a:solidFill>
              </a:rPr>
              <a:t>¡Bien hecho! </a:t>
            </a:r>
            <a:endParaRPr sz="1800">
              <a:solidFill>
                <a:srgbClr val="595959"/>
              </a:solidFill>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rPr lang="es" sz="1800">
                <a:solidFill>
                  <a:srgbClr val="595959"/>
                </a:solidFill>
              </a:rPr>
              <a:t>Has llegado a la conclusión del caso clínico. Felicitaciones. </a:t>
            </a:r>
            <a:endParaRPr sz="1800">
              <a:solidFill>
                <a:srgbClr val="595959"/>
              </a:solidFill>
            </a:endParaRPr>
          </a:p>
        </p:txBody>
      </p:sp>
      <p:pic>
        <p:nvPicPr>
          <p:cNvPr id="609" name="Google Shape;609;p58" title="Captura de pantalla 2026-04-07 171954.png"/>
          <p:cNvPicPr preferRelativeResize="0"/>
          <p:nvPr/>
        </p:nvPicPr>
        <p:blipFill>
          <a:blip r:embed="rId3">
            <a:alphaModFix/>
          </a:blip>
          <a:stretch>
            <a:fillRect/>
          </a:stretch>
        </p:blipFill>
        <p:spPr>
          <a:xfrm>
            <a:off x="1619250" y="2571750"/>
            <a:ext cx="5905500" cy="23431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