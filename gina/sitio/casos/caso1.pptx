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BC8C95-1D40-486A-9443-D1563B821074}">
  <a:tblStyle styleId="{84BC8C95-1D40-486A-9443-D1563B82107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904ACC0-95A0-4183-87B4-51C2899AC0EF}"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 styleId="{13D016F6-B1C5-4CB8-85F2-C582BF4E0029}"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bb7e91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bb7e91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f3ce504f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f3ce504f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5b9e52b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5b9e52b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f3ce504f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f3ce504f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f3ce504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f3ce504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f3ce504f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f3ce504f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f3ce504f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f3ce504f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f3ce504f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f3ce504f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f3ce504f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f3ce504f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f3ce504f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f3ce504f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f3ce504f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f3ce504f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f3ce504f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f3ce504f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7bb7e915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7bb7e915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f3ce504f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f3ce504f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f3ce504f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f3ce504f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f3ce504fe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cf3ce504fe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f3ce504f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f3ce504f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7bb7e915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7bb7e915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7bb7e915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d7bb7e915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7bb7e915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7bb7e915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7bb7e915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7bb7e915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f3ce504f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cf3ce504f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7bb7e915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d7bb7e915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f3ce504f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f3ce504f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f3ce504f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cf3ce504f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cf3ce504fe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cf3ce504fe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f3ce504f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cf3ce504f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5b9e52b2f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5b9e52b2f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5b9e52b2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c5b9e52b2f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c5b9e52b2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c5b9e52b2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c5b9e52b2f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c5b9e52b2f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c5b9e52b2f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c5b9e52b2f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c5b9e52b2f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c5b9e52b2f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c5b9e52b2f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c5b9e52b2f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7bb7e915d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7bb7e915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c5b9e52b2f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c5b9e52b2f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c5b9e52b2f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c5b9e52b2f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c5b9e52b2f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c5b9e52b2f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c5b9e52b2f_1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c5b9e52b2f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7bb7e915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7bb7e915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c5b9e52b2f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c5b9e52b2f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c5b9e52b2f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c5b9e52b2f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d7bb7e915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d7bb7e915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c5b9e52b2f_1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c5b9e52b2f_1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d9f51074e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d9f51074e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c5b9e52b2f_1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c5b9e52b2f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d9f51074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d9f51074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d9f51074e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d9f51074e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d9f51074e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d9f51074e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9f51074e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d9f51074e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mailto:rancholatropical@correo.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jpg"/><Relationship Id="rId4" Type="http://schemas.openxmlformats.org/officeDocument/2006/relationships/image" Target="../media/image2.jpg"/><Relationship Id="rId5" Type="http://schemas.openxmlformats.org/officeDocument/2006/relationships/image" Target="../media/image9.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jpg"/><Relationship Id="rId4" Type="http://schemas.openxmlformats.org/officeDocument/2006/relationships/image" Target="../media/image2.jpg"/><Relationship Id="rId5" Type="http://schemas.openxmlformats.org/officeDocument/2006/relationships/image" Target="../media/image9.png"/><Relationship Id="rId6"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Proyecto PAPIME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casos </a:t>
            </a:r>
            <a:r>
              <a:rPr lang="es"/>
              <a:t>clínicos</a:t>
            </a:r>
            <a:r>
              <a:rPr lang="es"/>
              <a:t> participativos en rumiantes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76125"/>
            <a:ext cx="8520600" cy="1443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
              <a:t>CASO #1. BOVINO </a:t>
            </a:r>
            <a:endParaRPr/>
          </a:p>
          <a:p>
            <a:pPr indent="0" lvl="0" marL="0" rtl="0" algn="ctr">
              <a:spcBef>
                <a:spcPts val="0"/>
              </a:spcBef>
              <a:spcAft>
                <a:spcPts val="0"/>
              </a:spcAft>
              <a:buNone/>
            </a:pPr>
            <a:r>
              <a:t/>
            </a:r>
            <a:endParaRPr/>
          </a:p>
        </p:txBody>
      </p:sp>
      <p:pic>
        <p:nvPicPr>
          <p:cNvPr id="61" name="Google Shape;61;p14" title="tropico.jpg"/>
          <p:cNvPicPr preferRelativeResize="0"/>
          <p:nvPr/>
        </p:nvPicPr>
        <p:blipFill rotWithShape="1">
          <a:blip r:embed="rId3">
            <a:alphaModFix/>
          </a:blip>
          <a:srcRect b="0" l="27735" r="0" t="0"/>
          <a:stretch/>
        </p:blipFill>
        <p:spPr>
          <a:xfrm>
            <a:off x="466800" y="1754213"/>
            <a:ext cx="3632960" cy="2963850"/>
          </a:xfrm>
          <a:prstGeom prst="flowChartOffpageConnector">
            <a:avLst/>
          </a:prstGeom>
          <a:noFill/>
          <a:ln>
            <a:noFill/>
          </a:ln>
        </p:spPr>
      </p:pic>
      <p:pic>
        <p:nvPicPr>
          <p:cNvPr id="62" name="Google Shape;62;p14" title="Screenshot_2026-03-19-10-48-45-439_com.whatsapp.jpg"/>
          <p:cNvPicPr preferRelativeResize="0"/>
          <p:nvPr/>
        </p:nvPicPr>
        <p:blipFill>
          <a:blip r:embed="rId4">
            <a:alphaModFix/>
          </a:blip>
          <a:stretch>
            <a:fillRect/>
          </a:stretch>
        </p:blipFill>
        <p:spPr>
          <a:xfrm>
            <a:off x="5310500" y="1096000"/>
            <a:ext cx="2141400" cy="3746700"/>
          </a:xfrm>
          <a:prstGeom prst="flowChartOffpageConnector">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87425" y="131025"/>
            <a:ext cx="8520600" cy="59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CONSTRUCCIÓN DEL CASO CLÍNICO</a:t>
            </a:r>
            <a:endParaRPr/>
          </a:p>
          <a:p>
            <a:pPr indent="0" lvl="0" marL="0" rtl="0" algn="l">
              <a:spcBef>
                <a:spcPts val="0"/>
              </a:spcBef>
              <a:spcAft>
                <a:spcPts val="0"/>
              </a:spcAft>
              <a:buNone/>
            </a:pPr>
            <a:r>
              <a:t/>
            </a:r>
            <a:endParaRPr sz="1800"/>
          </a:p>
        </p:txBody>
      </p:sp>
      <p:sp>
        <p:nvSpPr>
          <p:cNvPr id="68" name="Google Shape;68;p15"/>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s" sz="1800">
                <a:solidFill>
                  <a:schemeClr val="dk1"/>
                </a:solidFill>
              </a:rPr>
              <a:t>C</a:t>
            </a:r>
            <a:r>
              <a:rPr lang="es" sz="1800">
                <a:solidFill>
                  <a:schemeClr val="dk1"/>
                </a:solidFill>
              </a:rPr>
              <a:t>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69" name="Google Shape;69;p15"/>
          <p:cNvSpPr/>
          <p:nvPr/>
        </p:nvSpPr>
        <p:spPr>
          <a:xfrm>
            <a:off x="124400" y="4513500"/>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70" name="Google Shape;70;p15"/>
          <p:cNvSpPr/>
          <p:nvPr/>
        </p:nvSpPr>
        <p:spPr>
          <a:xfrm>
            <a:off x="124400" y="42336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71" name="Google Shape;71;p15"/>
          <p:cNvSpPr/>
          <p:nvPr/>
        </p:nvSpPr>
        <p:spPr>
          <a:xfrm>
            <a:off x="198150" y="31142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72" name="Google Shape;72;p15"/>
          <p:cNvSpPr/>
          <p:nvPr/>
        </p:nvSpPr>
        <p:spPr>
          <a:xfrm>
            <a:off x="124400" y="2866300"/>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73" name="Google Shape;73;p15"/>
          <p:cNvSpPr/>
          <p:nvPr/>
        </p:nvSpPr>
        <p:spPr>
          <a:xfrm>
            <a:off x="124400" y="36739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74" name="Google Shape;74;p15"/>
          <p:cNvSpPr/>
          <p:nvPr/>
        </p:nvSpPr>
        <p:spPr>
          <a:xfrm>
            <a:off x="174025" y="33941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75" name="Google Shape;75;p15"/>
          <p:cNvSpPr/>
          <p:nvPr/>
        </p:nvSpPr>
        <p:spPr>
          <a:xfrm>
            <a:off x="124400" y="39538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76" name="Google Shape;76;p15"/>
          <p:cNvSpPr/>
          <p:nvPr/>
        </p:nvSpPr>
        <p:spPr>
          <a:xfrm>
            <a:off x="330707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77" name="Google Shape;77;p15"/>
          <p:cNvSpPr/>
          <p:nvPr/>
        </p:nvSpPr>
        <p:spPr>
          <a:xfrm>
            <a:off x="318077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78" name="Google Shape;78;p15"/>
          <p:cNvSpPr/>
          <p:nvPr/>
        </p:nvSpPr>
        <p:spPr>
          <a:xfrm>
            <a:off x="193442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79" name="Google Shape;79;p15"/>
          <p:cNvSpPr/>
          <p:nvPr/>
        </p:nvSpPr>
        <p:spPr>
          <a:xfrm>
            <a:off x="180812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80" name="Google Shape;80;p15"/>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en orden secuencial los aspectos del interrogatorio y de la exploración </a:t>
            </a:r>
            <a:endParaRPr sz="15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87425" y="131025"/>
            <a:ext cx="8520600" cy="59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CONSTRUCCIÓN DEL CASO CLÍNICO</a:t>
            </a:r>
            <a:endParaRPr/>
          </a:p>
          <a:p>
            <a:pPr indent="0" lvl="0" marL="0" rtl="0" algn="l">
              <a:spcBef>
                <a:spcPts val="0"/>
              </a:spcBef>
              <a:spcAft>
                <a:spcPts val="0"/>
              </a:spcAft>
              <a:buNone/>
            </a:pPr>
            <a:r>
              <a:t/>
            </a:r>
            <a:endParaRPr sz="1800"/>
          </a:p>
        </p:txBody>
      </p:sp>
      <p:sp>
        <p:nvSpPr>
          <p:cNvPr id="86" name="Google Shape;86;p16"/>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s" sz="1800">
                <a:solidFill>
                  <a:schemeClr val="dk1"/>
                </a:solidFill>
              </a:rPr>
              <a:t>C</a:t>
            </a:r>
            <a:r>
              <a:rPr lang="es" sz="1800">
                <a:solidFill>
                  <a:schemeClr val="dk1"/>
                </a:solidFill>
              </a:rPr>
              <a:t>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87" name="Google Shape;87;p16"/>
          <p:cNvSpPr/>
          <p:nvPr/>
        </p:nvSpPr>
        <p:spPr>
          <a:xfrm>
            <a:off x="317050" y="3324463"/>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88" name="Google Shape;88;p16"/>
          <p:cNvSpPr/>
          <p:nvPr/>
        </p:nvSpPr>
        <p:spPr>
          <a:xfrm>
            <a:off x="435150" y="4398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89" name="Google Shape;89;p16"/>
          <p:cNvSpPr/>
          <p:nvPr/>
        </p:nvSpPr>
        <p:spPr>
          <a:xfrm>
            <a:off x="2356838" y="26787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90" name="Google Shape;90;p16"/>
          <p:cNvSpPr/>
          <p:nvPr/>
        </p:nvSpPr>
        <p:spPr>
          <a:xfrm>
            <a:off x="2283088" y="3535863"/>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91" name="Google Shape;91;p16"/>
          <p:cNvSpPr/>
          <p:nvPr/>
        </p:nvSpPr>
        <p:spPr>
          <a:xfrm>
            <a:off x="2322813" y="4361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92" name="Google Shape;92;p16"/>
          <p:cNvSpPr/>
          <p:nvPr/>
        </p:nvSpPr>
        <p:spPr>
          <a:xfrm>
            <a:off x="508050" y="38612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93" name="Google Shape;93;p16"/>
          <p:cNvSpPr/>
          <p:nvPr/>
        </p:nvSpPr>
        <p:spPr>
          <a:xfrm>
            <a:off x="508050" y="26519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94" name="Google Shape;94;p16"/>
          <p:cNvSpPr/>
          <p:nvPr/>
        </p:nvSpPr>
        <p:spPr>
          <a:xfrm>
            <a:off x="2448275" y="21234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95" name="Google Shape;95;p16"/>
          <p:cNvSpPr/>
          <p:nvPr/>
        </p:nvSpPr>
        <p:spPr>
          <a:xfrm>
            <a:off x="2321976" y="251437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6" name="Google Shape;96;p16"/>
          <p:cNvSpPr/>
          <p:nvPr/>
        </p:nvSpPr>
        <p:spPr>
          <a:xfrm>
            <a:off x="482250"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97" name="Google Shape;97;p16"/>
          <p:cNvSpPr/>
          <p:nvPr/>
        </p:nvSpPr>
        <p:spPr>
          <a:xfrm>
            <a:off x="355938" y="2502413"/>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8" name="Google Shape;98;p16"/>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a:t>
            </a:r>
            <a:r>
              <a:rPr lang="es" sz="1500">
                <a:solidFill>
                  <a:schemeClr val="dk2"/>
                </a:solidFill>
              </a:rPr>
              <a:t>en orden secuencial los aspectos del interrogatorio y de la exploración </a:t>
            </a:r>
            <a:endParaRPr sz="1500">
              <a:solidFill>
                <a:schemeClr val="dk2"/>
              </a:solidFill>
            </a:endParaRPr>
          </a:p>
        </p:txBody>
      </p:sp>
      <p:sp>
        <p:nvSpPr>
          <p:cNvPr id="99" name="Google Shape;99;p16"/>
          <p:cNvSpPr txBox="1"/>
          <p:nvPr/>
        </p:nvSpPr>
        <p:spPr>
          <a:xfrm>
            <a:off x="3823925" y="2296725"/>
            <a:ext cx="50679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latin typeface="Times New Roman"/>
                <a:ea typeface="Times New Roman"/>
                <a:cs typeface="Times New Roman"/>
                <a:sym typeface="Times New Roman"/>
              </a:rPr>
              <a:t>Retroalimentación correcta</a:t>
            </a:r>
            <a:endParaRPr>
              <a:latin typeface="Times New Roman"/>
              <a:ea typeface="Times New Roman"/>
              <a:cs typeface="Times New Roman"/>
              <a:sym typeface="Times New Roman"/>
            </a:endParaRPr>
          </a:p>
          <a:p>
            <a:pPr indent="0" lvl="0" marL="0" rtl="0" algn="just">
              <a:spcBef>
                <a:spcPts val="0"/>
              </a:spcBef>
              <a:spcAft>
                <a:spcPts val="0"/>
              </a:spcAft>
              <a:buNone/>
            </a:pPr>
            <a:r>
              <a:rPr lang="es">
                <a:latin typeface="Times New Roman"/>
                <a:ea typeface="Times New Roman"/>
                <a:cs typeface="Times New Roman"/>
                <a:sym typeface="Times New Roman"/>
              </a:rPr>
              <a:t>¡Bien hecho! el abordaje estructurado en el orden correcto te orienta a llegar a un mejor </a:t>
            </a:r>
            <a:r>
              <a:rPr lang="es">
                <a:latin typeface="Times New Roman"/>
                <a:ea typeface="Times New Roman"/>
                <a:cs typeface="Times New Roman"/>
                <a:sym typeface="Times New Roman"/>
              </a:rPr>
              <a:t>diagnóstico</a:t>
            </a:r>
            <a:r>
              <a:rPr lang="es">
                <a:latin typeface="Times New Roman"/>
                <a:ea typeface="Times New Roman"/>
                <a:cs typeface="Times New Roman"/>
                <a:sym typeface="Times New Roman"/>
              </a:rPr>
              <a:t> y resolución del problema. </a:t>
            </a:r>
            <a:endParaRPr sz="1800">
              <a:solidFill>
                <a:schemeClr val="dk2"/>
              </a:solidFill>
              <a:latin typeface="Times New Roman"/>
              <a:ea typeface="Times New Roman"/>
              <a:cs typeface="Times New Roman"/>
              <a:sym typeface="Times New Roman"/>
            </a:endParaRPr>
          </a:p>
        </p:txBody>
      </p:sp>
      <p:sp>
        <p:nvSpPr>
          <p:cNvPr id="100" name="Google Shape;100;p16"/>
          <p:cNvSpPr txBox="1"/>
          <p:nvPr/>
        </p:nvSpPr>
        <p:spPr>
          <a:xfrm>
            <a:off x="3957525" y="3324475"/>
            <a:ext cx="49344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latin typeface="Times New Roman"/>
                <a:ea typeface="Times New Roman"/>
                <a:cs typeface="Times New Roman"/>
                <a:sym typeface="Times New Roman"/>
              </a:rPr>
              <a:t>Retroalimentación incorrecta</a:t>
            </a:r>
            <a:endParaRPr>
              <a:latin typeface="Times New Roman"/>
              <a:ea typeface="Times New Roman"/>
              <a:cs typeface="Times New Roman"/>
              <a:sym typeface="Times New Roman"/>
            </a:endParaRPr>
          </a:p>
          <a:p>
            <a:pPr indent="0" lvl="0" marL="0" rtl="0" algn="just">
              <a:spcBef>
                <a:spcPts val="0"/>
              </a:spcBef>
              <a:spcAft>
                <a:spcPts val="0"/>
              </a:spcAft>
              <a:buNone/>
            </a:pPr>
            <a:r>
              <a:rPr lang="es">
                <a:latin typeface="Times New Roman"/>
                <a:ea typeface="Times New Roman"/>
                <a:cs typeface="Times New Roman"/>
                <a:sym typeface="Times New Roman"/>
              </a:rPr>
              <a:t>¡Ups! revisa con detenimiento  tu respuesta. Recuerda: un expediente clínico impreciso y desordenado puede causar confusión, pérdida de tiempo y de recursos.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108700" y="379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520"/>
              <a:t>Reseña </a:t>
            </a:r>
            <a:endParaRPr sz="3520"/>
          </a:p>
        </p:txBody>
      </p:sp>
      <p:sp>
        <p:nvSpPr>
          <p:cNvPr id="106" name="Google Shape;106;p17"/>
          <p:cNvSpPr txBox="1"/>
          <p:nvPr>
            <p:ph idx="1" type="body"/>
          </p:nvPr>
        </p:nvSpPr>
        <p:spPr>
          <a:xfrm>
            <a:off x="249250" y="1483900"/>
            <a:ext cx="4167900" cy="32256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Times New Roman"/>
                <a:ea typeface="Times New Roman"/>
                <a:cs typeface="Times New Roman"/>
                <a:sym typeface="Times New Roman"/>
              </a:rPr>
              <a:t>Especie:  bovino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Raza: Zuiz-bu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Sexo:  Hembra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Estado fisiológico: Gestante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Edad: 3 años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Función </a:t>
            </a:r>
            <a:r>
              <a:rPr lang="es" sz="1400">
                <a:latin typeface="Times New Roman"/>
                <a:ea typeface="Times New Roman"/>
                <a:cs typeface="Times New Roman"/>
                <a:sym typeface="Times New Roman"/>
              </a:rPr>
              <a:t>zootécnica</a:t>
            </a:r>
            <a:r>
              <a:rPr lang="es" sz="1400">
                <a:latin typeface="Times New Roman"/>
                <a:ea typeface="Times New Roman"/>
                <a:cs typeface="Times New Roman"/>
                <a:sym typeface="Times New Roman"/>
              </a:rPr>
              <a:t>:  doble </a:t>
            </a:r>
            <a:r>
              <a:rPr lang="es" sz="1400">
                <a:latin typeface="Times New Roman"/>
                <a:ea typeface="Times New Roman"/>
                <a:cs typeface="Times New Roman"/>
                <a:sym typeface="Times New Roman"/>
              </a:rPr>
              <a:t>propósito</a:t>
            </a:r>
            <a:r>
              <a:rPr lang="e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ID: 246</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s" sz="1400">
                <a:latin typeface="Times New Roman"/>
                <a:ea typeface="Times New Roman"/>
                <a:cs typeface="Times New Roman"/>
                <a:sym typeface="Times New Roman"/>
              </a:rPr>
              <a:t>Nombre: Milagros </a:t>
            </a:r>
            <a:endParaRPr sz="1400">
              <a:latin typeface="Times New Roman"/>
              <a:ea typeface="Times New Roman"/>
              <a:cs typeface="Times New Roman"/>
              <a:sym typeface="Times New Roman"/>
            </a:endParaRPr>
          </a:p>
        </p:txBody>
      </p:sp>
      <p:sp>
        <p:nvSpPr>
          <p:cNvPr id="107" name="Google Shape;107;p17"/>
          <p:cNvSpPr txBox="1"/>
          <p:nvPr>
            <p:ph idx="1" type="body"/>
          </p:nvPr>
        </p:nvSpPr>
        <p:spPr>
          <a:xfrm>
            <a:off x="4344350" y="1717025"/>
            <a:ext cx="4640400" cy="29925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Times New Roman"/>
                <a:ea typeface="Times New Roman"/>
                <a:cs typeface="Times New Roman"/>
                <a:sym typeface="Times New Roman"/>
              </a:rPr>
              <a:t>Productor: Eder Hernandez Jaramillo </a:t>
            </a:r>
            <a:endParaRPr>
              <a:latin typeface="Times New Roman"/>
              <a:ea typeface="Times New Roman"/>
              <a:cs typeface="Times New Roman"/>
              <a:sym typeface="Times New Roman"/>
            </a:endParaRPr>
          </a:p>
          <a:p>
            <a:pPr indent="0" lvl="0" marL="0" rtl="0" algn="l">
              <a:spcBef>
                <a:spcPts val="1200"/>
              </a:spcBef>
              <a:spcAft>
                <a:spcPts val="0"/>
              </a:spcAft>
              <a:buNone/>
            </a:pPr>
            <a:r>
              <a:rPr lang="es">
                <a:latin typeface="Times New Roman"/>
                <a:ea typeface="Times New Roman"/>
                <a:cs typeface="Times New Roman"/>
                <a:sym typeface="Times New Roman"/>
              </a:rPr>
              <a:t>tel. contacto:  229-321-2420</a:t>
            </a:r>
            <a:endParaRPr>
              <a:latin typeface="Times New Roman"/>
              <a:ea typeface="Times New Roman"/>
              <a:cs typeface="Times New Roman"/>
              <a:sym typeface="Times New Roman"/>
            </a:endParaRPr>
          </a:p>
          <a:p>
            <a:pPr indent="0" lvl="0" marL="0" rtl="0" algn="l">
              <a:spcBef>
                <a:spcPts val="1200"/>
              </a:spcBef>
              <a:spcAft>
                <a:spcPts val="0"/>
              </a:spcAft>
              <a:buNone/>
            </a:pPr>
            <a:r>
              <a:rPr lang="es">
                <a:latin typeface="Times New Roman"/>
                <a:ea typeface="Times New Roman"/>
                <a:cs typeface="Times New Roman"/>
                <a:sym typeface="Times New Roman"/>
              </a:rPr>
              <a:t>dirección</a:t>
            </a:r>
            <a:r>
              <a:rPr lang="es">
                <a:latin typeface="Times New Roman"/>
                <a:ea typeface="Times New Roman"/>
                <a:cs typeface="Times New Roman"/>
                <a:sym typeface="Times New Roman"/>
              </a:rPr>
              <a:t>: Calle loma bonita #23, Martinez de la torre, Veracruz </a:t>
            </a:r>
            <a:endParaRPr>
              <a:latin typeface="Times New Roman"/>
              <a:ea typeface="Times New Roman"/>
              <a:cs typeface="Times New Roman"/>
              <a:sym typeface="Times New Roman"/>
            </a:endParaRPr>
          </a:p>
          <a:p>
            <a:pPr indent="0" lvl="0" marL="0" rtl="0" algn="l">
              <a:spcBef>
                <a:spcPts val="1200"/>
              </a:spcBef>
              <a:spcAft>
                <a:spcPts val="0"/>
              </a:spcAft>
              <a:buNone/>
            </a:pPr>
            <a:r>
              <a:rPr lang="es">
                <a:latin typeface="Times New Roman"/>
                <a:ea typeface="Times New Roman"/>
                <a:cs typeface="Times New Roman"/>
                <a:sym typeface="Times New Roman"/>
              </a:rPr>
              <a:t>correo </a:t>
            </a:r>
            <a:r>
              <a:rPr lang="es">
                <a:latin typeface="Times New Roman"/>
                <a:ea typeface="Times New Roman"/>
                <a:cs typeface="Times New Roman"/>
                <a:sym typeface="Times New Roman"/>
              </a:rPr>
              <a:t>electrónico</a:t>
            </a:r>
            <a:r>
              <a:rPr lang="es">
                <a:latin typeface="Times New Roman"/>
                <a:ea typeface="Times New Roman"/>
                <a:cs typeface="Times New Roman"/>
                <a:sym typeface="Times New Roman"/>
              </a:rPr>
              <a:t>:  </a:t>
            </a:r>
            <a:r>
              <a:rPr lang="es" u="sng">
                <a:solidFill>
                  <a:schemeClr val="hlink"/>
                </a:solidFill>
                <a:latin typeface="Times New Roman"/>
                <a:ea typeface="Times New Roman"/>
                <a:cs typeface="Times New Roman"/>
                <a:sym typeface="Times New Roman"/>
                <a:hlinkClick r:id="rId3"/>
              </a:rPr>
              <a:t>rancholatropical@correo.com</a:t>
            </a:r>
            <a:endParaRPr>
              <a:latin typeface="Times New Roman"/>
              <a:ea typeface="Times New Roman"/>
              <a:cs typeface="Times New Roman"/>
              <a:sym typeface="Times New Roman"/>
            </a:endParaRPr>
          </a:p>
          <a:p>
            <a:pPr indent="0" lvl="0" marL="0" rtl="0" algn="l">
              <a:spcBef>
                <a:spcPts val="1200"/>
              </a:spcBef>
              <a:spcAft>
                <a:spcPts val="1200"/>
              </a:spcAft>
              <a:buNone/>
            </a:pPr>
            <a:r>
              <a:rPr lang="e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311700" y="306075"/>
            <a:ext cx="5104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Motivo de consulta </a:t>
            </a:r>
            <a:endParaRPr sz="3500"/>
          </a:p>
        </p:txBody>
      </p:sp>
      <p:sp>
        <p:nvSpPr>
          <p:cNvPr id="113" name="Google Shape;113;p18"/>
          <p:cNvSpPr txBox="1"/>
          <p:nvPr>
            <p:ph idx="1" type="body"/>
          </p:nvPr>
        </p:nvSpPr>
        <p:spPr>
          <a:xfrm>
            <a:off x="419925" y="1161150"/>
            <a:ext cx="5258100" cy="282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Hoy,  el productor Eder Hernández dueño  de la granja  “La tropical” ubicada en el municipio de ******  , Veracruz  te llama por </a:t>
            </a:r>
            <a:r>
              <a:rPr lang="es"/>
              <a:t>teléfono</a:t>
            </a:r>
            <a:r>
              <a:rPr lang="es"/>
              <a:t> porque una vaca  cargada que compró hace unos días, de la raza Zuiz-bú está presentando </a:t>
            </a:r>
            <a:r>
              <a:rPr lang="es"/>
              <a:t>signología</a:t>
            </a:r>
            <a:r>
              <a:rPr lang="es"/>
              <a:t> respiratoria y no responde al tratamiento, por lo que requiere de tu servicio mvz. . </a:t>
            </a:r>
            <a:endParaRPr/>
          </a:p>
        </p:txBody>
      </p:sp>
      <p:sp>
        <p:nvSpPr>
          <p:cNvPr id="114" name="Google Shape;114;p18"/>
          <p:cNvSpPr/>
          <p:nvPr/>
        </p:nvSpPr>
        <p:spPr>
          <a:xfrm>
            <a:off x="5213650" y="2820150"/>
            <a:ext cx="3325950" cy="2061150"/>
          </a:xfrm>
          <a:prstGeom prst="flowChartPunchedCar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311700" y="445025"/>
            <a:ext cx="432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Anamnesis </a:t>
            </a:r>
            <a:endParaRPr sz="3500"/>
          </a:p>
        </p:txBody>
      </p:sp>
      <p:sp>
        <p:nvSpPr>
          <p:cNvPr id="120" name="Google Shape;120;p19"/>
          <p:cNvSpPr txBox="1"/>
          <p:nvPr>
            <p:ph idx="1" type="body"/>
          </p:nvPr>
        </p:nvSpPr>
        <p:spPr>
          <a:xfrm>
            <a:off x="4508100" y="1152475"/>
            <a:ext cx="43242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El productor nos indica que comenzó a observar diarreas en su vaca Milagros desde hace 3 días y que días atrás la miraba “rara”, comenzó comiendo menos y luego se la pasaba echada, luego con </a:t>
            </a:r>
            <a:r>
              <a:rPr lang="es"/>
              <a:t>secreción nasal </a:t>
            </a:r>
            <a:r>
              <a:rPr lang="es"/>
              <a:t>y </a:t>
            </a:r>
            <a:r>
              <a:rPr lang="es"/>
              <a:t>secreción ocular</a:t>
            </a:r>
            <a:r>
              <a:rPr lang="es"/>
              <a:t> y luego empezó con tos. </a:t>
            </a:r>
            <a:r>
              <a:rPr lang="es"/>
              <a:t>También</a:t>
            </a:r>
            <a:r>
              <a:rPr lang="es"/>
              <a:t> refiere que ya se le ha administrado un tratamiento con </a:t>
            </a:r>
            <a:r>
              <a:rPr lang="es"/>
              <a:t>Draxxin (tulatromicina) y Yatren( ácido yatrénico + Caseína libre de protoalbúmina) </a:t>
            </a:r>
            <a:r>
              <a:rPr lang="es"/>
              <a:t> el cual no tuvo una respuesta favorable. </a:t>
            </a:r>
            <a:endParaRPr/>
          </a:p>
        </p:txBody>
      </p:sp>
      <p:sp>
        <p:nvSpPr>
          <p:cNvPr id="121" name="Google Shape;121;p19"/>
          <p:cNvSpPr/>
          <p:nvPr/>
        </p:nvSpPr>
        <p:spPr>
          <a:xfrm>
            <a:off x="591675" y="1330350"/>
            <a:ext cx="3700800" cy="3051300"/>
          </a:xfrm>
          <a:prstGeom prst="flowChartDelay">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idx="1" type="body"/>
          </p:nvPr>
        </p:nvSpPr>
        <p:spPr>
          <a:xfrm>
            <a:off x="4572000" y="3607100"/>
            <a:ext cx="4265100" cy="1401900"/>
          </a:xfrm>
          <a:prstGeom prst="rect">
            <a:avLst/>
          </a:prstGeom>
          <a:solidFill>
            <a:srgbClr val="00FFFF"/>
          </a:solidFill>
        </p:spPr>
        <p:txBody>
          <a:bodyPr anchorCtr="0" anchor="t" bIns="91425" lIns="91425" spcFirstLastPara="1" rIns="91425" wrap="square" tIns="91425">
            <a:noAutofit/>
          </a:bodyPr>
          <a:lstStyle/>
          <a:p>
            <a:pPr indent="0" lvl="0" marL="0" rtl="0" algn="just">
              <a:spcBef>
                <a:spcPts val="0"/>
              </a:spcBef>
              <a:spcAft>
                <a:spcPts val="0"/>
              </a:spcAft>
              <a:buNone/>
            </a:pPr>
            <a:r>
              <a:rPr lang="es" sz="1400">
                <a:latin typeface="Times New Roman"/>
                <a:ea typeface="Times New Roman"/>
                <a:cs typeface="Times New Roman"/>
                <a:sym typeface="Times New Roman"/>
              </a:rPr>
              <a:t>Retroalimentación incorrecta</a:t>
            </a:r>
            <a:br>
              <a:rPr lang="es" sz="1400">
                <a:latin typeface="Times New Roman"/>
                <a:ea typeface="Times New Roman"/>
                <a:cs typeface="Times New Roman"/>
                <a:sym typeface="Times New Roman"/>
              </a:rPr>
            </a:br>
            <a:r>
              <a:rPr lang="es" sz="1400">
                <a:latin typeface="Times New Roman"/>
                <a:ea typeface="Times New Roman"/>
                <a:cs typeface="Times New Roman"/>
                <a:sym typeface="Times New Roman"/>
              </a:rPr>
              <a:t>¡Ups! Recuerda que los factores de riesgo son </a:t>
            </a:r>
            <a:r>
              <a:rPr lang="es" sz="1400" u="sng">
                <a:latin typeface="Times New Roman"/>
                <a:ea typeface="Times New Roman"/>
                <a:cs typeface="Times New Roman"/>
                <a:sym typeface="Times New Roman"/>
              </a:rPr>
              <a:t>condiciones</a:t>
            </a:r>
            <a:r>
              <a:rPr lang="es" sz="1400">
                <a:latin typeface="Times New Roman"/>
                <a:ea typeface="Times New Roman"/>
                <a:cs typeface="Times New Roman"/>
                <a:sym typeface="Times New Roman"/>
              </a:rPr>
              <a:t> del ambiente o del paciente mismo que predisponen la manifestación de enfermedad.</a:t>
            </a:r>
            <a:endParaRPr sz="1400">
              <a:latin typeface="Times New Roman"/>
              <a:ea typeface="Times New Roman"/>
              <a:cs typeface="Times New Roman"/>
              <a:sym typeface="Times New Roman"/>
            </a:endParaRPr>
          </a:p>
          <a:p>
            <a:pPr indent="0" lvl="0" marL="0" rtl="0" algn="just">
              <a:spcBef>
                <a:spcPts val="1200"/>
              </a:spcBef>
              <a:spcAft>
                <a:spcPts val="1200"/>
              </a:spcAft>
              <a:buClr>
                <a:schemeClr val="dk1"/>
              </a:buClr>
              <a:buSzPts val="1100"/>
              <a:buFont typeface="Arial"/>
              <a:buNone/>
            </a:pPr>
            <a:r>
              <a:rPr lang="es" sz="1400">
                <a:latin typeface="Times New Roman"/>
                <a:ea typeface="Times New Roman"/>
                <a:cs typeface="Times New Roman"/>
                <a:sym typeface="Times New Roman"/>
              </a:rPr>
              <a:t> ojo: su presencia no implica la enfermedad.</a:t>
            </a:r>
            <a:r>
              <a:rPr lang="es" sz="1400"/>
              <a:t> </a:t>
            </a:r>
            <a:endParaRPr sz="1400"/>
          </a:p>
        </p:txBody>
      </p:sp>
      <p:graphicFrame>
        <p:nvGraphicFramePr>
          <p:cNvPr id="127" name="Google Shape;127;p20"/>
          <p:cNvGraphicFramePr/>
          <p:nvPr/>
        </p:nvGraphicFramePr>
        <p:xfrm>
          <a:off x="3118650" y="1870775"/>
          <a:ext cx="3000000" cy="3000000"/>
        </p:xfrm>
        <a:graphic>
          <a:graphicData uri="http://schemas.openxmlformats.org/drawingml/2006/table">
            <a:tbl>
              <a:tblPr>
                <a:noFill/>
                <a:tableStyleId>{84BC8C95-1D40-486A-9443-D1563B821074}</a:tableStyleId>
              </a:tblPr>
              <a:tblGrid>
                <a:gridCol w="2016125"/>
                <a:gridCol w="682625"/>
              </a:tblGrid>
              <a:tr h="381000">
                <a:tc>
                  <a:txBody>
                    <a:bodyPr/>
                    <a:lstStyle/>
                    <a:p>
                      <a:pPr indent="0" lvl="0" marL="0" rtl="0" algn="ctr">
                        <a:spcBef>
                          <a:spcPts val="0"/>
                        </a:spcBef>
                        <a:spcAft>
                          <a:spcPts val="0"/>
                        </a:spcAft>
                        <a:buNone/>
                      </a:pPr>
                      <a:r>
                        <a:rPr lang="es"/>
                        <a:t>Manifestaciones </a:t>
                      </a:r>
                      <a:r>
                        <a:rPr lang="es"/>
                        <a:t>clínicas</a:t>
                      </a:r>
                      <a:r>
                        <a:rPr lang="es"/>
                        <a:t>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28" name="Google Shape;128;p20"/>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990"/>
              <a:buFont typeface="Arial"/>
              <a:buNone/>
            </a:pPr>
            <a:r>
              <a:rPr lang="es" sz="1520">
                <a:solidFill>
                  <a:schemeClr val="dk2"/>
                </a:solidFill>
              </a:rPr>
              <a:t>¿Qué tipo de datos encuentras dentro de la anamnesis con relación a la vaca Milagros?</a:t>
            </a:r>
            <a:endParaRPr sz="2420"/>
          </a:p>
        </p:txBody>
      </p:sp>
      <p:sp>
        <p:nvSpPr>
          <p:cNvPr id="129" name="Google Shape;129;p20"/>
          <p:cNvSpPr txBox="1"/>
          <p:nvPr>
            <p:ph idx="1" type="body"/>
          </p:nvPr>
        </p:nvSpPr>
        <p:spPr>
          <a:xfrm>
            <a:off x="98975" y="3607100"/>
            <a:ext cx="4265100" cy="1401900"/>
          </a:xfrm>
          <a:prstGeom prst="rect">
            <a:avLst/>
          </a:prstGeom>
          <a:solidFill>
            <a:srgbClr val="00FFFF"/>
          </a:solidFill>
        </p:spPr>
        <p:txBody>
          <a:bodyPr anchorCtr="0" anchor="t" bIns="91425" lIns="91425" spcFirstLastPara="1" rIns="91425" wrap="square" tIns="91425">
            <a:normAutofit/>
          </a:bodyPr>
          <a:lstStyle/>
          <a:p>
            <a:pPr indent="0" lvl="0" marL="0" rtl="0" algn="just">
              <a:spcBef>
                <a:spcPts val="0"/>
              </a:spcBef>
              <a:spcAft>
                <a:spcPts val="1200"/>
              </a:spcAft>
              <a:buNone/>
            </a:pPr>
            <a:r>
              <a:rPr lang="es" sz="1400">
                <a:latin typeface="Times New Roman"/>
                <a:ea typeface="Times New Roman"/>
                <a:cs typeface="Times New Roman"/>
                <a:sym typeface="Times New Roman"/>
              </a:rPr>
              <a:t>Retroalimentación correcta</a:t>
            </a:r>
            <a:br>
              <a:rPr lang="es" sz="1400">
                <a:latin typeface="Times New Roman"/>
                <a:ea typeface="Times New Roman"/>
                <a:cs typeface="Times New Roman"/>
                <a:sym typeface="Times New Roman"/>
              </a:rPr>
            </a:br>
            <a:r>
              <a:rPr lang="es" sz="1400">
                <a:latin typeface="Times New Roman"/>
                <a:ea typeface="Times New Roman"/>
                <a:cs typeface="Times New Roman"/>
                <a:sym typeface="Times New Roman"/>
              </a:rPr>
              <a:t>¡Excelente! como ya sabemos, la anamnesis es un relato detallado del motivo de consulta, por lo que encontramos sólo </a:t>
            </a:r>
            <a:r>
              <a:rPr lang="es" sz="1400" u="sng">
                <a:latin typeface="Times New Roman"/>
                <a:ea typeface="Times New Roman"/>
                <a:cs typeface="Times New Roman"/>
                <a:sym typeface="Times New Roman"/>
              </a:rPr>
              <a:t>manifestaciones</a:t>
            </a:r>
            <a:r>
              <a:rPr lang="es" sz="1400">
                <a:latin typeface="Times New Roman"/>
                <a:ea typeface="Times New Roman"/>
                <a:cs typeface="Times New Roman"/>
                <a:sym typeface="Times New Roman"/>
              </a:rPr>
              <a:t> clínicas del paciente </a:t>
            </a:r>
            <a:endParaRPr sz="1400">
              <a:latin typeface="Times New Roman"/>
              <a:ea typeface="Times New Roman"/>
              <a:cs typeface="Times New Roman"/>
              <a:sym typeface="Times New Roman"/>
            </a:endParaRPr>
          </a:p>
        </p:txBody>
      </p:sp>
      <p:sp>
        <p:nvSpPr>
          <p:cNvPr id="130" name="Google Shape;130;p20"/>
          <p:cNvSpPr/>
          <p:nvPr/>
        </p:nvSpPr>
        <p:spPr>
          <a:xfrm>
            <a:off x="5225850" y="2000286"/>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0"/>
          <p:cNvSpPr txBox="1"/>
          <p:nvPr>
            <p:ph type="title"/>
          </p:nvPr>
        </p:nvSpPr>
        <p:spPr>
          <a:xfrm>
            <a:off x="311700" y="445025"/>
            <a:ext cx="432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Anamnesis </a:t>
            </a:r>
            <a:endParaRPr sz="3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a:t>
            </a:r>
            <a:r>
              <a:rPr lang="es" sz="3500"/>
              <a:t>istoria </a:t>
            </a:r>
            <a:r>
              <a:rPr lang="es" sz="3500"/>
              <a:t>clínica</a:t>
            </a:r>
            <a:r>
              <a:rPr lang="es" sz="3500"/>
              <a:t> </a:t>
            </a:r>
            <a:endParaRPr sz="3500"/>
          </a:p>
        </p:txBody>
      </p:sp>
      <p:sp>
        <p:nvSpPr>
          <p:cNvPr id="137" name="Google Shape;13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Clr>
                <a:schemeClr val="dk1"/>
              </a:buClr>
              <a:buSzPts val="1100"/>
              <a:buFont typeface="Arial"/>
              <a:buNone/>
            </a:pPr>
            <a:r>
              <a:rPr lang="es">
                <a:solidFill>
                  <a:schemeClr val="dk1"/>
                </a:solidFill>
              </a:rPr>
              <a:t>La producción lleva funcionando aproximadamente 2 años, y se han presentado casos parecidos, alrededor de 1 por año, los corrales son de metal con piso de  tierra y  cuentan con X animales, separados por áreas según su etapa productiva y fisiológica. no cuentan con un esquema de vacunacion y desparasitacion bien establecido, la única vacuna que reciben sin falta anualmente es la antirrábica. El productor menciona que Milagros mantuvo contacto durante aproximadamente un mes con ganado procedente de  distintas partes de Chiapas y Veracruz. refiere que Milagros se encontró con alrededor de 20 bovinos muertos (se desconoce la causa) antes de llegar a su producción, y que al llegar no se le aplicó ningún manejo profiláctico, sólo se mantuvo en un corral apartada de las demás.  </a:t>
            </a:r>
            <a:r>
              <a:rPr lang="es"/>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6064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a:t>
            </a:r>
            <a:r>
              <a:rPr lang="es" sz="3500"/>
              <a:t>istoria clínica </a:t>
            </a:r>
            <a:endParaRPr sz="3500"/>
          </a:p>
        </p:txBody>
      </p:sp>
      <p:graphicFrame>
        <p:nvGraphicFramePr>
          <p:cNvPr id="143" name="Google Shape;143;p22"/>
          <p:cNvGraphicFramePr/>
          <p:nvPr/>
        </p:nvGraphicFramePr>
        <p:xfrm>
          <a:off x="3118650" y="1870775"/>
          <a:ext cx="3000000" cy="3000000"/>
        </p:xfrm>
        <a:graphic>
          <a:graphicData uri="http://schemas.openxmlformats.org/drawingml/2006/table">
            <a:tbl>
              <a:tblPr>
                <a:noFill/>
                <a:tableStyleId>{84BC8C95-1D40-486A-9443-D1563B821074}</a:tableStyleId>
              </a:tblPr>
              <a:tblGrid>
                <a:gridCol w="2016125"/>
                <a:gridCol w="682625"/>
              </a:tblGrid>
              <a:tr h="381000">
                <a:tc>
                  <a:txBody>
                    <a:bodyPr/>
                    <a:lstStyle/>
                    <a:p>
                      <a:pPr indent="0" lvl="0" marL="0" rtl="0" algn="ctr">
                        <a:spcBef>
                          <a:spcPts val="0"/>
                        </a:spcBef>
                        <a:spcAft>
                          <a:spcPts val="0"/>
                        </a:spcAft>
                        <a:buNone/>
                      </a:pPr>
                      <a:r>
                        <a:rPr lang="es"/>
                        <a:t>Manifestaciones clínicas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44" name="Google Shape;144;p22"/>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990"/>
              <a:buNone/>
            </a:pPr>
            <a:r>
              <a:rPr lang="es" sz="1520">
                <a:solidFill>
                  <a:schemeClr val="dk2"/>
                </a:solidFill>
              </a:rPr>
              <a:t>¿Qué tipo de datos encuentras dentro de la historia clínica con </a:t>
            </a:r>
            <a:r>
              <a:rPr lang="es" sz="1520">
                <a:solidFill>
                  <a:schemeClr val="dk2"/>
                </a:solidFill>
              </a:rPr>
              <a:t>relación</a:t>
            </a:r>
            <a:r>
              <a:rPr lang="es" sz="1520">
                <a:solidFill>
                  <a:schemeClr val="dk2"/>
                </a:solidFill>
              </a:rPr>
              <a:t> a la vaca Milagros?</a:t>
            </a:r>
            <a:endParaRPr sz="2420"/>
          </a:p>
        </p:txBody>
      </p:sp>
      <p:sp>
        <p:nvSpPr>
          <p:cNvPr id="145" name="Google Shape;145;p22"/>
          <p:cNvSpPr txBox="1"/>
          <p:nvPr>
            <p:ph idx="1" type="body"/>
          </p:nvPr>
        </p:nvSpPr>
        <p:spPr>
          <a:xfrm>
            <a:off x="0" y="2258025"/>
            <a:ext cx="2698800" cy="24918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Times New Roman"/>
                <a:ea typeface="Times New Roman"/>
                <a:cs typeface="Times New Roman"/>
                <a:sym typeface="Times New Roman"/>
              </a:rPr>
              <a:t>R</a:t>
            </a:r>
            <a:r>
              <a:rPr lang="es" sz="1400">
                <a:latin typeface="Times New Roman"/>
                <a:ea typeface="Times New Roman"/>
                <a:cs typeface="Times New Roman"/>
                <a:sym typeface="Times New Roman"/>
              </a:rPr>
              <a:t>etroalimentación</a:t>
            </a:r>
            <a:r>
              <a:rPr lang="es" sz="1400">
                <a:latin typeface="Times New Roman"/>
                <a:ea typeface="Times New Roman"/>
                <a:cs typeface="Times New Roman"/>
                <a:sym typeface="Times New Roman"/>
              </a:rPr>
              <a:t> correcta</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¡Perfecto! los factores de riesgo son condiciones ambientales o de manejo que predisponen al animal a enfermarse, disminuir su producción o la muerte.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tip: un factor de riesgo </a:t>
            </a:r>
            <a:r>
              <a:rPr lang="es" sz="1400">
                <a:latin typeface="Times New Roman"/>
                <a:ea typeface="Times New Roman"/>
                <a:cs typeface="Times New Roman"/>
                <a:sym typeface="Times New Roman"/>
              </a:rPr>
              <a:t>podría</a:t>
            </a:r>
            <a:r>
              <a:rPr lang="es" sz="1400">
                <a:latin typeface="Times New Roman"/>
                <a:ea typeface="Times New Roman"/>
                <a:cs typeface="Times New Roman"/>
                <a:sym typeface="Times New Roman"/>
              </a:rPr>
              <a:t> ser la mala calidad del forraje.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sz="1400">
              <a:latin typeface="Times New Roman"/>
              <a:ea typeface="Times New Roman"/>
              <a:cs typeface="Times New Roman"/>
              <a:sym typeface="Times New Roman"/>
            </a:endParaRPr>
          </a:p>
        </p:txBody>
      </p:sp>
      <p:sp>
        <p:nvSpPr>
          <p:cNvPr id="146" name="Google Shape;146;p22"/>
          <p:cNvSpPr/>
          <p:nvPr/>
        </p:nvSpPr>
        <p:spPr>
          <a:xfrm>
            <a:off x="5134775" y="2571186"/>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2"/>
          <p:cNvSpPr txBox="1"/>
          <p:nvPr>
            <p:ph idx="1" type="body"/>
          </p:nvPr>
        </p:nvSpPr>
        <p:spPr>
          <a:xfrm>
            <a:off x="6138300" y="2258025"/>
            <a:ext cx="2698800" cy="24918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Times New Roman"/>
                <a:ea typeface="Times New Roman"/>
                <a:cs typeface="Times New Roman"/>
                <a:sym typeface="Times New Roman"/>
              </a:rPr>
              <a:t>Retroalimentación incorrecta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 sz="1400">
                <a:latin typeface="Times New Roman"/>
                <a:ea typeface="Times New Roman"/>
                <a:cs typeface="Times New Roman"/>
                <a:sym typeface="Times New Roman"/>
              </a:rPr>
              <a:t>¡Ups!  revisa bien. Las manifestaciones </a:t>
            </a:r>
            <a:r>
              <a:rPr lang="es" sz="1400">
                <a:latin typeface="Times New Roman"/>
                <a:ea typeface="Times New Roman"/>
                <a:cs typeface="Times New Roman"/>
                <a:sym typeface="Times New Roman"/>
              </a:rPr>
              <a:t>clínicas</a:t>
            </a:r>
            <a:r>
              <a:rPr lang="es" sz="1400">
                <a:latin typeface="Times New Roman"/>
                <a:ea typeface="Times New Roman"/>
                <a:cs typeface="Times New Roman"/>
                <a:sym typeface="Times New Roman"/>
              </a:rPr>
              <a:t> son signos y </a:t>
            </a:r>
            <a:r>
              <a:rPr lang="es" sz="1400">
                <a:latin typeface="Times New Roman"/>
                <a:ea typeface="Times New Roman"/>
                <a:cs typeface="Times New Roman"/>
                <a:sym typeface="Times New Roman"/>
              </a:rPr>
              <a:t>síntomas</a:t>
            </a:r>
            <a:r>
              <a:rPr lang="es" sz="1400">
                <a:latin typeface="Times New Roman"/>
                <a:ea typeface="Times New Roman"/>
                <a:cs typeface="Times New Roman"/>
                <a:sym typeface="Times New Roman"/>
              </a:rPr>
              <a:t> observables y medibles.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aphicFrame>
        <p:nvGraphicFramePr>
          <p:cNvPr id="152" name="Google Shape;152;p23"/>
          <p:cNvGraphicFramePr/>
          <p:nvPr/>
        </p:nvGraphicFramePr>
        <p:xfrm>
          <a:off x="4572000" y="392650"/>
          <a:ext cx="3000000" cy="3000000"/>
        </p:xfrm>
        <a:graphic>
          <a:graphicData uri="http://schemas.openxmlformats.org/drawingml/2006/table">
            <a:tbl>
              <a:tblPr>
                <a:noFill/>
                <a:tableStyleId>{84BC8C95-1D40-486A-9443-D1563B821074}</a:tableStyleId>
              </a:tblPr>
              <a:tblGrid>
                <a:gridCol w="3263450"/>
                <a:gridCol w="499025"/>
                <a:gridCol w="544575"/>
              </a:tblGrid>
              <a:tr h="352200">
                <a:tc>
                  <a:txBody>
                    <a:bodyPr/>
                    <a:lstStyle/>
                    <a:p>
                      <a:pPr indent="0" lvl="0" marL="0" rtl="0" algn="l">
                        <a:spcBef>
                          <a:spcPts val="0"/>
                        </a:spcBef>
                        <a:spcAft>
                          <a:spcPts val="0"/>
                        </a:spcAft>
                        <a:buNone/>
                      </a:pPr>
                      <a:r>
                        <a:rPr lang="es"/>
                        <a:t>tos</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secreción</a:t>
                      </a:r>
                      <a:r>
                        <a:rPr lang="es"/>
                        <a:t> ocular </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convivencia con ganado desconocido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r h="352200">
                <a:tc>
                  <a:txBody>
                    <a:bodyPr/>
                    <a:lstStyle/>
                    <a:p>
                      <a:pPr indent="0" lvl="0" marL="0" rtl="0" algn="l">
                        <a:spcBef>
                          <a:spcPts val="0"/>
                        </a:spcBef>
                        <a:spcAft>
                          <a:spcPts val="0"/>
                        </a:spcAft>
                        <a:buNone/>
                      </a:pPr>
                      <a:r>
                        <a:rPr lang="es"/>
                        <a:t>secreción</a:t>
                      </a:r>
                      <a:r>
                        <a:rPr lang="es"/>
                        <a:t> nasal</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diarrea</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contacto con animales muertos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r h="352200">
                <a:tc>
                  <a:txBody>
                    <a:bodyPr/>
                    <a:lstStyle/>
                    <a:p>
                      <a:pPr indent="0" lvl="0" marL="0" rtl="0" algn="l">
                        <a:spcBef>
                          <a:spcPts val="0"/>
                        </a:spcBef>
                        <a:spcAft>
                          <a:spcPts val="0"/>
                        </a:spcAft>
                        <a:buNone/>
                      </a:pPr>
                      <a:r>
                        <a:rPr lang="es"/>
                        <a:t>inapetencia </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letargia</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cuarentena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52200">
                <a:tc>
                  <a:txBody>
                    <a:bodyPr/>
                    <a:lstStyle/>
                    <a:p>
                      <a:pPr indent="0" lvl="0" marL="0" rtl="0" algn="l">
                        <a:spcBef>
                          <a:spcPts val="0"/>
                        </a:spcBef>
                        <a:spcAft>
                          <a:spcPts val="0"/>
                        </a:spcAft>
                        <a:buNone/>
                      </a:pPr>
                      <a:r>
                        <a:rPr lang="es"/>
                        <a:t>mal manejo </a:t>
                      </a:r>
                      <a:r>
                        <a:rPr lang="es"/>
                        <a:t>profiláctico</a:t>
                      </a:r>
                      <a:r>
                        <a:rPr lang="es"/>
                        <a:t>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r h="352200">
                <a:tc>
                  <a:txBody>
                    <a:bodyPr/>
                    <a:lstStyle/>
                    <a:p>
                      <a:pPr indent="0" lvl="0" marL="0" rtl="0" algn="l">
                        <a:spcBef>
                          <a:spcPts val="0"/>
                        </a:spcBef>
                        <a:spcAft>
                          <a:spcPts val="0"/>
                        </a:spcAft>
                        <a:buNone/>
                      </a:pPr>
                      <a:r>
                        <a:rPr lang="es"/>
                        <a:t>mal programa de vacunación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bl>
          </a:graphicData>
        </a:graphic>
      </p:graphicFrame>
      <p:sp>
        <p:nvSpPr>
          <p:cNvPr id="153" name="Google Shape;153;p23"/>
          <p:cNvSpPr txBox="1"/>
          <p:nvPr>
            <p:ph type="title"/>
          </p:nvPr>
        </p:nvSpPr>
        <p:spPr>
          <a:xfrm>
            <a:off x="99150" y="1171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Historia clínica </a:t>
            </a:r>
            <a:endParaRPr sz="3500"/>
          </a:p>
        </p:txBody>
      </p:sp>
      <p:sp>
        <p:nvSpPr>
          <p:cNvPr id="154" name="Google Shape;154;p23"/>
          <p:cNvSpPr txBox="1"/>
          <p:nvPr/>
        </p:nvSpPr>
        <p:spPr>
          <a:xfrm>
            <a:off x="99150" y="788850"/>
            <a:ext cx="42246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I</a:t>
            </a:r>
            <a:r>
              <a:rPr lang="es" sz="1800">
                <a:solidFill>
                  <a:schemeClr val="dk2"/>
                </a:solidFill>
              </a:rPr>
              <a:t>dentifica los factores de riesgo y las manifestaciones clínicas.</a:t>
            </a:r>
            <a:endParaRPr sz="1800">
              <a:solidFill>
                <a:schemeClr val="dk2"/>
              </a:solidFill>
            </a:endParaRPr>
          </a:p>
          <a:p>
            <a:pPr indent="0" lvl="0" marL="0" rtl="0" algn="l">
              <a:spcBef>
                <a:spcPts val="0"/>
              </a:spcBef>
              <a:spcAft>
                <a:spcPts val="0"/>
              </a:spcAft>
              <a:buNone/>
            </a:pPr>
            <a:r>
              <a:rPr lang="es" sz="1800">
                <a:solidFill>
                  <a:schemeClr val="dk2"/>
                </a:solidFill>
              </a:rPr>
              <a:t>MC= </a:t>
            </a:r>
            <a:r>
              <a:rPr lang="es" sz="1800">
                <a:solidFill>
                  <a:schemeClr val="dk2"/>
                </a:solidFill>
              </a:rPr>
              <a:t>manifestación</a:t>
            </a:r>
            <a:r>
              <a:rPr lang="es" sz="1800">
                <a:solidFill>
                  <a:schemeClr val="dk2"/>
                </a:solidFill>
              </a:rPr>
              <a:t> clínica</a:t>
            </a:r>
            <a:endParaRPr sz="1800">
              <a:solidFill>
                <a:schemeClr val="dk2"/>
              </a:solidFill>
            </a:endParaRPr>
          </a:p>
          <a:p>
            <a:pPr indent="0" lvl="0" marL="0" rtl="0" algn="l">
              <a:spcBef>
                <a:spcPts val="0"/>
              </a:spcBef>
              <a:spcAft>
                <a:spcPts val="0"/>
              </a:spcAft>
              <a:buNone/>
            </a:pPr>
            <a:r>
              <a:rPr lang="es" sz="1800">
                <a:solidFill>
                  <a:schemeClr val="dk2"/>
                </a:solidFill>
              </a:rPr>
              <a:t>FR= factor de riesgo </a:t>
            </a:r>
            <a:endParaRPr sz="1800">
              <a:solidFill>
                <a:schemeClr val="dk2"/>
              </a:solidFill>
            </a:endParaRPr>
          </a:p>
        </p:txBody>
      </p:sp>
      <p:sp>
        <p:nvSpPr>
          <p:cNvPr id="155" name="Google Shape;155;p23"/>
          <p:cNvSpPr txBox="1"/>
          <p:nvPr/>
        </p:nvSpPr>
        <p:spPr>
          <a:xfrm>
            <a:off x="185700" y="2162425"/>
            <a:ext cx="4137900" cy="1049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rPr>
              <a:t>R</a:t>
            </a:r>
            <a:r>
              <a:rPr lang="es">
                <a:solidFill>
                  <a:schemeClr val="dk1"/>
                </a:solidFill>
              </a:rPr>
              <a:t>etroalimentación</a:t>
            </a:r>
            <a:r>
              <a:rPr lang="es">
                <a:solidFill>
                  <a:schemeClr val="dk1"/>
                </a:solidFill>
              </a:rPr>
              <a:t> correcta</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s">
                <a:solidFill>
                  <a:schemeClr val="dk1"/>
                </a:solidFill>
              </a:rPr>
              <a:t>¡Muy bien! Ahora tienes claro la diferencia entre manifestaciones clínicas y factores de riesgo. </a:t>
            </a:r>
            <a:endParaRPr>
              <a:solidFill>
                <a:schemeClr val="dk1"/>
              </a:solidFill>
            </a:endParaRPr>
          </a:p>
        </p:txBody>
      </p:sp>
      <p:sp>
        <p:nvSpPr>
          <p:cNvPr id="156" name="Google Shape;156;p23"/>
          <p:cNvSpPr txBox="1"/>
          <p:nvPr/>
        </p:nvSpPr>
        <p:spPr>
          <a:xfrm>
            <a:off x="142350" y="3420450"/>
            <a:ext cx="4224600" cy="8019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a:solidFill>
                  <a:schemeClr val="dk1"/>
                </a:solidFill>
              </a:rPr>
              <a:t>R</a:t>
            </a:r>
            <a:r>
              <a:rPr lang="es">
                <a:solidFill>
                  <a:schemeClr val="dk1"/>
                </a:solidFill>
              </a:rPr>
              <a:t>etroalimentación</a:t>
            </a:r>
            <a:r>
              <a:rPr lang="es">
                <a:solidFill>
                  <a:schemeClr val="dk1"/>
                </a:solidFill>
              </a:rPr>
              <a:t> incorrecta</a:t>
            </a:r>
            <a:endParaRPr>
              <a:solidFill>
                <a:schemeClr val="dk1"/>
              </a:solidFill>
            </a:endParaRPr>
          </a:p>
          <a:p>
            <a:pPr indent="0" lvl="0" marL="0" rtl="0" algn="l">
              <a:lnSpc>
                <a:spcPct val="115000"/>
              </a:lnSpc>
              <a:spcBef>
                <a:spcPts val="1200"/>
              </a:spcBef>
              <a:spcAft>
                <a:spcPts val="1200"/>
              </a:spcAft>
              <a:buNone/>
            </a:pPr>
            <a:r>
              <a:rPr lang="es">
                <a:solidFill>
                  <a:schemeClr val="dk1"/>
                </a:solidFill>
              </a:rPr>
              <a:t>¡Ups! Analiza muy bien las opciones.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E</a:t>
            </a:r>
            <a:r>
              <a:rPr lang="es" sz="3500"/>
              <a:t>xamen físico general </a:t>
            </a:r>
            <a:endParaRPr sz="3500"/>
          </a:p>
        </p:txBody>
      </p:sp>
      <p:sp>
        <p:nvSpPr>
          <p:cNvPr id="162" name="Google Shape;162;p24"/>
          <p:cNvSpPr txBox="1"/>
          <p:nvPr>
            <p:ph idx="1" type="body"/>
          </p:nvPr>
        </p:nvSpPr>
        <p:spPr>
          <a:xfrm>
            <a:off x="4173425" y="1152475"/>
            <a:ext cx="4659000" cy="3416400"/>
          </a:xfrm>
          <a:prstGeom prst="rect">
            <a:avLst/>
          </a:prstGeom>
          <a:solidFill>
            <a:srgbClr val="CFE2F3"/>
          </a:solidFill>
        </p:spPr>
        <p:txBody>
          <a:bodyPr anchorCtr="0" anchor="t" bIns="91425" lIns="91425" spcFirstLastPara="1" rIns="91425" wrap="square" tIns="91425">
            <a:normAutofit fontScale="70000"/>
          </a:bodyPr>
          <a:lstStyle/>
          <a:p>
            <a:pPr indent="0" lvl="0" marL="0" rtl="0" algn="l">
              <a:spcBef>
                <a:spcPts val="0"/>
              </a:spcBef>
              <a:spcAft>
                <a:spcPts val="0"/>
              </a:spcAft>
              <a:buNone/>
            </a:pPr>
            <a:r>
              <a:rPr lang="es"/>
              <a:t>La vaca ingresa a las instalaciones de la FMVZ e inmediatamente se aborda:</a:t>
            </a:r>
            <a:endParaRPr/>
          </a:p>
          <a:p>
            <a:pPr indent="0" lvl="0" marL="0" rtl="0" algn="l">
              <a:spcBef>
                <a:spcPts val="1200"/>
              </a:spcBef>
              <a:spcAft>
                <a:spcPts val="0"/>
              </a:spcAft>
              <a:buClr>
                <a:schemeClr val="dk1"/>
              </a:buClr>
              <a:buSzPct val="61111"/>
              <a:buFont typeface="Arial"/>
              <a:buNone/>
            </a:pPr>
            <a:r>
              <a:rPr lang="es"/>
              <a:t>A</a:t>
            </a:r>
            <a:r>
              <a:rPr lang="es"/>
              <a:t>l realizar el EFG, se obtiene la siguiente información:</a:t>
            </a:r>
            <a:endParaRPr/>
          </a:p>
          <a:p>
            <a:pPr indent="0" lvl="0" marL="0" rtl="0" algn="l">
              <a:spcBef>
                <a:spcPts val="1200"/>
              </a:spcBef>
              <a:spcAft>
                <a:spcPts val="0"/>
              </a:spcAft>
              <a:buNone/>
            </a:pPr>
            <a:r>
              <a:rPr lang="es"/>
              <a:t>El paciente se encuentra en </a:t>
            </a:r>
            <a:r>
              <a:rPr lang="es"/>
              <a:t>decúbito</a:t>
            </a:r>
            <a:r>
              <a:rPr lang="es"/>
              <a:t> lateral con signos evidentes de dolor, las mucosas pálidas y secas, </a:t>
            </a:r>
            <a:r>
              <a:rPr lang="es"/>
              <a:t>deshidratación moderada a grave</a:t>
            </a:r>
            <a:r>
              <a:rPr lang="es"/>
              <a:t>, linfonodos precrurales aumentados de tamaño,  una pobre </a:t>
            </a:r>
            <a:r>
              <a:rPr lang="es"/>
              <a:t>condición</a:t>
            </a:r>
            <a:r>
              <a:rPr lang="es"/>
              <a:t> corporal t</a:t>
            </a:r>
            <a:r>
              <a:rPr lang="es">
                <a:solidFill>
                  <a:srgbClr val="0000FF"/>
                </a:solidFill>
              </a:rPr>
              <a:t>omando en cuenta la </a:t>
            </a:r>
            <a:r>
              <a:rPr lang="es">
                <a:solidFill>
                  <a:srgbClr val="0000FF"/>
                </a:solidFill>
              </a:rPr>
              <a:t>gestación</a:t>
            </a:r>
            <a:r>
              <a:rPr lang="es">
                <a:solidFill>
                  <a:srgbClr val="0000FF"/>
                </a:solidFill>
              </a:rPr>
              <a:t> que </a:t>
            </a:r>
            <a:r>
              <a:rPr lang="es">
                <a:solidFill>
                  <a:srgbClr val="0000FF"/>
                </a:solidFill>
              </a:rPr>
              <a:t>está</a:t>
            </a:r>
            <a:r>
              <a:rPr lang="es">
                <a:solidFill>
                  <a:srgbClr val="0000FF"/>
                </a:solidFill>
              </a:rPr>
              <a:t> llevando</a:t>
            </a:r>
            <a:r>
              <a:rPr lang="es"/>
              <a:t>, a la </a:t>
            </a:r>
            <a:r>
              <a:rPr lang="es"/>
              <a:t>auscultación</a:t>
            </a:r>
            <a:r>
              <a:rPr lang="es"/>
              <a:t> pulmonar se aprecian estertores h</a:t>
            </a:r>
            <a:r>
              <a:rPr lang="es"/>
              <a:t>úmedos</a:t>
            </a:r>
            <a:r>
              <a:rPr lang="es"/>
              <a:t> en </a:t>
            </a:r>
            <a:r>
              <a:rPr lang="es"/>
              <a:t>lóbulos</a:t>
            </a:r>
            <a:r>
              <a:rPr lang="es"/>
              <a:t> dorso caudales en ambos hemitórax.</a:t>
            </a:r>
            <a:endParaRPr/>
          </a:p>
          <a:p>
            <a:pPr indent="0" lvl="0" marL="0" rtl="0" algn="l">
              <a:spcBef>
                <a:spcPts val="1200"/>
              </a:spcBef>
              <a:spcAft>
                <a:spcPts val="0"/>
              </a:spcAft>
              <a:buNone/>
            </a:pPr>
            <a:r>
              <a:rPr lang="es"/>
              <a:t> </a:t>
            </a:r>
            <a:endParaRPr/>
          </a:p>
          <a:p>
            <a:pPr indent="0" lvl="0" marL="0" rtl="0" algn="l">
              <a:spcBef>
                <a:spcPts val="1200"/>
              </a:spcBef>
              <a:spcAft>
                <a:spcPts val="1200"/>
              </a:spcAft>
              <a:buNone/>
            </a:pPr>
            <a:r>
              <a:t/>
            </a:r>
            <a:endParaRPr/>
          </a:p>
        </p:txBody>
      </p:sp>
      <p:graphicFrame>
        <p:nvGraphicFramePr>
          <p:cNvPr id="163" name="Google Shape;163;p24"/>
          <p:cNvGraphicFramePr/>
          <p:nvPr/>
        </p:nvGraphicFramePr>
        <p:xfrm>
          <a:off x="311700" y="1611650"/>
          <a:ext cx="3000000" cy="3000000"/>
        </p:xfrm>
        <a:graphic>
          <a:graphicData uri="http://schemas.openxmlformats.org/drawingml/2006/table">
            <a:tbl>
              <a:tblPr>
                <a:noFill/>
                <a:tableStyleId>{84BC8C95-1D40-486A-9443-D1563B821074}</a:tableStyleId>
              </a:tblPr>
              <a:tblGrid>
                <a:gridCol w="1730375"/>
                <a:gridCol w="1730375"/>
              </a:tblGrid>
              <a:tr h="592725">
                <a:tc>
                  <a:txBody>
                    <a:bodyPr/>
                    <a:lstStyle/>
                    <a:p>
                      <a:pPr indent="0" lvl="0" marL="0" rtl="0" algn="l">
                        <a:spcBef>
                          <a:spcPts val="0"/>
                        </a:spcBef>
                        <a:spcAft>
                          <a:spcPts val="0"/>
                        </a:spcAft>
                        <a:buNone/>
                      </a:pPr>
                      <a:r>
                        <a:rPr lang="es"/>
                        <a:t>indicador </a:t>
                      </a:r>
                      <a:r>
                        <a:rPr lang="es"/>
                        <a:t>fisiológico</a:t>
                      </a:r>
                      <a:r>
                        <a:rPr lang="es"/>
                        <a:t> </a:t>
                      </a:r>
                      <a:endParaRPr/>
                    </a:p>
                  </a:txBody>
                  <a:tcPr marT="91425" marB="91425" marR="91425" marL="91425">
                    <a:solidFill>
                      <a:srgbClr val="E69138"/>
                    </a:solidFill>
                  </a:tcPr>
                </a:tc>
                <a:tc>
                  <a:txBody>
                    <a:bodyPr/>
                    <a:lstStyle/>
                    <a:p>
                      <a:pPr indent="0" lvl="0" marL="0" rtl="0" algn="l">
                        <a:spcBef>
                          <a:spcPts val="0"/>
                        </a:spcBef>
                        <a:spcAft>
                          <a:spcPts val="0"/>
                        </a:spcAft>
                        <a:buNone/>
                      </a:pPr>
                      <a:r>
                        <a:rPr lang="es"/>
                        <a:t>hallazgo</a:t>
                      </a:r>
                      <a:endParaRPr/>
                    </a:p>
                  </a:txBody>
                  <a:tcPr marT="91425" marB="91425" marR="91425" marL="91425">
                    <a:solidFill>
                      <a:srgbClr val="E69138"/>
                    </a:solidFill>
                  </a:tcPr>
                </a:tc>
              </a:tr>
              <a:tr h="570000">
                <a:tc>
                  <a:txBody>
                    <a:bodyPr/>
                    <a:lstStyle/>
                    <a:p>
                      <a:pPr indent="0" lvl="0" marL="0" rtl="0" algn="l">
                        <a:spcBef>
                          <a:spcPts val="0"/>
                        </a:spcBef>
                        <a:spcAft>
                          <a:spcPts val="0"/>
                        </a:spcAft>
                        <a:buNone/>
                      </a:pPr>
                      <a:r>
                        <a:rPr lang="es"/>
                        <a:t>frecuencia cardíaca</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63 lpm </a:t>
                      </a:r>
                      <a:endParaRPr/>
                    </a:p>
                  </a:txBody>
                  <a:tcPr marT="91425" marB="91425" marR="91425" marL="91425">
                    <a:solidFill>
                      <a:srgbClr val="F9CB9C"/>
                    </a:solidFill>
                  </a:tcPr>
                </a:tc>
              </a:tr>
              <a:tr h="570000">
                <a:tc>
                  <a:txBody>
                    <a:bodyPr/>
                    <a:lstStyle/>
                    <a:p>
                      <a:pPr indent="0" lvl="0" marL="0" rtl="0" algn="l">
                        <a:spcBef>
                          <a:spcPts val="0"/>
                        </a:spcBef>
                        <a:spcAft>
                          <a:spcPts val="0"/>
                        </a:spcAft>
                        <a:buNone/>
                      </a:pPr>
                      <a:r>
                        <a:rPr lang="es"/>
                        <a:t>temperatura rectal</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37.0 °C</a:t>
                      </a:r>
                      <a:endParaRPr/>
                    </a:p>
                  </a:txBody>
                  <a:tcPr marT="91425" marB="91425" marR="91425" marL="91425">
                    <a:solidFill>
                      <a:srgbClr val="F9CB9C"/>
                    </a:solidFill>
                  </a:tcPr>
                </a:tc>
              </a:tr>
              <a:tr h="570000">
                <a:tc>
                  <a:txBody>
                    <a:bodyPr/>
                    <a:lstStyle/>
                    <a:p>
                      <a:pPr indent="0" lvl="0" marL="0" rtl="0" algn="l">
                        <a:spcBef>
                          <a:spcPts val="0"/>
                        </a:spcBef>
                        <a:spcAft>
                          <a:spcPts val="0"/>
                        </a:spcAft>
                        <a:buClr>
                          <a:schemeClr val="dk1"/>
                        </a:buClr>
                        <a:buSzPts val="1100"/>
                        <a:buFont typeface="Arial"/>
                        <a:buNone/>
                      </a:pPr>
                      <a:r>
                        <a:rPr lang="es">
                          <a:solidFill>
                            <a:schemeClr val="dk1"/>
                          </a:solidFill>
                        </a:rPr>
                        <a:t>frecuencia respiratoria</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12rpm </a:t>
                      </a:r>
                      <a:endParaRPr/>
                    </a:p>
                  </a:txBody>
                  <a:tcPr marT="91425" marB="91425" marR="91425" marL="91425">
                    <a:solidFill>
                      <a:srgbClr val="F9CB9C"/>
                    </a:solidFill>
                  </a:tcPr>
                </a:tc>
              </a:tr>
              <a:tr h="570000">
                <a:tc>
                  <a:txBody>
                    <a:bodyPr/>
                    <a:lstStyle/>
                    <a:p>
                      <a:pPr indent="0" lvl="0" marL="0" rtl="0" algn="l">
                        <a:spcBef>
                          <a:spcPts val="0"/>
                        </a:spcBef>
                        <a:spcAft>
                          <a:spcPts val="0"/>
                        </a:spcAft>
                        <a:buClr>
                          <a:schemeClr val="dk1"/>
                        </a:buClr>
                        <a:buSzPts val="1100"/>
                        <a:buFont typeface="Arial"/>
                        <a:buNone/>
                      </a:pPr>
                      <a:r>
                        <a:rPr lang="es">
                          <a:solidFill>
                            <a:schemeClr val="dk1"/>
                          </a:solidFill>
                        </a:rPr>
                        <a:t>movimientos ruminales</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1-2 / 2 min </a:t>
                      </a:r>
                      <a:endParaRPr/>
                    </a:p>
                  </a:txBody>
                  <a:tcPr marT="91425" marB="91425" marR="91425" marL="91425">
                    <a:solidFill>
                      <a:srgbClr val="F9CB9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2895375" y="-70525"/>
            <a:ext cx="6080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Manifestaciones de enfermedad </a:t>
            </a:r>
            <a:endParaRPr sz="3500"/>
          </a:p>
        </p:txBody>
      </p:sp>
      <p:sp>
        <p:nvSpPr>
          <p:cNvPr id="169" name="Google Shape;169;p25"/>
          <p:cNvSpPr txBox="1"/>
          <p:nvPr>
            <p:ph idx="1" type="body"/>
          </p:nvPr>
        </p:nvSpPr>
        <p:spPr>
          <a:xfrm>
            <a:off x="4572000" y="2034675"/>
            <a:ext cx="4071600" cy="1144500"/>
          </a:xfrm>
          <a:prstGeom prst="rect">
            <a:avLst/>
          </a:prstGeom>
          <a:solidFill>
            <a:srgbClr val="00FFFF"/>
          </a:solidFill>
        </p:spPr>
        <p:txBody>
          <a:bodyPr anchorCtr="0" anchor="t" bIns="91425" lIns="91425" spcFirstLastPara="1" rIns="91425" wrap="square" tIns="91425">
            <a:normAutofit/>
          </a:bodyPr>
          <a:lstStyle/>
          <a:p>
            <a:pPr indent="0" lvl="0" marL="0" rtl="0" algn="l">
              <a:spcBef>
                <a:spcPts val="0"/>
              </a:spcBef>
              <a:spcAft>
                <a:spcPts val="0"/>
              </a:spcAft>
              <a:buNone/>
            </a:pPr>
            <a:r>
              <a:rPr lang="es" sz="1400">
                <a:latin typeface="Times New Roman"/>
                <a:ea typeface="Times New Roman"/>
                <a:cs typeface="Times New Roman"/>
                <a:sym typeface="Times New Roman"/>
              </a:rPr>
              <a:t>Retroalimentación correcta</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s" sz="1400">
                <a:latin typeface="Times New Roman"/>
                <a:ea typeface="Times New Roman"/>
                <a:cs typeface="Times New Roman"/>
                <a:sym typeface="Times New Roman"/>
              </a:rPr>
              <a:t>¡Bien! hemos detectado en el examen </a:t>
            </a:r>
            <a:r>
              <a:rPr lang="es" sz="1400">
                <a:latin typeface="Times New Roman"/>
                <a:ea typeface="Times New Roman"/>
                <a:cs typeface="Times New Roman"/>
                <a:sym typeface="Times New Roman"/>
              </a:rPr>
              <a:t>físico</a:t>
            </a:r>
            <a:r>
              <a:rPr lang="es" sz="1400">
                <a:latin typeface="Times New Roman"/>
                <a:ea typeface="Times New Roman"/>
                <a:cs typeface="Times New Roman"/>
                <a:sym typeface="Times New Roman"/>
              </a:rPr>
              <a:t> general las principales manifestaciones de enfermedad.</a:t>
            </a:r>
            <a:endParaRPr sz="1400">
              <a:latin typeface="Times New Roman"/>
              <a:ea typeface="Times New Roman"/>
              <a:cs typeface="Times New Roman"/>
              <a:sym typeface="Times New Roman"/>
            </a:endParaRPr>
          </a:p>
        </p:txBody>
      </p:sp>
      <p:sp>
        <p:nvSpPr>
          <p:cNvPr id="170" name="Google Shape;170;p25"/>
          <p:cNvSpPr txBox="1"/>
          <p:nvPr>
            <p:ph type="title"/>
          </p:nvPr>
        </p:nvSpPr>
        <p:spPr>
          <a:xfrm>
            <a:off x="2796525" y="1066400"/>
            <a:ext cx="6278100" cy="572700"/>
          </a:xfrm>
          <a:prstGeom prst="rect">
            <a:avLst/>
          </a:prstGeom>
          <a:solidFill>
            <a:schemeClr val="accent6"/>
          </a:solidFill>
        </p:spPr>
        <p:txBody>
          <a:bodyPr anchorCtr="0" anchor="t" bIns="91425" lIns="91425" spcFirstLastPara="1" rIns="91425" wrap="square" tIns="91425">
            <a:normAutofit fontScale="90000"/>
          </a:bodyPr>
          <a:lstStyle/>
          <a:p>
            <a:pPr indent="0" lvl="0" marL="0" rtl="0" algn="l">
              <a:spcBef>
                <a:spcPts val="0"/>
              </a:spcBef>
              <a:spcAft>
                <a:spcPts val="0"/>
              </a:spcAft>
              <a:buSzPct val="61111"/>
              <a:buNone/>
            </a:pPr>
            <a:r>
              <a:rPr lang="es" sz="1620"/>
              <a:t>S</a:t>
            </a:r>
            <a:r>
              <a:rPr lang="es" sz="1620"/>
              <a:t>elecciona los datos que consideres son una manifestación de enfermedad </a:t>
            </a:r>
            <a:endParaRPr sz="1620"/>
          </a:p>
        </p:txBody>
      </p:sp>
      <p:sp>
        <p:nvSpPr>
          <p:cNvPr id="171" name="Google Shape;171;p25"/>
          <p:cNvSpPr txBox="1"/>
          <p:nvPr>
            <p:ph idx="1" type="body"/>
          </p:nvPr>
        </p:nvSpPr>
        <p:spPr>
          <a:xfrm>
            <a:off x="4572000" y="3881650"/>
            <a:ext cx="4071600" cy="1144500"/>
          </a:xfrm>
          <a:prstGeom prst="rect">
            <a:avLst/>
          </a:prstGeom>
          <a:solidFill>
            <a:srgbClr val="00FFFF"/>
          </a:solidFill>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s"/>
              <a:t>retroalimentación incorrecta</a:t>
            </a:r>
            <a:endParaRPr/>
          </a:p>
          <a:p>
            <a:pPr indent="0" lvl="0" marL="0" rtl="0" algn="l">
              <a:spcBef>
                <a:spcPts val="1200"/>
              </a:spcBef>
              <a:spcAft>
                <a:spcPts val="1200"/>
              </a:spcAft>
              <a:buNone/>
            </a:pPr>
            <a:r>
              <a:rPr lang="es"/>
              <a:t>¡Ups! revisa con </a:t>
            </a:r>
            <a:r>
              <a:rPr lang="es"/>
              <a:t>detenimiento</a:t>
            </a:r>
            <a:r>
              <a:rPr lang="es"/>
              <a:t> la </a:t>
            </a:r>
            <a:r>
              <a:rPr lang="es"/>
              <a:t>información</a:t>
            </a:r>
            <a:r>
              <a:rPr lang="es"/>
              <a:t> recabada del EFG para determinar datos que representen enfermedad. </a:t>
            </a:r>
            <a:endParaRPr/>
          </a:p>
        </p:txBody>
      </p:sp>
      <p:graphicFrame>
        <p:nvGraphicFramePr>
          <p:cNvPr id="172" name="Google Shape;172;p25"/>
          <p:cNvGraphicFramePr/>
          <p:nvPr/>
        </p:nvGraphicFramePr>
        <p:xfrm>
          <a:off x="168825" y="-12"/>
          <a:ext cx="3000000" cy="3000000"/>
        </p:xfrm>
        <a:graphic>
          <a:graphicData uri="http://schemas.openxmlformats.org/drawingml/2006/table">
            <a:tbl>
              <a:tblPr>
                <a:noFill/>
                <a:tableStyleId>{84BC8C95-1D40-486A-9443-D1563B821074}</a:tableStyleId>
              </a:tblPr>
              <a:tblGrid>
                <a:gridCol w="2162875"/>
                <a:gridCol w="503100"/>
              </a:tblGrid>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temperatura de 37.0 °C</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tos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diarrea</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depresión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condición</a:t>
                      </a:r>
                      <a:r>
                        <a:rPr lang="es">
                          <a:latin typeface="Times New Roman"/>
                          <a:ea typeface="Times New Roman"/>
                          <a:cs typeface="Times New Roman"/>
                          <a:sym typeface="Times New Roman"/>
                        </a:rPr>
                        <a:t> corporal 2/5</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FR: 12 rpm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r>
              <a:tr h="5494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Linfonodos  precrurales palpables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deshidratación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secreción nasal y ocular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pelo hirsuto</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hipotonía</a:t>
                      </a:r>
                      <a:r>
                        <a:rPr lang="es">
                          <a:latin typeface="Times New Roman"/>
                          <a:ea typeface="Times New Roman"/>
                          <a:cs typeface="Times New Roman"/>
                          <a:sym typeface="Times New Roman"/>
                        </a:rPr>
                        <a:t> ruminal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FC: 63 lpm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r>
              <a:tr h="357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mucosas pálidas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más amplio y complementar el proceso diagnóstico decides apoyarte con el laboratorio de diagnóstico clínico especializado en medicina veterinaria. </a:t>
            </a:r>
            <a:endParaRPr/>
          </a:p>
        </p:txBody>
      </p:sp>
      <p:graphicFrame>
        <p:nvGraphicFramePr>
          <p:cNvPr id="178" name="Google Shape;178;p26"/>
          <p:cNvGraphicFramePr/>
          <p:nvPr/>
        </p:nvGraphicFramePr>
        <p:xfrm>
          <a:off x="311700" y="2670025"/>
          <a:ext cx="3000000" cy="3000000"/>
        </p:xfrm>
        <a:graphic>
          <a:graphicData uri="http://schemas.openxmlformats.org/drawingml/2006/table">
            <a:tbl>
              <a:tblPr>
                <a:noFill/>
                <a:tableStyleId>{84BC8C95-1D40-486A-9443-D1563B821074}</a:tableStyleId>
              </a:tblPr>
              <a:tblGrid>
                <a:gridCol w="2190775"/>
                <a:gridCol w="2190775"/>
              </a:tblGrid>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hisopado  nasal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0550">
                <a:tc>
                  <a:txBody>
                    <a:bodyPr/>
                    <a:lstStyle/>
                    <a:p>
                      <a:pPr indent="0" lvl="0" marL="0" rtl="0" algn="l">
                        <a:spcBef>
                          <a:spcPts val="0"/>
                        </a:spcBef>
                        <a:spcAft>
                          <a:spcPts val="0"/>
                        </a:spcAft>
                        <a:buNone/>
                      </a:pPr>
                      <a:r>
                        <a:rPr lang="es"/>
                        <a:t>hisopado traqueal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79" name="Google Shape;179;p26"/>
          <p:cNvSpPr txBox="1"/>
          <p:nvPr/>
        </p:nvSpPr>
        <p:spPr>
          <a:xfrm>
            <a:off x="605900" y="1547325"/>
            <a:ext cx="3564000" cy="78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rPr>
              <a:t>C</a:t>
            </a:r>
            <a:r>
              <a:rPr lang="es" sz="1800">
                <a:solidFill>
                  <a:schemeClr val="dk2"/>
                </a:solidFill>
              </a:rPr>
              <a:t>oloca cada muestra en la prueba correspondiente </a:t>
            </a:r>
            <a:endParaRPr sz="1800">
              <a:solidFill>
                <a:schemeClr val="dk2"/>
              </a:solidFill>
            </a:endParaRPr>
          </a:p>
        </p:txBody>
      </p:sp>
      <p:sp>
        <p:nvSpPr>
          <p:cNvPr id="180" name="Google Shape;180;p26"/>
          <p:cNvSpPr txBox="1"/>
          <p:nvPr>
            <p:ph type="title"/>
          </p:nvPr>
        </p:nvSpPr>
        <p:spPr>
          <a:xfrm>
            <a:off x="175625" y="112400"/>
            <a:ext cx="4139100" cy="11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sp>
        <p:nvSpPr>
          <p:cNvPr id="181" name="Google Shape;181;p26"/>
          <p:cNvSpPr/>
          <p:nvPr/>
        </p:nvSpPr>
        <p:spPr>
          <a:xfrm>
            <a:off x="4880726" y="267002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Análisis micológico</a:t>
            </a:r>
            <a:endParaRPr sz="1371"/>
          </a:p>
        </p:txBody>
      </p:sp>
      <p:sp>
        <p:nvSpPr>
          <p:cNvPr id="182" name="Google Shape;182;p26"/>
          <p:cNvSpPr/>
          <p:nvPr/>
        </p:nvSpPr>
        <p:spPr>
          <a:xfrm>
            <a:off x="4880726" y="34584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Biometría hemática </a:t>
            </a:r>
            <a:endParaRPr sz="1371"/>
          </a:p>
        </p:txBody>
      </p:sp>
      <p:sp>
        <p:nvSpPr>
          <p:cNvPr id="183" name="Google Shape;183;p26"/>
          <p:cNvSpPr/>
          <p:nvPr/>
        </p:nvSpPr>
        <p:spPr>
          <a:xfrm>
            <a:off x="4880726" y="4179578"/>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Análisis</a:t>
            </a:r>
            <a:r>
              <a:rPr lang="es" sz="1371">
                <a:latin typeface="Calibri"/>
                <a:ea typeface="Calibri"/>
                <a:cs typeface="Calibri"/>
                <a:sym typeface="Calibri"/>
              </a:rPr>
              <a:t> coprológico </a:t>
            </a:r>
            <a:endParaRPr sz="1371"/>
          </a:p>
        </p:txBody>
      </p:sp>
      <p:sp>
        <p:nvSpPr>
          <p:cNvPr id="184" name="Google Shape;184;p26"/>
          <p:cNvSpPr/>
          <p:nvPr/>
        </p:nvSpPr>
        <p:spPr>
          <a:xfrm>
            <a:off x="6820702" y="34584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Análisis bacteriológico </a:t>
            </a:r>
            <a:endParaRPr sz="1371"/>
          </a:p>
        </p:txBody>
      </p:sp>
      <p:sp>
        <p:nvSpPr>
          <p:cNvPr id="185" name="Google Shape;185;p26"/>
          <p:cNvSpPr/>
          <p:nvPr/>
        </p:nvSpPr>
        <p:spPr>
          <a:xfrm>
            <a:off x="6718411" y="4155284"/>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Análisis</a:t>
            </a:r>
            <a:r>
              <a:rPr lang="es" sz="1371">
                <a:latin typeface="Calibri"/>
                <a:ea typeface="Calibri"/>
                <a:cs typeface="Calibri"/>
                <a:sym typeface="Calibri"/>
              </a:rPr>
              <a:t> molecular </a:t>
            </a:r>
            <a:endParaRPr sz="1371"/>
          </a:p>
        </p:txBody>
      </p:sp>
      <p:sp>
        <p:nvSpPr>
          <p:cNvPr id="186" name="Google Shape;186;p26"/>
          <p:cNvSpPr/>
          <p:nvPr/>
        </p:nvSpPr>
        <p:spPr>
          <a:xfrm>
            <a:off x="6796602" y="26700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1">
                <a:latin typeface="Calibri"/>
                <a:ea typeface="Calibri"/>
                <a:cs typeface="Calibri"/>
                <a:sym typeface="Calibri"/>
              </a:rPr>
              <a:t>Perfil bioquímico</a:t>
            </a:r>
            <a:endParaRPr sz="137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233400" y="131875"/>
            <a:ext cx="4139100" cy="11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sp>
        <p:nvSpPr>
          <p:cNvPr id="192" name="Google Shape;192;p27"/>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a:t>
            </a:r>
            <a:r>
              <a:rPr lang="es"/>
              <a:t>más</a:t>
            </a:r>
            <a:r>
              <a:rPr lang="es"/>
              <a:t> amplio y complementar el proceso </a:t>
            </a:r>
            <a:r>
              <a:rPr lang="es"/>
              <a:t>diagnóstico</a:t>
            </a:r>
            <a:r>
              <a:rPr lang="es"/>
              <a:t> decides apoyarte con el laboratorio de diagnóstico clínico especializado en medicina veterinaria. </a:t>
            </a:r>
            <a:endParaRPr/>
          </a:p>
        </p:txBody>
      </p:sp>
      <p:graphicFrame>
        <p:nvGraphicFramePr>
          <p:cNvPr id="193" name="Google Shape;193;p27"/>
          <p:cNvGraphicFramePr/>
          <p:nvPr/>
        </p:nvGraphicFramePr>
        <p:xfrm>
          <a:off x="311700" y="2228550"/>
          <a:ext cx="3000000" cy="3000000"/>
        </p:xfrm>
        <a:graphic>
          <a:graphicData uri="http://schemas.openxmlformats.org/drawingml/2006/table">
            <a:tbl>
              <a:tblPr>
                <a:noFill/>
                <a:tableStyleId>{84BC8C95-1D40-486A-9443-D1563B821074}</a:tableStyleId>
              </a:tblPr>
              <a:tblGrid>
                <a:gridCol w="2190775"/>
                <a:gridCol w="2190775"/>
              </a:tblGrid>
              <a:tr h="530550">
                <a:tc>
                  <a:txBody>
                    <a:bodyPr/>
                    <a:lstStyle/>
                    <a:p>
                      <a:pPr indent="0" lvl="0" marL="0" rtl="0" algn="l">
                        <a:spcBef>
                          <a:spcPts val="0"/>
                        </a:spcBef>
                        <a:spcAft>
                          <a:spcPts val="0"/>
                        </a:spcAft>
                        <a:buNone/>
                      </a:pPr>
                      <a:r>
                        <a:rPr lang="es">
                          <a:solidFill>
                            <a:schemeClr val="dk1"/>
                          </a:solidFill>
                        </a:rPr>
                        <a:t>muestra </a:t>
                      </a:r>
                      <a:endParaRPr>
                        <a:solidFill>
                          <a:schemeClr val="dk1"/>
                        </a:solidFill>
                      </a:endParaRPr>
                    </a:p>
                  </a:txBody>
                  <a:tcPr marT="91425" marB="91425" marR="91425" marL="91425">
                    <a:solidFill>
                      <a:srgbClr val="E69138"/>
                    </a:solidFill>
                  </a:tcPr>
                </a:tc>
                <a:tc>
                  <a:txBody>
                    <a:bodyPr/>
                    <a:lstStyle/>
                    <a:p>
                      <a:pPr indent="0" lvl="0" marL="0" rtl="0" algn="l">
                        <a:spcBef>
                          <a:spcPts val="0"/>
                        </a:spcBef>
                        <a:spcAft>
                          <a:spcPts val="0"/>
                        </a:spcAft>
                        <a:buNone/>
                      </a:pPr>
                      <a:r>
                        <a:rPr lang="es"/>
                        <a:t>examen / análisis </a:t>
                      </a:r>
                      <a:endParaRPr/>
                    </a:p>
                  </a:txBody>
                  <a:tcPr marT="91425" marB="91425" marR="91425" marL="91425">
                    <a:solidFill>
                      <a:srgbClr val="E69138"/>
                    </a:solidFill>
                  </a:tcPr>
                </a:tc>
              </a:tr>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hisopado  nasal </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análisis molecular </a:t>
                      </a:r>
                      <a:endParaRPr/>
                    </a:p>
                  </a:txBody>
                  <a:tcPr marT="91425" marB="91425" marR="91425" marL="91425">
                    <a:solidFill>
                      <a:srgbClr val="F9CB9C"/>
                    </a:solidFill>
                  </a:tcPr>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biometría hemática </a:t>
                      </a:r>
                      <a:endParaRPr/>
                    </a:p>
                  </a:txBody>
                  <a:tcPr marT="91425" marB="91425" marR="91425" marL="91425">
                    <a:solidFill>
                      <a:srgbClr val="F9CB9C"/>
                    </a:solidFill>
                  </a:tcPr>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perfil bioquímico</a:t>
                      </a:r>
                      <a:endParaRPr/>
                    </a:p>
                  </a:txBody>
                  <a:tcPr marT="91425" marB="91425" marR="91425" marL="91425">
                    <a:solidFill>
                      <a:srgbClr val="F9CB9C"/>
                    </a:solidFill>
                  </a:tcPr>
                </a:tc>
              </a:tr>
              <a:tr h="530550">
                <a:tc>
                  <a:txBody>
                    <a:bodyPr/>
                    <a:lstStyle/>
                    <a:p>
                      <a:pPr indent="0" lvl="0" marL="0" rtl="0" algn="l">
                        <a:spcBef>
                          <a:spcPts val="0"/>
                        </a:spcBef>
                        <a:spcAft>
                          <a:spcPts val="0"/>
                        </a:spcAft>
                        <a:buNone/>
                      </a:pPr>
                      <a:r>
                        <a:rPr lang="es"/>
                        <a:t>hisopado traqueal </a:t>
                      </a:r>
                      <a:endParaRPr/>
                    </a:p>
                  </a:txBody>
                  <a:tcPr marT="91425" marB="91425" marR="91425" marL="91425">
                    <a:solidFill>
                      <a:srgbClr val="F9CB9C"/>
                    </a:solidFill>
                  </a:tcPr>
                </a:tc>
                <a:tc>
                  <a:txBody>
                    <a:bodyPr/>
                    <a:lstStyle/>
                    <a:p>
                      <a:pPr indent="0" lvl="0" marL="0" rtl="0" algn="l">
                        <a:spcBef>
                          <a:spcPts val="0"/>
                        </a:spcBef>
                        <a:spcAft>
                          <a:spcPts val="0"/>
                        </a:spcAft>
                        <a:buNone/>
                      </a:pPr>
                      <a:r>
                        <a:rPr lang="es"/>
                        <a:t>análisis bacteriológico</a:t>
                      </a:r>
                      <a:endParaRPr/>
                    </a:p>
                  </a:txBody>
                  <a:tcPr marT="91425" marB="91425" marR="91425" marL="91425">
                    <a:solidFill>
                      <a:srgbClr val="F9CB9C"/>
                    </a:solidFill>
                  </a:tcPr>
                </a:tc>
              </a:tr>
            </a:tbl>
          </a:graphicData>
        </a:graphic>
      </p:graphicFrame>
      <p:sp>
        <p:nvSpPr>
          <p:cNvPr id="194" name="Google Shape;194;p27"/>
          <p:cNvSpPr txBox="1"/>
          <p:nvPr/>
        </p:nvSpPr>
        <p:spPr>
          <a:xfrm>
            <a:off x="4814650" y="2053725"/>
            <a:ext cx="42288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correcta</a:t>
            </a:r>
            <a:r>
              <a:rPr lang="es">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¡Bien hecho!  recuerda que cada muestra que </a:t>
            </a:r>
            <a:r>
              <a:rPr lang="es">
                <a:solidFill>
                  <a:schemeClr val="dk2"/>
                </a:solidFill>
                <a:latin typeface="Times New Roman"/>
                <a:ea typeface="Times New Roman"/>
                <a:cs typeface="Times New Roman"/>
                <a:sym typeface="Times New Roman"/>
              </a:rPr>
              <a:t>envíes</a:t>
            </a:r>
            <a:r>
              <a:rPr lang="es">
                <a:solidFill>
                  <a:schemeClr val="dk2"/>
                </a:solidFill>
                <a:latin typeface="Times New Roman"/>
                <a:ea typeface="Times New Roman"/>
                <a:cs typeface="Times New Roman"/>
                <a:sym typeface="Times New Roman"/>
              </a:rPr>
              <a:t> a laboratorio debe ser la correcta e ir debidamente identificada.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195" name="Google Shape;195;p27"/>
          <p:cNvSpPr txBox="1"/>
          <p:nvPr/>
        </p:nvSpPr>
        <p:spPr>
          <a:xfrm>
            <a:off x="4859500" y="3653575"/>
            <a:ext cx="41391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incorrecta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revisa con cuidado los datos y razona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tip:  la muestra para un perfil bioquimico debe ser minimo 2ml de sangre en vacutainer de tapa morada.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196" name="Google Shape;196;p27"/>
          <p:cNvSpPr txBox="1"/>
          <p:nvPr/>
        </p:nvSpPr>
        <p:spPr>
          <a:xfrm>
            <a:off x="520950" y="1345700"/>
            <a:ext cx="3564000" cy="648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rPr>
              <a:t>coloca cada muestra en la prueba correspondiente </a:t>
            </a:r>
            <a:endParaRPr>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idx="1" type="body"/>
          </p:nvPr>
        </p:nvSpPr>
        <p:spPr>
          <a:xfrm>
            <a:off x="3967000" y="0"/>
            <a:ext cx="5112600" cy="817200"/>
          </a:xfrm>
          <a:prstGeom prst="rect">
            <a:avLst/>
          </a:prstGeom>
          <a:solidFill>
            <a:schemeClr val="accent6"/>
          </a:solidFill>
        </p:spPr>
        <p:txBody>
          <a:bodyPr anchorCtr="0" anchor="t" bIns="91425" lIns="91425" spcFirstLastPara="1" rIns="91425" wrap="square" tIns="91425">
            <a:normAutofit fontScale="55000"/>
          </a:bodyPr>
          <a:lstStyle/>
          <a:p>
            <a:pPr indent="0" lvl="0" marL="0" rtl="0" algn="l">
              <a:spcBef>
                <a:spcPts val="0"/>
              </a:spcBef>
              <a:spcAft>
                <a:spcPts val="1200"/>
              </a:spcAft>
              <a:buNone/>
            </a:pPr>
            <a:r>
              <a:rPr lang="es" sz="2150"/>
              <a:t>D</a:t>
            </a:r>
            <a:r>
              <a:rPr lang="es" sz="2150"/>
              <a:t>e acuerdo a la </a:t>
            </a:r>
            <a:r>
              <a:rPr lang="es" sz="2150"/>
              <a:t>información</a:t>
            </a:r>
            <a:r>
              <a:rPr lang="es" sz="2150"/>
              <a:t> contenida en las </a:t>
            </a:r>
            <a:r>
              <a:rPr lang="es" sz="2150"/>
              <a:t>imágenes que muestran los resultados de las pruebas solicitadas al laboratorio</a:t>
            </a:r>
            <a:r>
              <a:rPr lang="es" sz="2150"/>
              <a:t>, identifica el resultado que corresponda con la el estudio solicitado</a:t>
            </a:r>
            <a:endParaRPr/>
          </a:p>
        </p:txBody>
      </p:sp>
      <p:pic>
        <p:nvPicPr>
          <p:cNvPr id="202" name="Google Shape;202;p28" title="WhatsApp Image 2026-03-12 at 8.55.04 PM.jpeg"/>
          <p:cNvPicPr preferRelativeResize="0"/>
          <p:nvPr/>
        </p:nvPicPr>
        <p:blipFill>
          <a:blip r:embed="rId3">
            <a:alphaModFix/>
          </a:blip>
          <a:stretch>
            <a:fillRect/>
          </a:stretch>
        </p:blipFill>
        <p:spPr>
          <a:xfrm>
            <a:off x="4572000" y="1643187"/>
            <a:ext cx="1508300" cy="1851025"/>
          </a:xfrm>
          <a:prstGeom prst="rect">
            <a:avLst/>
          </a:prstGeom>
          <a:noFill/>
          <a:ln>
            <a:noFill/>
          </a:ln>
        </p:spPr>
      </p:pic>
      <p:pic>
        <p:nvPicPr>
          <p:cNvPr id="203" name="Google Shape;203;p28" title="WhatsApp Image 2026-03-12 at 8.58.25 PM.jpeg"/>
          <p:cNvPicPr preferRelativeResize="0"/>
          <p:nvPr/>
        </p:nvPicPr>
        <p:blipFill rotWithShape="1">
          <a:blip r:embed="rId4">
            <a:alphaModFix/>
          </a:blip>
          <a:srcRect b="23160" l="0" r="0" t="0"/>
          <a:stretch/>
        </p:blipFill>
        <p:spPr>
          <a:xfrm>
            <a:off x="378175" y="1761763"/>
            <a:ext cx="3923326" cy="1169500"/>
          </a:xfrm>
          <a:prstGeom prst="rect">
            <a:avLst/>
          </a:prstGeom>
          <a:noFill/>
          <a:ln>
            <a:noFill/>
          </a:ln>
        </p:spPr>
      </p:pic>
      <p:sp>
        <p:nvSpPr>
          <p:cNvPr id="204" name="Google Shape;204;p28"/>
          <p:cNvSpPr/>
          <p:nvPr/>
        </p:nvSpPr>
        <p:spPr>
          <a:xfrm>
            <a:off x="7109551" y="1076282"/>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HEMOGRAMA 1</a:t>
            </a:r>
            <a:endParaRPr sz="1000"/>
          </a:p>
        </p:txBody>
      </p:sp>
      <p:sp>
        <p:nvSpPr>
          <p:cNvPr id="205" name="Google Shape;205;p28"/>
          <p:cNvSpPr/>
          <p:nvPr/>
        </p:nvSpPr>
        <p:spPr>
          <a:xfrm>
            <a:off x="7109551" y="158529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HEMOGRAMA 2 </a:t>
            </a:r>
            <a:endParaRPr sz="1000"/>
          </a:p>
        </p:txBody>
      </p:sp>
      <p:sp>
        <p:nvSpPr>
          <p:cNvPr id="206" name="Google Shape;206;p28"/>
          <p:cNvSpPr/>
          <p:nvPr/>
        </p:nvSpPr>
        <p:spPr>
          <a:xfrm>
            <a:off x="7109551" y="21212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BIOQUÍMICA</a:t>
            </a:r>
            <a:endParaRPr sz="1000"/>
          </a:p>
        </p:txBody>
      </p:sp>
      <p:sp>
        <p:nvSpPr>
          <p:cNvPr id="207" name="Google Shape;207;p28"/>
          <p:cNvSpPr/>
          <p:nvPr/>
        </p:nvSpPr>
        <p:spPr>
          <a:xfrm>
            <a:off x="7033251" y="27272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ANALISIS SEROLÓGICO</a:t>
            </a:r>
            <a:endParaRPr sz="1000"/>
          </a:p>
        </p:txBody>
      </p:sp>
      <p:pic>
        <p:nvPicPr>
          <p:cNvPr id="208" name="Google Shape;208;p28" title="Captura de pantalla 2026-03-12 203811.png"/>
          <p:cNvPicPr preferRelativeResize="0"/>
          <p:nvPr/>
        </p:nvPicPr>
        <p:blipFill>
          <a:blip r:embed="rId5">
            <a:alphaModFix/>
          </a:blip>
          <a:stretch>
            <a:fillRect/>
          </a:stretch>
        </p:blipFill>
        <p:spPr>
          <a:xfrm>
            <a:off x="5432600" y="4119675"/>
            <a:ext cx="3725949" cy="1127700"/>
          </a:xfrm>
          <a:prstGeom prst="rect">
            <a:avLst/>
          </a:prstGeom>
          <a:noFill/>
          <a:ln>
            <a:noFill/>
          </a:ln>
        </p:spPr>
      </p:pic>
      <p:pic>
        <p:nvPicPr>
          <p:cNvPr id="209" name="Google Shape;209;p28" title="Captura de pantalla 2026-03-12 204145.png"/>
          <p:cNvPicPr preferRelativeResize="0"/>
          <p:nvPr/>
        </p:nvPicPr>
        <p:blipFill>
          <a:blip r:embed="rId6">
            <a:alphaModFix/>
          </a:blip>
          <a:stretch>
            <a:fillRect/>
          </a:stretch>
        </p:blipFill>
        <p:spPr>
          <a:xfrm>
            <a:off x="448225" y="4119663"/>
            <a:ext cx="4984375" cy="919975"/>
          </a:xfrm>
          <a:prstGeom prst="rect">
            <a:avLst/>
          </a:prstGeom>
          <a:noFill/>
          <a:ln>
            <a:noFill/>
          </a:ln>
        </p:spPr>
      </p:pic>
      <p:sp>
        <p:nvSpPr>
          <p:cNvPr id="210" name="Google Shape;210;p28"/>
          <p:cNvSpPr/>
          <p:nvPr/>
        </p:nvSpPr>
        <p:spPr>
          <a:xfrm>
            <a:off x="7033251" y="33332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ANALISIS BACTERIOLÓGICO</a:t>
            </a:r>
            <a:endParaRPr sz="1000"/>
          </a:p>
        </p:txBody>
      </p:sp>
      <p:sp>
        <p:nvSpPr>
          <p:cNvPr id="211" name="Google Shape;211;p28"/>
          <p:cNvSpPr txBox="1"/>
          <p:nvPr>
            <p:ph type="title"/>
          </p:nvPr>
        </p:nvSpPr>
        <p:spPr>
          <a:xfrm>
            <a:off x="175625" y="112400"/>
            <a:ext cx="4139100" cy="11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idx="1" type="body"/>
          </p:nvPr>
        </p:nvSpPr>
        <p:spPr>
          <a:xfrm>
            <a:off x="4031400" y="101675"/>
            <a:ext cx="5112600" cy="817200"/>
          </a:xfrm>
          <a:prstGeom prst="rect">
            <a:avLst/>
          </a:prstGeom>
          <a:solidFill>
            <a:schemeClr val="accent6"/>
          </a:solidFill>
        </p:spPr>
        <p:txBody>
          <a:bodyPr anchorCtr="0" anchor="t" bIns="91425" lIns="91425" spcFirstLastPara="1" rIns="91425" wrap="square" tIns="91425">
            <a:normAutofit fontScale="70000"/>
          </a:bodyPr>
          <a:lstStyle/>
          <a:p>
            <a:pPr indent="0" lvl="0" marL="0" rtl="0" algn="l">
              <a:spcBef>
                <a:spcPts val="0"/>
              </a:spcBef>
              <a:spcAft>
                <a:spcPts val="1200"/>
              </a:spcAft>
              <a:buNone/>
            </a:pPr>
            <a:r>
              <a:rPr lang="es" sz="2150"/>
              <a:t>D</a:t>
            </a:r>
            <a:r>
              <a:rPr lang="es" sz="2150"/>
              <a:t>e acuerdo a la </a:t>
            </a:r>
            <a:r>
              <a:rPr lang="es" sz="2150"/>
              <a:t>información</a:t>
            </a:r>
            <a:r>
              <a:rPr lang="es" sz="2150"/>
              <a:t> contenida en las </a:t>
            </a:r>
            <a:r>
              <a:rPr lang="es" sz="2150"/>
              <a:t>imágenes</a:t>
            </a:r>
            <a:r>
              <a:rPr lang="es" sz="2150"/>
              <a:t>, identifica el </a:t>
            </a:r>
            <a:r>
              <a:rPr lang="es" sz="2150"/>
              <a:t>estudio</a:t>
            </a:r>
            <a:r>
              <a:rPr lang="es" sz="2150"/>
              <a:t> que corresponda con la imagen </a:t>
            </a:r>
            <a:endParaRPr/>
          </a:p>
        </p:txBody>
      </p:sp>
      <p:pic>
        <p:nvPicPr>
          <p:cNvPr id="217" name="Google Shape;217;p29" title="WhatsApp Image 2026-03-12 at 8.55.04 PM.jpeg"/>
          <p:cNvPicPr preferRelativeResize="0"/>
          <p:nvPr/>
        </p:nvPicPr>
        <p:blipFill>
          <a:blip r:embed="rId3">
            <a:alphaModFix/>
          </a:blip>
          <a:stretch>
            <a:fillRect/>
          </a:stretch>
        </p:blipFill>
        <p:spPr>
          <a:xfrm>
            <a:off x="4572000" y="1643187"/>
            <a:ext cx="1508300" cy="1851025"/>
          </a:xfrm>
          <a:prstGeom prst="rect">
            <a:avLst/>
          </a:prstGeom>
          <a:noFill/>
          <a:ln>
            <a:noFill/>
          </a:ln>
        </p:spPr>
      </p:pic>
      <p:pic>
        <p:nvPicPr>
          <p:cNvPr id="218" name="Google Shape;218;p29" title="WhatsApp Image 2026-03-12 at 8.58.25 PM.jpeg"/>
          <p:cNvPicPr preferRelativeResize="0"/>
          <p:nvPr/>
        </p:nvPicPr>
        <p:blipFill rotWithShape="1">
          <a:blip r:embed="rId4">
            <a:alphaModFix/>
          </a:blip>
          <a:srcRect b="23160" l="0" r="0" t="0"/>
          <a:stretch/>
        </p:blipFill>
        <p:spPr>
          <a:xfrm>
            <a:off x="378175" y="1761763"/>
            <a:ext cx="3923326" cy="1169500"/>
          </a:xfrm>
          <a:prstGeom prst="rect">
            <a:avLst/>
          </a:prstGeom>
          <a:noFill/>
          <a:ln>
            <a:noFill/>
          </a:ln>
        </p:spPr>
      </p:pic>
      <p:sp>
        <p:nvSpPr>
          <p:cNvPr id="219" name="Google Shape;219;p29"/>
          <p:cNvSpPr/>
          <p:nvPr/>
        </p:nvSpPr>
        <p:spPr>
          <a:xfrm>
            <a:off x="6479226" y="3583607"/>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HEMOGRAMA 1</a:t>
            </a:r>
            <a:endParaRPr sz="1000"/>
          </a:p>
        </p:txBody>
      </p:sp>
      <p:sp>
        <p:nvSpPr>
          <p:cNvPr id="220" name="Google Shape;220;p29"/>
          <p:cNvSpPr/>
          <p:nvPr/>
        </p:nvSpPr>
        <p:spPr>
          <a:xfrm>
            <a:off x="4569739" y="1105207"/>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HEMOGRAMA 2 </a:t>
            </a:r>
            <a:endParaRPr sz="1000"/>
          </a:p>
        </p:txBody>
      </p:sp>
      <p:sp>
        <p:nvSpPr>
          <p:cNvPr id="221" name="Google Shape;221;p29"/>
          <p:cNvSpPr/>
          <p:nvPr/>
        </p:nvSpPr>
        <p:spPr>
          <a:xfrm>
            <a:off x="1660676" y="36753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BIOQUÍMICA</a:t>
            </a:r>
            <a:endParaRPr sz="1000"/>
          </a:p>
        </p:txBody>
      </p:sp>
      <p:sp>
        <p:nvSpPr>
          <p:cNvPr id="222" name="Google Shape;222;p29"/>
          <p:cNvSpPr/>
          <p:nvPr/>
        </p:nvSpPr>
        <p:spPr>
          <a:xfrm>
            <a:off x="1583426" y="1164507"/>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ANÁLISIS</a:t>
            </a:r>
            <a:r>
              <a:rPr lang="es" sz="1000">
                <a:latin typeface="Calibri"/>
                <a:ea typeface="Calibri"/>
                <a:cs typeface="Calibri"/>
                <a:sym typeface="Calibri"/>
              </a:rPr>
              <a:t> MOLECULAR</a:t>
            </a:r>
            <a:endParaRPr sz="1000"/>
          </a:p>
        </p:txBody>
      </p:sp>
      <p:pic>
        <p:nvPicPr>
          <p:cNvPr id="223" name="Google Shape;223;p29" title="Captura de pantalla 2026-03-12 203811.png"/>
          <p:cNvPicPr preferRelativeResize="0"/>
          <p:nvPr/>
        </p:nvPicPr>
        <p:blipFill>
          <a:blip r:embed="rId5">
            <a:alphaModFix/>
          </a:blip>
          <a:stretch>
            <a:fillRect/>
          </a:stretch>
        </p:blipFill>
        <p:spPr>
          <a:xfrm>
            <a:off x="5432600" y="4119675"/>
            <a:ext cx="3725949" cy="1127700"/>
          </a:xfrm>
          <a:prstGeom prst="rect">
            <a:avLst/>
          </a:prstGeom>
          <a:noFill/>
          <a:ln>
            <a:noFill/>
          </a:ln>
        </p:spPr>
      </p:pic>
      <p:pic>
        <p:nvPicPr>
          <p:cNvPr id="224" name="Google Shape;224;p29" title="Captura de pantalla 2026-03-12 204145.png"/>
          <p:cNvPicPr preferRelativeResize="0"/>
          <p:nvPr/>
        </p:nvPicPr>
        <p:blipFill>
          <a:blip r:embed="rId6">
            <a:alphaModFix/>
          </a:blip>
          <a:stretch>
            <a:fillRect/>
          </a:stretch>
        </p:blipFill>
        <p:spPr>
          <a:xfrm>
            <a:off x="448225" y="4119663"/>
            <a:ext cx="4984375" cy="919975"/>
          </a:xfrm>
          <a:prstGeom prst="rect">
            <a:avLst/>
          </a:prstGeom>
          <a:noFill/>
          <a:ln>
            <a:noFill/>
          </a:ln>
        </p:spPr>
      </p:pic>
      <p:sp>
        <p:nvSpPr>
          <p:cNvPr id="225" name="Google Shape;225;p29"/>
          <p:cNvSpPr txBox="1"/>
          <p:nvPr/>
        </p:nvSpPr>
        <p:spPr>
          <a:xfrm>
            <a:off x="6346950" y="918875"/>
            <a:ext cx="230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retroalimentación correcta</a:t>
            </a:r>
            <a:endParaRPr sz="1800">
              <a:solidFill>
                <a:schemeClr val="dk2"/>
              </a:solidFill>
            </a:endParaRPr>
          </a:p>
        </p:txBody>
      </p:sp>
      <p:sp>
        <p:nvSpPr>
          <p:cNvPr id="226" name="Google Shape;226;p29"/>
          <p:cNvSpPr txBox="1"/>
          <p:nvPr/>
        </p:nvSpPr>
        <p:spPr>
          <a:xfrm>
            <a:off x="6350800" y="1614975"/>
            <a:ext cx="230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retroalimentación incorrecta</a:t>
            </a:r>
            <a:endParaRPr sz="1800">
              <a:solidFill>
                <a:schemeClr val="dk2"/>
              </a:solidFill>
            </a:endParaRPr>
          </a:p>
        </p:txBody>
      </p:sp>
      <p:sp>
        <p:nvSpPr>
          <p:cNvPr id="227" name="Google Shape;227;p29"/>
          <p:cNvSpPr/>
          <p:nvPr/>
        </p:nvSpPr>
        <p:spPr>
          <a:xfrm>
            <a:off x="7319476" y="28430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ANALISIS BACTERIOLÓGICO</a:t>
            </a:r>
            <a:endParaRPr sz="1000"/>
          </a:p>
        </p:txBody>
      </p:sp>
      <p:sp>
        <p:nvSpPr>
          <p:cNvPr id="228" name="Google Shape;228;p29"/>
          <p:cNvSpPr txBox="1"/>
          <p:nvPr>
            <p:ph type="title"/>
          </p:nvPr>
        </p:nvSpPr>
        <p:spPr>
          <a:xfrm>
            <a:off x="175625" y="112400"/>
            <a:ext cx="4139100" cy="11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graphicFrame>
        <p:nvGraphicFramePr>
          <p:cNvPr id="233" name="Google Shape;233;p30"/>
          <p:cNvGraphicFramePr/>
          <p:nvPr/>
        </p:nvGraphicFramePr>
        <p:xfrm>
          <a:off x="1693325" y="1688775"/>
          <a:ext cx="3000000" cy="3000000"/>
        </p:xfrm>
        <a:graphic>
          <a:graphicData uri="http://schemas.openxmlformats.org/drawingml/2006/table">
            <a:tbl>
              <a:tblPr>
                <a:noFill/>
                <a:tableStyleId>{84BC8C95-1D40-486A-9443-D1563B821074}</a:tableStyleId>
              </a:tblPr>
              <a:tblGrid>
                <a:gridCol w="2413000"/>
                <a:gridCol w="2413000"/>
                <a:gridCol w="2413000"/>
              </a:tblGrid>
              <a:tr h="62357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E69138"/>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a:t>
                      </a:r>
                      <a:r>
                        <a:rPr lang="es" sz="1200">
                          <a:latin typeface="Times New Roman"/>
                          <a:ea typeface="Times New Roman"/>
                          <a:cs typeface="Times New Roman"/>
                          <a:sym typeface="Times New Roman"/>
                        </a:rPr>
                        <a:t>diagnóstica solicitada</a:t>
                      </a:r>
                      <a:r>
                        <a:rPr lang="es"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91425" marB="91425" marR="91425" marL="91425">
                    <a:solidFill>
                      <a:srgbClr val="E69138"/>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E69138"/>
                    </a:solidFill>
                  </a:tcPr>
                </a:tc>
              </a:tr>
              <a:tr h="623575">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análisis</a:t>
                      </a:r>
                      <a:r>
                        <a:rPr lang="es" sz="1200">
                          <a:latin typeface="Times New Roman"/>
                          <a:ea typeface="Times New Roman"/>
                          <a:cs typeface="Times New Roman"/>
                          <a:sym typeface="Times New Roman"/>
                        </a:rPr>
                        <a:t> molecular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PCR en punto final</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POSITIVO A: </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DvB, IBR, y vRSB</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NEGATIVO A:</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vPI3</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rowSpan="2">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biometría hemática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hemoconcentración e </a:t>
                      </a:r>
                      <a:r>
                        <a:rPr lang="es" sz="1200">
                          <a:latin typeface="Times New Roman"/>
                          <a:ea typeface="Times New Roman"/>
                          <a:cs typeface="Times New Roman"/>
                          <a:sym typeface="Times New Roman"/>
                        </a:rPr>
                        <a:t>inflamación</a:t>
                      </a:r>
                      <a:r>
                        <a:rPr lang="es" sz="1200">
                          <a:latin typeface="Times New Roman"/>
                          <a:ea typeface="Times New Roman"/>
                          <a:cs typeface="Times New Roman"/>
                          <a:sym typeface="Times New Roman"/>
                        </a:rPr>
                        <a:t> severa </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perfil</a:t>
                      </a:r>
                      <a:r>
                        <a:rPr lang="es" sz="1200">
                          <a:latin typeface="Times New Roman"/>
                          <a:ea typeface="Times New Roman"/>
                          <a:cs typeface="Times New Roman"/>
                          <a:sym typeface="Times New Roman"/>
                        </a:rPr>
                        <a:t> bioquímico</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alteraciones compatibles con complejo respiratorio bovino (CRB) y una acidosis </a:t>
                      </a:r>
                      <a:r>
                        <a:rPr lang="es" sz="1200">
                          <a:latin typeface="Times New Roman"/>
                          <a:ea typeface="Times New Roman"/>
                          <a:cs typeface="Times New Roman"/>
                          <a:sym typeface="Times New Roman"/>
                        </a:rPr>
                        <a:t>metabólica</a:t>
                      </a:r>
                      <a:r>
                        <a:rPr lang="es" sz="1200">
                          <a:latin typeface="Times New Roman"/>
                          <a:ea typeface="Times New Roman"/>
                          <a:cs typeface="Times New Roman"/>
                          <a:sym typeface="Times New Roman"/>
                        </a:rPr>
                        <a:t> severa</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aislamiento</a:t>
                      </a:r>
                      <a:r>
                        <a:rPr lang="es" sz="1200">
                          <a:latin typeface="Times New Roman"/>
                          <a:ea typeface="Times New Roman"/>
                          <a:cs typeface="Times New Roman"/>
                          <a:sym typeface="Times New Roman"/>
                        </a:rPr>
                        <a:t> e </a:t>
                      </a:r>
                      <a:r>
                        <a:rPr lang="es" sz="1200">
                          <a:latin typeface="Times New Roman"/>
                          <a:ea typeface="Times New Roman"/>
                          <a:cs typeface="Times New Roman"/>
                          <a:sym typeface="Times New Roman"/>
                        </a:rPr>
                        <a:t>identificación</a:t>
                      </a:r>
                      <a:r>
                        <a:rPr lang="es" sz="1200">
                          <a:latin typeface="Times New Roman"/>
                          <a:ea typeface="Times New Roman"/>
                          <a:cs typeface="Times New Roman"/>
                          <a:sym typeface="Times New Roman"/>
                        </a:rPr>
                        <a:t> </a:t>
                      </a:r>
                      <a:r>
                        <a:rPr lang="es" sz="1200">
                          <a:latin typeface="Times New Roman"/>
                          <a:ea typeface="Times New Roman"/>
                          <a:cs typeface="Times New Roman"/>
                          <a:sym typeface="Times New Roman"/>
                        </a:rPr>
                        <a:t>bacteriológico</a:t>
                      </a:r>
                      <a:r>
                        <a:rPr lang="es"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crecimiento de </a:t>
                      </a:r>
                      <a:r>
                        <a:rPr i="1" lang="es" sz="1200">
                          <a:latin typeface="Times New Roman"/>
                          <a:ea typeface="Times New Roman"/>
                          <a:cs typeface="Times New Roman"/>
                          <a:sym typeface="Times New Roman"/>
                        </a:rPr>
                        <a:t>Pasteurella spp</a:t>
                      </a:r>
                      <a:endParaRPr i="1" sz="1200">
                        <a:latin typeface="Times New Roman"/>
                        <a:ea typeface="Times New Roman"/>
                        <a:cs typeface="Times New Roman"/>
                        <a:sym typeface="Times New Roman"/>
                      </a:endParaRPr>
                    </a:p>
                  </a:txBody>
                  <a:tcPr marT="91425" marB="91425" marR="91425" marL="91425">
                    <a:solidFill>
                      <a:srgbClr val="F9CB9C"/>
                    </a:solidFill>
                  </a:tcPr>
                </a:tc>
              </a:tr>
            </a:tbl>
          </a:graphicData>
        </a:graphic>
      </p:graphicFrame>
      <p:sp>
        <p:nvSpPr>
          <p:cNvPr id="234" name="Google Shape;234;p30"/>
          <p:cNvSpPr txBox="1"/>
          <p:nvPr/>
        </p:nvSpPr>
        <p:spPr>
          <a:xfrm>
            <a:off x="4314725" y="112400"/>
            <a:ext cx="4704600" cy="7389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Coloca en su lugar cada </a:t>
            </a:r>
            <a:r>
              <a:rPr lang="es" sz="1800">
                <a:solidFill>
                  <a:schemeClr val="dk2"/>
                </a:solidFill>
              </a:rPr>
              <a:t>área</a:t>
            </a:r>
            <a:r>
              <a:rPr lang="es" sz="1800">
                <a:solidFill>
                  <a:schemeClr val="dk2"/>
                </a:solidFill>
              </a:rPr>
              <a:t> del laboratorio de diagnóstico veterinario. </a:t>
            </a:r>
            <a:endParaRPr sz="1800">
              <a:solidFill>
                <a:schemeClr val="dk2"/>
              </a:solidFill>
            </a:endParaRPr>
          </a:p>
        </p:txBody>
      </p:sp>
      <p:sp>
        <p:nvSpPr>
          <p:cNvPr id="235" name="Google Shape;235;p30"/>
          <p:cNvSpPr txBox="1"/>
          <p:nvPr>
            <p:ph type="title"/>
          </p:nvPr>
        </p:nvSpPr>
        <p:spPr>
          <a:xfrm>
            <a:off x="175625" y="112400"/>
            <a:ext cx="4139100" cy="11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sp>
        <p:nvSpPr>
          <p:cNvPr id="236" name="Google Shape;236;p30"/>
          <p:cNvSpPr/>
          <p:nvPr/>
        </p:nvSpPr>
        <p:spPr>
          <a:xfrm>
            <a:off x="5530676" y="101262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marR="0" rtl="0" algn="l">
              <a:lnSpc>
                <a:spcPct val="90000"/>
              </a:lnSpc>
              <a:spcBef>
                <a:spcPts val="0"/>
              </a:spcBef>
              <a:spcAft>
                <a:spcPts val="0"/>
              </a:spcAft>
              <a:buNone/>
            </a:pPr>
            <a:r>
              <a:rPr lang="es" sz="1371">
                <a:latin typeface="Calibri"/>
                <a:ea typeface="Calibri"/>
                <a:cs typeface="Calibri"/>
                <a:sym typeface="Calibri"/>
              </a:rPr>
              <a:t>Laboratorio de patología clínica</a:t>
            </a:r>
            <a:endParaRPr sz="1371"/>
          </a:p>
        </p:txBody>
      </p:sp>
      <p:sp>
        <p:nvSpPr>
          <p:cNvPr id="237" name="Google Shape;237;p30"/>
          <p:cNvSpPr/>
          <p:nvPr/>
        </p:nvSpPr>
        <p:spPr>
          <a:xfrm>
            <a:off x="7353551" y="1012613"/>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1">
                <a:latin typeface="Calibri"/>
                <a:ea typeface="Calibri"/>
                <a:cs typeface="Calibri"/>
                <a:sym typeface="Calibri"/>
              </a:rPr>
              <a:t>Laboratorio de microbiología</a:t>
            </a:r>
            <a:endParaRPr sz="1371"/>
          </a:p>
        </p:txBody>
      </p:sp>
      <p:sp>
        <p:nvSpPr>
          <p:cNvPr id="238" name="Google Shape;238;p30"/>
          <p:cNvSpPr/>
          <p:nvPr/>
        </p:nvSpPr>
        <p:spPr>
          <a:xfrm>
            <a:off x="3707801" y="101262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1">
                <a:latin typeface="Calibri"/>
                <a:ea typeface="Calibri"/>
                <a:cs typeface="Calibri"/>
                <a:sym typeface="Calibri"/>
              </a:rPr>
              <a:t>Laboratorio de virología 	</a:t>
            </a:r>
            <a:endParaRPr sz="137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nvSpPr>
        <p:spPr>
          <a:xfrm>
            <a:off x="4314725" y="112400"/>
            <a:ext cx="4704600" cy="7389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Coloca en su lugar cada área del laboratorio de diagnóstico veterinario. </a:t>
            </a:r>
            <a:endParaRPr sz="1800">
              <a:solidFill>
                <a:schemeClr val="dk2"/>
              </a:solidFill>
            </a:endParaRPr>
          </a:p>
        </p:txBody>
      </p:sp>
      <p:sp>
        <p:nvSpPr>
          <p:cNvPr id="244" name="Google Shape;244;p31"/>
          <p:cNvSpPr txBox="1"/>
          <p:nvPr>
            <p:ph type="title"/>
          </p:nvPr>
        </p:nvSpPr>
        <p:spPr>
          <a:xfrm rot="-806459">
            <a:off x="175686" y="112399"/>
            <a:ext cx="4139070" cy="1181696"/>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Pruebas complementarias </a:t>
            </a:r>
            <a:endParaRPr sz="3500"/>
          </a:p>
        </p:txBody>
      </p:sp>
      <p:graphicFrame>
        <p:nvGraphicFramePr>
          <p:cNvPr id="245" name="Google Shape;245;p31"/>
          <p:cNvGraphicFramePr/>
          <p:nvPr/>
        </p:nvGraphicFramePr>
        <p:xfrm>
          <a:off x="4393100" y="1120350"/>
          <a:ext cx="3000000" cy="3000000"/>
        </p:xfrm>
        <a:graphic>
          <a:graphicData uri="http://schemas.openxmlformats.org/drawingml/2006/table">
            <a:tbl>
              <a:tblPr>
                <a:noFill/>
                <a:tableStyleId>{84BC8C95-1D40-486A-9443-D1563B821074}</a:tableStyleId>
              </a:tblPr>
              <a:tblGrid>
                <a:gridCol w="1522675"/>
                <a:gridCol w="1269225"/>
                <a:gridCol w="1755950"/>
              </a:tblGrid>
              <a:tr h="62357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E69138"/>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diagnóstica solicitada </a:t>
                      </a:r>
                      <a:endParaRPr sz="1200">
                        <a:latin typeface="Times New Roman"/>
                        <a:ea typeface="Times New Roman"/>
                        <a:cs typeface="Times New Roman"/>
                        <a:sym typeface="Times New Roman"/>
                      </a:endParaRPr>
                    </a:p>
                  </a:txBody>
                  <a:tcPr marT="91425" marB="91425" marR="91425" marL="91425">
                    <a:solidFill>
                      <a:srgbClr val="E69138"/>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E69138"/>
                    </a:solidFill>
                  </a:tcPr>
                </a:tc>
              </a:tr>
              <a:tr h="623575">
                <a:tc>
                  <a:txBody>
                    <a:bodyPr/>
                    <a:lstStyle/>
                    <a:p>
                      <a:pPr indent="0" lvl="0" marL="0" rtl="0" algn="l">
                        <a:spcBef>
                          <a:spcPts val="0"/>
                        </a:spcBef>
                        <a:spcAft>
                          <a:spcPts val="0"/>
                        </a:spcAft>
                        <a:buNone/>
                      </a:pPr>
                      <a:r>
                        <a:rPr lang="es">
                          <a:latin typeface="Times New Roman"/>
                          <a:ea typeface="Times New Roman"/>
                          <a:cs typeface="Times New Roman"/>
                          <a:sym typeface="Times New Roman"/>
                        </a:rPr>
                        <a:t>Laboratorio de virología </a:t>
                      </a:r>
                      <a:endParaRPr>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análisis molecular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PCR en punto final</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POSITIVO A: </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DvB, IBR, y vRSB</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NEGATIVO A:</a:t>
                      </a:r>
                      <a:endParaRPr sz="1200">
                        <a:latin typeface="Times New Roman"/>
                        <a:ea typeface="Times New Roman"/>
                        <a:cs typeface="Times New Roman"/>
                        <a:sym typeface="Times New Roman"/>
                      </a:endParaRPr>
                    </a:p>
                    <a:p>
                      <a:pPr indent="0" lvl="0" marL="0" rtl="0" algn="l">
                        <a:spcBef>
                          <a:spcPts val="0"/>
                        </a:spcBef>
                        <a:spcAft>
                          <a:spcPts val="0"/>
                        </a:spcAft>
                        <a:buNone/>
                      </a:pPr>
                      <a:r>
                        <a:rPr lang="es" sz="1200">
                          <a:latin typeface="Times New Roman"/>
                          <a:ea typeface="Times New Roman"/>
                          <a:cs typeface="Times New Roman"/>
                          <a:sym typeface="Times New Roman"/>
                        </a:rPr>
                        <a:t>vPI3</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rowSpan="2">
                  <a:txBody>
                    <a:bodyPr/>
                    <a:lstStyle/>
                    <a:p>
                      <a:pPr indent="0" lvl="0" marL="0" rtl="0" algn="l">
                        <a:spcBef>
                          <a:spcPts val="0"/>
                        </a:spcBef>
                        <a:spcAft>
                          <a:spcPts val="0"/>
                        </a:spcAft>
                        <a:buNone/>
                      </a:pPr>
                      <a:r>
                        <a:rPr lang="es">
                          <a:latin typeface="Times New Roman"/>
                          <a:ea typeface="Times New Roman"/>
                          <a:cs typeface="Times New Roman"/>
                          <a:sym typeface="Times New Roman"/>
                        </a:rPr>
                        <a:t>Laboratorio de patología clínica </a:t>
                      </a:r>
                      <a:endParaRPr>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biometría hemática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hemoconcentración e inflamación severa </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perfil bioquímico</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alteraciones compatibles con complejo respiratorio bovino (CRB) y una acidosis metabólica severa</a:t>
                      </a:r>
                      <a:endParaRPr sz="1200">
                        <a:latin typeface="Times New Roman"/>
                        <a:ea typeface="Times New Roman"/>
                        <a:cs typeface="Times New Roman"/>
                        <a:sym typeface="Times New Roman"/>
                      </a:endParaRPr>
                    </a:p>
                  </a:txBody>
                  <a:tcPr marT="91425" marB="91425" marR="91425" marL="91425">
                    <a:solidFill>
                      <a:srgbClr val="F9CB9C"/>
                    </a:solidFill>
                  </a:tcPr>
                </a:tc>
              </a:tr>
              <a:tr h="3810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Laboratorio de microbiología </a:t>
                      </a:r>
                      <a:endParaRPr>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aislamiento e identificación bacteriológico </a:t>
                      </a:r>
                      <a:endParaRPr sz="1200">
                        <a:latin typeface="Times New Roman"/>
                        <a:ea typeface="Times New Roman"/>
                        <a:cs typeface="Times New Roman"/>
                        <a:sym typeface="Times New Roman"/>
                      </a:endParaRPr>
                    </a:p>
                  </a:txBody>
                  <a:tcPr marT="91425" marB="91425" marR="91425" marL="91425">
                    <a:solidFill>
                      <a:srgbClr val="F9CB9C"/>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crecimiento de </a:t>
                      </a:r>
                      <a:r>
                        <a:rPr i="1" lang="es" sz="1200">
                          <a:latin typeface="Times New Roman"/>
                          <a:ea typeface="Times New Roman"/>
                          <a:cs typeface="Times New Roman"/>
                          <a:sym typeface="Times New Roman"/>
                        </a:rPr>
                        <a:t>Pasteurella spp</a:t>
                      </a:r>
                      <a:endParaRPr i="1" sz="1200">
                        <a:latin typeface="Times New Roman"/>
                        <a:ea typeface="Times New Roman"/>
                        <a:cs typeface="Times New Roman"/>
                        <a:sym typeface="Times New Roman"/>
                      </a:endParaRPr>
                    </a:p>
                  </a:txBody>
                  <a:tcPr marT="91425" marB="91425" marR="91425" marL="91425">
                    <a:solidFill>
                      <a:srgbClr val="F9CB9C"/>
                    </a:solidFill>
                  </a:tcPr>
                </a:tc>
              </a:tr>
            </a:tbl>
          </a:graphicData>
        </a:graphic>
      </p:graphicFrame>
      <p:sp>
        <p:nvSpPr>
          <p:cNvPr id="246" name="Google Shape;246;p31"/>
          <p:cNvSpPr txBox="1"/>
          <p:nvPr/>
        </p:nvSpPr>
        <p:spPr>
          <a:xfrm>
            <a:off x="130825" y="1725150"/>
            <a:ext cx="4228800" cy="1539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sz="1200">
                <a:solidFill>
                  <a:schemeClr val="dk2"/>
                </a:solidFill>
                <a:latin typeface="Times New Roman"/>
                <a:ea typeface="Times New Roman"/>
                <a:cs typeface="Times New Roman"/>
                <a:sym typeface="Times New Roman"/>
              </a:rPr>
              <a:t>etroalimentación correcta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chemeClr val="dk2"/>
                </a:solidFill>
                <a:latin typeface="Times New Roman"/>
                <a:ea typeface="Times New Roman"/>
                <a:cs typeface="Times New Roman"/>
                <a:sym typeface="Times New Roman"/>
              </a:rPr>
              <a:t>¡Muy bien! El objetivo de estos estudios es complementar la información obtenida para con ello establecer los posibles </a:t>
            </a:r>
            <a:r>
              <a:rPr lang="es" sz="1200">
                <a:solidFill>
                  <a:schemeClr val="dk2"/>
                </a:solidFill>
                <a:latin typeface="Times New Roman"/>
                <a:ea typeface="Times New Roman"/>
                <a:cs typeface="Times New Roman"/>
                <a:sym typeface="Times New Roman"/>
              </a:rPr>
              <a:t>diagnósticos</a:t>
            </a:r>
            <a:r>
              <a:rPr lang="es" sz="1200">
                <a:solidFill>
                  <a:schemeClr val="dk2"/>
                </a:solidFill>
                <a:latin typeface="Times New Roman"/>
                <a:ea typeface="Times New Roman"/>
                <a:cs typeface="Times New Roman"/>
                <a:sym typeface="Times New Roman"/>
              </a:rPr>
              <a:t>.</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chemeClr val="dk2"/>
                </a:solidFill>
                <a:latin typeface="Times New Roman"/>
                <a:ea typeface="Times New Roman"/>
                <a:cs typeface="Times New Roman"/>
                <a:sym typeface="Times New Roman"/>
              </a:rPr>
              <a:t>tip: </a:t>
            </a:r>
            <a:r>
              <a:rPr lang="es" sz="1200">
                <a:solidFill>
                  <a:schemeClr val="dk2"/>
                </a:solidFill>
                <a:latin typeface="Times New Roman"/>
                <a:ea typeface="Times New Roman"/>
                <a:cs typeface="Times New Roman"/>
                <a:sym typeface="Times New Roman"/>
              </a:rPr>
              <a:t>también</a:t>
            </a:r>
            <a:r>
              <a:rPr lang="es" sz="1200">
                <a:solidFill>
                  <a:schemeClr val="dk2"/>
                </a:solidFill>
                <a:latin typeface="Times New Roman"/>
                <a:ea typeface="Times New Roman"/>
                <a:cs typeface="Times New Roman"/>
                <a:sym typeface="Times New Roman"/>
              </a:rPr>
              <a:t> puede ayudar un </a:t>
            </a:r>
            <a:r>
              <a:rPr lang="es" sz="1200">
                <a:solidFill>
                  <a:schemeClr val="dk2"/>
                </a:solidFill>
                <a:latin typeface="Times New Roman"/>
                <a:ea typeface="Times New Roman"/>
                <a:cs typeface="Times New Roman"/>
                <a:sym typeface="Times New Roman"/>
              </a:rPr>
              <a:t>urianálisis</a:t>
            </a:r>
            <a:r>
              <a:rPr lang="es" sz="1200">
                <a:solidFill>
                  <a:schemeClr val="dk2"/>
                </a:solidFill>
                <a:latin typeface="Times New Roman"/>
                <a:ea typeface="Times New Roman"/>
                <a:cs typeface="Times New Roman"/>
                <a:sym typeface="Times New Roman"/>
              </a:rPr>
              <a:t> o un estudio coproparasitoscópico.</a:t>
            </a:r>
            <a:r>
              <a:rPr lang="es">
                <a:solidFill>
                  <a:schemeClr val="dk2"/>
                </a:solidFill>
                <a:latin typeface="Times New Roman"/>
                <a:ea typeface="Times New Roman"/>
                <a:cs typeface="Times New Roman"/>
                <a:sym typeface="Times New Roman"/>
              </a:rPr>
              <a:t> </a:t>
            </a:r>
            <a:endParaRPr sz="1800">
              <a:solidFill>
                <a:schemeClr val="dk2"/>
              </a:solidFill>
            </a:endParaRPr>
          </a:p>
        </p:txBody>
      </p:sp>
      <p:sp>
        <p:nvSpPr>
          <p:cNvPr id="247" name="Google Shape;247;p31"/>
          <p:cNvSpPr txBox="1"/>
          <p:nvPr/>
        </p:nvSpPr>
        <p:spPr>
          <a:xfrm>
            <a:off x="175675" y="3451675"/>
            <a:ext cx="4139100" cy="12621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incorrecta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recuerda que las pruebas de laboratorio complementan el </a:t>
            </a:r>
            <a:r>
              <a:rPr lang="es">
                <a:solidFill>
                  <a:schemeClr val="dk2"/>
                </a:solidFill>
                <a:latin typeface="Times New Roman"/>
                <a:ea typeface="Times New Roman"/>
                <a:cs typeface="Times New Roman"/>
                <a:sym typeface="Times New Roman"/>
              </a:rPr>
              <a:t>diagnóstico</a:t>
            </a:r>
            <a:r>
              <a:rPr lang="es">
                <a:solidFill>
                  <a:schemeClr val="dk2"/>
                </a:solidFill>
                <a:latin typeface="Times New Roman"/>
                <a:ea typeface="Times New Roman"/>
                <a:cs typeface="Times New Roman"/>
                <a:sym typeface="Times New Roman"/>
              </a:rPr>
              <a:t> para confirmarlo o descartarlo. revisa muy bien y con detenimiento la prueba solicitada y el resultado.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type="title"/>
          </p:nvPr>
        </p:nvSpPr>
        <p:spPr>
          <a:xfrm>
            <a:off x="311700" y="445025"/>
            <a:ext cx="2982600" cy="16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Laboratorio de virología </a:t>
            </a:r>
            <a:endParaRPr/>
          </a:p>
        </p:txBody>
      </p:sp>
      <p:pic>
        <p:nvPicPr>
          <p:cNvPr id="253" name="Google Shape;253;p32" title="Captura de pantalla 2026-03-19 121211.png"/>
          <p:cNvPicPr preferRelativeResize="0"/>
          <p:nvPr/>
        </p:nvPicPr>
        <p:blipFill>
          <a:blip r:embed="rId3">
            <a:alphaModFix/>
          </a:blip>
          <a:stretch>
            <a:fillRect/>
          </a:stretch>
        </p:blipFill>
        <p:spPr>
          <a:xfrm>
            <a:off x="4572002" y="207477"/>
            <a:ext cx="4445575" cy="485699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311700" y="445025"/>
            <a:ext cx="400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Patología clínica </a:t>
            </a:r>
            <a:endParaRPr sz="3500"/>
          </a:p>
        </p:txBody>
      </p:sp>
      <p:pic>
        <p:nvPicPr>
          <p:cNvPr id="259" name="Google Shape;259;p33" title="Captura de pantalla 2026-03-19 121603.png"/>
          <p:cNvPicPr preferRelativeResize="0"/>
          <p:nvPr/>
        </p:nvPicPr>
        <p:blipFill>
          <a:blip r:embed="rId3">
            <a:alphaModFix/>
          </a:blip>
          <a:stretch>
            <a:fillRect/>
          </a:stretch>
        </p:blipFill>
        <p:spPr>
          <a:xfrm>
            <a:off x="3862125" y="769075"/>
            <a:ext cx="3531637" cy="3820975"/>
          </a:xfrm>
          <a:prstGeom prst="rect">
            <a:avLst/>
          </a:prstGeom>
          <a:noFill/>
          <a:ln>
            <a:noFill/>
          </a:ln>
        </p:spPr>
      </p:pic>
      <p:sp>
        <p:nvSpPr>
          <p:cNvPr id="260" name="Google Shape;260;p33"/>
          <p:cNvSpPr txBox="1"/>
          <p:nvPr>
            <p:ph type="title"/>
          </p:nvPr>
        </p:nvSpPr>
        <p:spPr>
          <a:xfrm>
            <a:off x="129875" y="2571750"/>
            <a:ext cx="400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500"/>
              <a:t>Hemograma </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4" title="Captura de pantalla 2026-03-19 121656.png"/>
          <p:cNvPicPr preferRelativeResize="0"/>
          <p:nvPr/>
        </p:nvPicPr>
        <p:blipFill>
          <a:blip r:embed="rId3">
            <a:alphaModFix/>
          </a:blip>
          <a:stretch>
            <a:fillRect/>
          </a:stretch>
        </p:blipFill>
        <p:spPr>
          <a:xfrm>
            <a:off x="4389275" y="152400"/>
            <a:ext cx="3886200" cy="4657725"/>
          </a:xfrm>
          <a:prstGeom prst="rect">
            <a:avLst/>
          </a:prstGeom>
          <a:noFill/>
          <a:ln>
            <a:noFill/>
          </a:ln>
        </p:spPr>
      </p:pic>
      <p:sp>
        <p:nvSpPr>
          <p:cNvPr id="266" name="Google Shape;266;p34"/>
          <p:cNvSpPr txBox="1"/>
          <p:nvPr>
            <p:ph type="title"/>
          </p:nvPr>
        </p:nvSpPr>
        <p:spPr>
          <a:xfrm>
            <a:off x="311700" y="445025"/>
            <a:ext cx="400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Patología clínica </a:t>
            </a:r>
            <a:endParaRPr sz="3500"/>
          </a:p>
        </p:txBody>
      </p:sp>
      <p:sp>
        <p:nvSpPr>
          <p:cNvPr id="267" name="Google Shape;267;p34"/>
          <p:cNvSpPr txBox="1"/>
          <p:nvPr>
            <p:ph type="title"/>
          </p:nvPr>
        </p:nvSpPr>
        <p:spPr>
          <a:xfrm>
            <a:off x="129875" y="2571750"/>
            <a:ext cx="400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500"/>
              <a:t>Perfil bioquímico </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11700" y="445025"/>
            <a:ext cx="478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 Lista de problemas </a:t>
            </a:r>
            <a:endParaRPr sz="3500"/>
          </a:p>
        </p:txBody>
      </p:sp>
      <p:sp>
        <p:nvSpPr>
          <p:cNvPr id="273" name="Google Shape;273;p35"/>
          <p:cNvSpPr txBox="1"/>
          <p:nvPr/>
        </p:nvSpPr>
        <p:spPr>
          <a:xfrm>
            <a:off x="402425" y="1371150"/>
            <a:ext cx="44790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La lista de problemas consiste en una </a:t>
            </a:r>
            <a:r>
              <a:rPr lang="es" sz="1800">
                <a:solidFill>
                  <a:schemeClr val="dk2"/>
                </a:solidFill>
              </a:rPr>
              <a:t>relación</a:t>
            </a:r>
            <a:r>
              <a:rPr lang="es" sz="1800">
                <a:solidFill>
                  <a:schemeClr val="dk2"/>
                </a:solidFill>
              </a:rPr>
              <a:t> de </a:t>
            </a:r>
            <a:r>
              <a:rPr lang="es" sz="1800">
                <a:solidFill>
                  <a:schemeClr val="dk2"/>
                </a:solidFill>
              </a:rPr>
              <a:t>números</a:t>
            </a:r>
            <a:r>
              <a:rPr lang="es" sz="1800">
                <a:solidFill>
                  <a:schemeClr val="dk2"/>
                </a:solidFill>
              </a:rPr>
              <a:t> arábigos de cada uno de los problemas que el paciente presenta o ha presentado que NO se llevan un orden de importancia aparente.</a:t>
            </a:r>
            <a:endParaRPr sz="1800">
              <a:solidFill>
                <a:schemeClr val="dk2"/>
              </a:solidFill>
            </a:endParaRPr>
          </a:p>
          <a:p>
            <a:pPr indent="0" lvl="0" marL="0" rtl="0" algn="l">
              <a:spcBef>
                <a:spcPts val="0"/>
              </a:spcBef>
              <a:spcAft>
                <a:spcPts val="0"/>
              </a:spcAft>
              <a:buNone/>
            </a:pPr>
            <a:r>
              <a:rPr lang="es" sz="1800">
                <a:solidFill>
                  <a:schemeClr val="dk2"/>
                </a:solidFill>
              </a:rPr>
              <a:t>se recomienda organizar los problemas desde la reseña hasta el EFG. </a:t>
            </a:r>
            <a:endParaRPr sz="1800">
              <a:solidFill>
                <a:schemeClr val="dk2"/>
              </a:solidFill>
            </a:endParaRPr>
          </a:p>
        </p:txBody>
      </p:sp>
      <p:graphicFrame>
        <p:nvGraphicFramePr>
          <p:cNvPr id="274" name="Google Shape;274;p35"/>
          <p:cNvGraphicFramePr/>
          <p:nvPr/>
        </p:nvGraphicFramePr>
        <p:xfrm>
          <a:off x="5279325" y="225950"/>
          <a:ext cx="3000000" cy="3000000"/>
        </p:xfrm>
        <a:graphic>
          <a:graphicData uri="http://schemas.openxmlformats.org/drawingml/2006/table">
            <a:tbl>
              <a:tblPr>
                <a:noFill/>
                <a:tableStyleId>{84BC8C95-1D40-486A-9443-D1563B821074}</a:tableStyleId>
              </a:tblPr>
              <a:tblGrid>
                <a:gridCol w="611450"/>
                <a:gridCol w="3008050"/>
              </a:tblGrid>
              <a:tr h="286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ocular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linfonodos precrurales palpables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deshidratación</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depresión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 temperatura de 37.0 °C</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hipotonía</a:t>
                      </a:r>
                      <a:r>
                        <a:rPr lang="es" sz="1000"/>
                        <a:t> ruminal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10</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CC </a:t>
                      </a:r>
                      <a:r>
                        <a:rPr lang="es" sz="1000"/>
                        <a:t>2/5</a:t>
                      </a:r>
                      <a:r>
                        <a:rPr lang="es" sz="1000"/>
                        <a:t>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vRSB, DVB, IBR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a:t>
                      </a:r>
                      <a:r>
                        <a:rPr i="1" lang="es" sz="1000"/>
                        <a:t>Pasteurella spp</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inflamación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172225" y="137775"/>
            <a:ext cx="311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Signología </a:t>
            </a:r>
            <a:endParaRPr sz="3500"/>
          </a:p>
          <a:p>
            <a:pPr indent="0" lvl="0" marL="0" rtl="0" algn="l">
              <a:spcBef>
                <a:spcPts val="0"/>
              </a:spcBef>
              <a:spcAft>
                <a:spcPts val="0"/>
              </a:spcAft>
              <a:buNone/>
            </a:pPr>
            <a:r>
              <a:t/>
            </a:r>
            <a:endParaRPr sz="3500"/>
          </a:p>
        </p:txBody>
      </p:sp>
      <p:graphicFrame>
        <p:nvGraphicFramePr>
          <p:cNvPr id="280" name="Google Shape;280;p36"/>
          <p:cNvGraphicFramePr/>
          <p:nvPr/>
        </p:nvGraphicFramePr>
        <p:xfrm>
          <a:off x="96625" y="990625"/>
          <a:ext cx="3000000" cy="3000000"/>
        </p:xfrm>
        <a:graphic>
          <a:graphicData uri="http://schemas.openxmlformats.org/drawingml/2006/table">
            <a:tbl>
              <a:tblPr>
                <a:noFill/>
                <a:tableStyleId>{84BC8C95-1D40-486A-9443-D1563B821074}</a:tableStyleId>
              </a:tblPr>
              <a:tblGrid>
                <a:gridCol w="2416550"/>
                <a:gridCol w="1765525"/>
              </a:tblGrid>
              <a:tr h="6397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inespecíficos  </a:t>
                      </a:r>
                      <a:endParaRPr>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9CB9C"/>
                    </a:solidFill>
                  </a:tcPr>
                </a:tc>
              </a:tr>
              <a:tr h="477425">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específicos 		</a:t>
                      </a:r>
                      <a:endParaRPr>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9CB9C"/>
                    </a:solidFill>
                  </a:tcPr>
                </a:tc>
              </a:tr>
              <a:tr h="6397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patognomónicos  </a:t>
                      </a:r>
                      <a:endParaRPr>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9CB9C"/>
                    </a:solidFill>
                  </a:tcPr>
                </a:tc>
              </a:tr>
              <a:tr h="6397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clave		 </a:t>
                      </a:r>
                      <a:endParaRPr>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solidFill>
                          <a:schemeClr val="dk2"/>
                        </a:solidFill>
                      </a:endParaRPr>
                    </a:p>
                  </a:txBody>
                  <a:tcPr marT="91425" marB="91425" marR="91425" marL="91425">
                    <a:solidFill>
                      <a:srgbClr val="F9CB9C"/>
                    </a:solidFill>
                  </a:tcPr>
                </a:tc>
              </a:tr>
              <a:tr h="6397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accidentales  		</a:t>
                      </a:r>
                      <a:endParaRPr>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solidFill>
                          <a:schemeClr val="dk2"/>
                        </a:solidFill>
                      </a:endParaRPr>
                    </a:p>
                  </a:txBody>
                  <a:tcPr marT="91425" marB="91425" marR="91425" marL="91425">
                    <a:solidFill>
                      <a:srgbClr val="F9CB9C"/>
                    </a:solidFill>
                  </a:tcPr>
                </a:tc>
              </a:tr>
              <a:tr h="6397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signos complementarios </a:t>
                      </a:r>
                      <a:endParaRPr>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l">
                        <a:lnSpc>
                          <a:spcPct val="115000"/>
                        </a:lnSpc>
                        <a:spcBef>
                          <a:spcPts val="0"/>
                        </a:spcBef>
                        <a:spcAft>
                          <a:spcPts val="1200"/>
                        </a:spcAft>
                        <a:buNone/>
                      </a:pPr>
                      <a:r>
                        <a:t/>
                      </a:r>
                      <a:endParaRPr sz="1000">
                        <a:solidFill>
                          <a:schemeClr val="dk2"/>
                        </a:solidFill>
                      </a:endParaRPr>
                    </a:p>
                  </a:txBody>
                  <a:tcPr marT="91425" marB="91425" marR="91425" marL="91425">
                    <a:solidFill>
                      <a:srgbClr val="F9CB9C"/>
                    </a:solidFill>
                  </a:tcPr>
                </a:tc>
              </a:tr>
            </a:tbl>
          </a:graphicData>
        </a:graphic>
      </p:graphicFrame>
      <p:sp>
        <p:nvSpPr>
          <p:cNvPr id="281" name="Google Shape;281;p36"/>
          <p:cNvSpPr txBox="1"/>
          <p:nvPr/>
        </p:nvSpPr>
        <p:spPr>
          <a:xfrm>
            <a:off x="4853225" y="251725"/>
            <a:ext cx="3428100" cy="7389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a:t>
            </a:r>
            <a:r>
              <a:rPr lang="es" sz="1800">
                <a:solidFill>
                  <a:schemeClr val="dk2"/>
                </a:solidFill>
              </a:rPr>
              <a:t>elaciona cada categoría de signo con su descripción </a:t>
            </a:r>
            <a:endParaRPr sz="1800">
              <a:solidFill>
                <a:schemeClr val="dk2"/>
              </a:solidFill>
            </a:endParaRPr>
          </a:p>
        </p:txBody>
      </p:sp>
      <p:sp>
        <p:nvSpPr>
          <p:cNvPr id="282" name="Google Shape;282;p36"/>
          <p:cNvSpPr/>
          <p:nvPr/>
        </p:nvSpPr>
        <p:spPr>
          <a:xfrm>
            <a:off x="4671763" y="1557151"/>
            <a:ext cx="1925061" cy="79526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chemeClr val="dk1"/>
              </a:buClr>
              <a:buSzPts val="1100"/>
              <a:buFont typeface="Arial"/>
              <a:buNone/>
            </a:pPr>
            <a:r>
              <a:rPr lang="es" sz="1000">
                <a:solidFill>
                  <a:schemeClr val="dk2"/>
                </a:solidFill>
                <a:latin typeface="Times New Roman"/>
                <a:ea typeface="Times New Roman"/>
                <a:cs typeface="Times New Roman"/>
                <a:sym typeface="Times New Roman"/>
              </a:rPr>
              <a:t>aquellos signos que nos indican enfermedad  sin embargo no señalan un órgano específico afectado. </a:t>
            </a:r>
            <a:endParaRPr sz="1371">
              <a:latin typeface="Times New Roman"/>
              <a:ea typeface="Times New Roman"/>
              <a:cs typeface="Times New Roman"/>
              <a:sym typeface="Times New Roman"/>
            </a:endParaRPr>
          </a:p>
        </p:txBody>
      </p:sp>
      <p:sp>
        <p:nvSpPr>
          <p:cNvPr id="283" name="Google Shape;283;p36"/>
          <p:cNvSpPr/>
          <p:nvPr/>
        </p:nvSpPr>
        <p:spPr>
          <a:xfrm>
            <a:off x="7002400" y="1667287"/>
            <a:ext cx="1925061" cy="69253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rtl="0" algn="l">
              <a:lnSpc>
                <a:spcPct val="115000"/>
              </a:lnSpc>
              <a:spcBef>
                <a:spcPts val="0"/>
              </a:spcBef>
              <a:spcAft>
                <a:spcPts val="1200"/>
              </a:spcAft>
              <a:buNone/>
            </a:pPr>
            <a:r>
              <a:rPr lang="es" sz="1000">
                <a:solidFill>
                  <a:schemeClr val="dk2"/>
                </a:solidFill>
                <a:latin typeface="Times New Roman"/>
                <a:ea typeface="Times New Roman"/>
                <a:cs typeface="Times New Roman"/>
                <a:sym typeface="Times New Roman"/>
              </a:rPr>
              <a:t>son aquellos signos que nos guían a un sistema anatómico en concreto </a:t>
            </a:r>
            <a:endParaRPr sz="1000">
              <a:solidFill>
                <a:schemeClr val="dk2"/>
              </a:solidFill>
              <a:latin typeface="Times New Roman"/>
              <a:ea typeface="Times New Roman"/>
              <a:cs typeface="Times New Roman"/>
              <a:sym typeface="Times New Roman"/>
            </a:endParaRPr>
          </a:p>
        </p:txBody>
      </p:sp>
      <p:sp>
        <p:nvSpPr>
          <p:cNvPr id="284" name="Google Shape;284;p36"/>
          <p:cNvSpPr/>
          <p:nvPr/>
        </p:nvSpPr>
        <p:spPr>
          <a:xfrm>
            <a:off x="7002400"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None/>
            </a:pPr>
            <a:r>
              <a:rPr lang="es" sz="1000">
                <a:solidFill>
                  <a:schemeClr val="dk2"/>
                </a:solidFill>
                <a:latin typeface="Times New Roman"/>
                <a:ea typeface="Times New Roman"/>
                <a:cs typeface="Times New Roman"/>
                <a:sym typeface="Times New Roman"/>
              </a:rPr>
              <a:t>aquellos signos exclusivos de una sola enfermedad y confirman el diagnóstico por sí mismos </a:t>
            </a:r>
            <a:endParaRPr sz="1000">
              <a:solidFill>
                <a:schemeClr val="dk2"/>
              </a:solidFill>
              <a:latin typeface="Times New Roman"/>
              <a:ea typeface="Times New Roman"/>
              <a:cs typeface="Times New Roman"/>
              <a:sym typeface="Times New Roman"/>
            </a:endParaRPr>
          </a:p>
        </p:txBody>
      </p:sp>
      <p:sp>
        <p:nvSpPr>
          <p:cNvPr id="285" name="Google Shape;285;p36"/>
          <p:cNvSpPr/>
          <p:nvPr/>
        </p:nvSpPr>
        <p:spPr>
          <a:xfrm>
            <a:off x="4671775"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chemeClr val="dk1"/>
              </a:buClr>
              <a:buSzPts val="1100"/>
              <a:buFont typeface="Arial"/>
              <a:buNone/>
            </a:pPr>
            <a:r>
              <a:rPr lang="es" sz="1000">
                <a:solidFill>
                  <a:schemeClr val="dk2"/>
                </a:solidFill>
                <a:latin typeface="Times New Roman"/>
                <a:ea typeface="Times New Roman"/>
                <a:cs typeface="Times New Roman"/>
                <a:sym typeface="Times New Roman"/>
              </a:rPr>
              <a:t>son aquellos hallazgos que dominan el caso y brindan un fuerte valor diagnóstico</a:t>
            </a:r>
            <a:endParaRPr sz="1000">
              <a:solidFill>
                <a:schemeClr val="dk2"/>
              </a:solidFill>
              <a:latin typeface="Times New Roman"/>
              <a:ea typeface="Times New Roman"/>
              <a:cs typeface="Times New Roman"/>
              <a:sym typeface="Times New Roman"/>
            </a:endParaRPr>
          </a:p>
        </p:txBody>
      </p:sp>
      <p:sp>
        <p:nvSpPr>
          <p:cNvPr id="286" name="Google Shape;286;p36"/>
          <p:cNvSpPr/>
          <p:nvPr/>
        </p:nvSpPr>
        <p:spPr>
          <a:xfrm>
            <a:off x="7002400" y="24848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chemeClr val="dk1"/>
              </a:buClr>
              <a:buSzPts val="1100"/>
              <a:buFont typeface="Arial"/>
              <a:buNone/>
            </a:pPr>
            <a:r>
              <a:rPr lang="es" sz="1000">
                <a:solidFill>
                  <a:schemeClr val="dk2"/>
                </a:solidFill>
                <a:latin typeface="Times New Roman"/>
                <a:ea typeface="Times New Roman"/>
                <a:cs typeface="Times New Roman"/>
                <a:sym typeface="Times New Roman"/>
              </a:rPr>
              <a:t>aquellos encontrados durante la exploración y que no tienen una relación directa con el problema actual del paciente </a:t>
            </a:r>
            <a:endParaRPr sz="1000">
              <a:solidFill>
                <a:schemeClr val="dk2"/>
              </a:solidFill>
              <a:latin typeface="Times New Roman"/>
              <a:ea typeface="Times New Roman"/>
              <a:cs typeface="Times New Roman"/>
              <a:sym typeface="Times New Roman"/>
            </a:endParaRPr>
          </a:p>
        </p:txBody>
      </p:sp>
      <p:sp>
        <p:nvSpPr>
          <p:cNvPr id="287" name="Google Shape;287;p36"/>
          <p:cNvSpPr/>
          <p:nvPr/>
        </p:nvSpPr>
        <p:spPr>
          <a:xfrm>
            <a:off x="4671763" y="24811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chemeClr val="dk1"/>
              </a:buClr>
              <a:buSzPts val="1100"/>
              <a:buFont typeface="Arial"/>
              <a:buNone/>
            </a:pPr>
            <a:r>
              <a:rPr lang="es" sz="1000">
                <a:solidFill>
                  <a:schemeClr val="dk2"/>
                </a:solidFill>
                <a:latin typeface="Times New Roman"/>
                <a:ea typeface="Times New Roman"/>
                <a:cs typeface="Times New Roman"/>
                <a:sym typeface="Times New Roman"/>
              </a:rPr>
              <a:t>son aquellos que aparecen con el progreso de la enfermedad o se obtienen realizando pruebas complementarias </a:t>
            </a:r>
            <a:endParaRPr sz="1000">
              <a:solidFill>
                <a:schemeClr val="dk2"/>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247825" y="62175"/>
            <a:ext cx="311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Signología </a:t>
            </a:r>
            <a:endParaRPr sz="3500"/>
          </a:p>
          <a:p>
            <a:pPr indent="0" lvl="0" marL="0" rtl="0" algn="l">
              <a:spcBef>
                <a:spcPts val="0"/>
              </a:spcBef>
              <a:spcAft>
                <a:spcPts val="0"/>
              </a:spcAft>
              <a:buNone/>
            </a:pPr>
            <a:r>
              <a:t/>
            </a:r>
            <a:endParaRPr sz="3500"/>
          </a:p>
        </p:txBody>
      </p:sp>
      <p:graphicFrame>
        <p:nvGraphicFramePr>
          <p:cNvPr id="293" name="Google Shape;293;p37"/>
          <p:cNvGraphicFramePr/>
          <p:nvPr/>
        </p:nvGraphicFramePr>
        <p:xfrm>
          <a:off x="247825" y="778975"/>
          <a:ext cx="3000000" cy="3000000"/>
        </p:xfrm>
        <a:graphic>
          <a:graphicData uri="http://schemas.openxmlformats.org/drawingml/2006/table">
            <a:tbl>
              <a:tblPr>
                <a:noFill/>
                <a:tableStyleId>{84BC8C95-1D40-486A-9443-D1563B821074}</a:tableStyleId>
              </a:tblPr>
              <a:tblGrid>
                <a:gridCol w="1271050"/>
                <a:gridCol w="3974425"/>
              </a:tblGrid>
              <a:tr h="639700">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inespecíficos  </a:t>
                      </a:r>
                      <a:endParaRPr sz="1200">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aquellos signos que nos indican enfermedad  sin embargo no señalan un órgano específico afectado. </a:t>
                      </a:r>
                      <a:endParaRPr sz="1200">
                        <a:latin typeface="Times New Roman"/>
                        <a:ea typeface="Times New Roman"/>
                        <a:cs typeface="Times New Roman"/>
                        <a:sym typeface="Times New Roman"/>
                      </a:endParaRPr>
                    </a:p>
                  </a:txBody>
                  <a:tcPr marT="91425" marB="91425" marR="91425" marL="91425">
                    <a:solidFill>
                      <a:srgbClr val="F9CB9C"/>
                    </a:solidFill>
                  </a:tcPr>
                </a:tc>
              </a:tr>
              <a:tr h="477425">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específicos 		</a:t>
                      </a:r>
                      <a:endParaRPr sz="1200">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 son aquellos signos que nos guían a un sistema anatómico en concreto </a:t>
                      </a:r>
                      <a:endParaRPr sz="1200">
                        <a:latin typeface="Times New Roman"/>
                        <a:ea typeface="Times New Roman"/>
                        <a:cs typeface="Times New Roman"/>
                        <a:sym typeface="Times New Roman"/>
                      </a:endParaRPr>
                    </a:p>
                  </a:txBody>
                  <a:tcPr marT="91425" marB="91425" marR="91425" marL="91425">
                    <a:solidFill>
                      <a:srgbClr val="F9CB9C"/>
                    </a:solidFill>
                  </a:tcPr>
                </a:tc>
              </a:tr>
              <a:tr h="639700">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patognomónicos  </a:t>
                      </a:r>
                      <a:endParaRPr sz="1200">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aquellos signos exclusivos de una sola enfermedad y confirman el </a:t>
                      </a:r>
                      <a:r>
                        <a:rPr lang="es" sz="1200">
                          <a:solidFill>
                            <a:schemeClr val="dk2"/>
                          </a:solidFill>
                          <a:latin typeface="Times New Roman"/>
                          <a:ea typeface="Times New Roman"/>
                          <a:cs typeface="Times New Roman"/>
                          <a:sym typeface="Times New Roman"/>
                        </a:rPr>
                        <a:t>diagnóstico</a:t>
                      </a:r>
                      <a:r>
                        <a:rPr lang="es" sz="1200">
                          <a:solidFill>
                            <a:schemeClr val="dk2"/>
                          </a:solidFill>
                          <a:latin typeface="Times New Roman"/>
                          <a:ea typeface="Times New Roman"/>
                          <a:cs typeface="Times New Roman"/>
                          <a:sym typeface="Times New Roman"/>
                        </a:rPr>
                        <a:t> por </a:t>
                      </a:r>
                      <a:r>
                        <a:rPr lang="es" sz="1200">
                          <a:solidFill>
                            <a:schemeClr val="dk2"/>
                          </a:solidFill>
                          <a:latin typeface="Times New Roman"/>
                          <a:ea typeface="Times New Roman"/>
                          <a:cs typeface="Times New Roman"/>
                          <a:sym typeface="Times New Roman"/>
                        </a:rPr>
                        <a:t>sí</a:t>
                      </a:r>
                      <a:r>
                        <a:rPr lang="es" sz="1200">
                          <a:solidFill>
                            <a:schemeClr val="dk2"/>
                          </a:solidFill>
                          <a:latin typeface="Times New Roman"/>
                          <a:ea typeface="Times New Roman"/>
                          <a:cs typeface="Times New Roman"/>
                          <a:sym typeface="Times New Roman"/>
                        </a:rPr>
                        <a:t> mismos </a:t>
                      </a:r>
                      <a:endParaRPr sz="1200">
                        <a:latin typeface="Times New Roman"/>
                        <a:ea typeface="Times New Roman"/>
                        <a:cs typeface="Times New Roman"/>
                        <a:sym typeface="Times New Roman"/>
                      </a:endParaRPr>
                    </a:p>
                  </a:txBody>
                  <a:tcPr marT="91425" marB="91425" marR="91425" marL="91425">
                    <a:solidFill>
                      <a:srgbClr val="F9CB9C"/>
                    </a:solidFill>
                  </a:tcPr>
                </a:tc>
              </a:tr>
              <a:tr h="639700">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clave		 </a:t>
                      </a:r>
                      <a:endParaRPr sz="1200">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son aquellos hallazgos que dominan el caso y brindan un fuerte valor diagnóstico</a:t>
                      </a:r>
                      <a:endParaRPr sz="1200">
                        <a:solidFill>
                          <a:schemeClr val="dk2"/>
                        </a:solidFill>
                        <a:latin typeface="Times New Roman"/>
                        <a:ea typeface="Times New Roman"/>
                        <a:cs typeface="Times New Roman"/>
                        <a:sym typeface="Times New Roman"/>
                      </a:endParaRPr>
                    </a:p>
                  </a:txBody>
                  <a:tcPr marT="91425" marB="91425" marR="91425" marL="91425">
                    <a:solidFill>
                      <a:srgbClr val="F9CB9C"/>
                    </a:solidFill>
                  </a:tcPr>
                </a:tc>
              </a:tr>
              <a:tr h="639700">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accidentales  		</a:t>
                      </a:r>
                      <a:endParaRPr sz="1200">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aquellos encontrados durante la exploración y que no tienen una relación directa con el problema actual del paciente </a:t>
                      </a:r>
                      <a:endParaRPr sz="1200">
                        <a:solidFill>
                          <a:schemeClr val="dk2"/>
                        </a:solidFill>
                        <a:latin typeface="Times New Roman"/>
                        <a:ea typeface="Times New Roman"/>
                        <a:cs typeface="Times New Roman"/>
                        <a:sym typeface="Times New Roman"/>
                      </a:endParaRPr>
                    </a:p>
                  </a:txBody>
                  <a:tcPr marT="91425" marB="91425" marR="91425" marL="91425">
                    <a:solidFill>
                      <a:srgbClr val="F9CB9C"/>
                    </a:solidFill>
                  </a:tcPr>
                </a:tc>
              </a:tr>
              <a:tr h="639700">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signos complementarios </a:t>
                      </a:r>
                      <a:endParaRPr sz="1200">
                        <a:solidFill>
                          <a:schemeClr val="dk2"/>
                        </a:solidFill>
                        <a:latin typeface="Times New Roman"/>
                        <a:ea typeface="Times New Roman"/>
                        <a:cs typeface="Times New Roman"/>
                        <a:sym typeface="Times New Roman"/>
                      </a:endParaRPr>
                    </a:p>
                  </a:txBody>
                  <a:tcPr marT="91425" marB="91425" marR="91425" marL="91425">
                    <a:solidFill>
                      <a:srgbClr val="F6B26B"/>
                    </a:solidFill>
                  </a:tcPr>
                </a:tc>
                <a:tc>
                  <a:txBody>
                    <a:bodyPr/>
                    <a:lstStyle/>
                    <a:p>
                      <a:pPr indent="0" lvl="0" marL="0" rtl="0" algn="just">
                        <a:lnSpc>
                          <a:spcPct val="115000"/>
                        </a:lnSpc>
                        <a:spcBef>
                          <a:spcPts val="0"/>
                        </a:spcBef>
                        <a:spcAft>
                          <a:spcPts val="1200"/>
                        </a:spcAft>
                        <a:buNone/>
                      </a:pPr>
                      <a:r>
                        <a:rPr lang="es" sz="1200">
                          <a:solidFill>
                            <a:schemeClr val="dk2"/>
                          </a:solidFill>
                          <a:latin typeface="Times New Roman"/>
                          <a:ea typeface="Times New Roman"/>
                          <a:cs typeface="Times New Roman"/>
                          <a:sym typeface="Times New Roman"/>
                        </a:rPr>
                        <a:t>son aquellos que aparecen con el progreso de la enfermedad o se obtienen realizando pruebas complementarias </a:t>
                      </a:r>
                      <a:endParaRPr sz="1200">
                        <a:solidFill>
                          <a:schemeClr val="dk2"/>
                        </a:solidFill>
                        <a:latin typeface="Times New Roman"/>
                        <a:ea typeface="Times New Roman"/>
                        <a:cs typeface="Times New Roman"/>
                        <a:sym typeface="Times New Roman"/>
                      </a:endParaRPr>
                    </a:p>
                  </a:txBody>
                  <a:tcPr marT="91425" marB="91425" marR="91425" marL="91425">
                    <a:solidFill>
                      <a:srgbClr val="F9CB9C"/>
                    </a:solidFill>
                  </a:tcPr>
                </a:tc>
              </a:tr>
            </a:tbl>
          </a:graphicData>
        </a:graphic>
      </p:graphicFrame>
      <p:sp>
        <p:nvSpPr>
          <p:cNvPr id="294" name="Google Shape;294;p37"/>
          <p:cNvSpPr txBox="1"/>
          <p:nvPr/>
        </p:nvSpPr>
        <p:spPr>
          <a:xfrm>
            <a:off x="6758025" y="439550"/>
            <a:ext cx="2413800" cy="10158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relaciona cada </a:t>
            </a:r>
            <a:r>
              <a:rPr lang="es" sz="1800">
                <a:solidFill>
                  <a:schemeClr val="dk2"/>
                </a:solidFill>
              </a:rPr>
              <a:t>categoría</a:t>
            </a:r>
            <a:r>
              <a:rPr lang="es" sz="1800">
                <a:solidFill>
                  <a:schemeClr val="dk2"/>
                </a:solidFill>
              </a:rPr>
              <a:t> de signo con su </a:t>
            </a:r>
            <a:r>
              <a:rPr lang="es" sz="1800">
                <a:solidFill>
                  <a:schemeClr val="dk2"/>
                </a:solidFill>
              </a:rPr>
              <a:t>descripción</a:t>
            </a:r>
            <a:r>
              <a:rPr lang="es" sz="1800">
                <a:solidFill>
                  <a:schemeClr val="dk2"/>
                </a:solidFill>
              </a:rPr>
              <a:t> </a:t>
            </a:r>
            <a:endParaRPr sz="1800">
              <a:solidFill>
                <a:schemeClr val="dk2"/>
              </a:solidFill>
            </a:endParaRPr>
          </a:p>
        </p:txBody>
      </p:sp>
      <p:sp>
        <p:nvSpPr>
          <p:cNvPr id="295" name="Google Shape;295;p37"/>
          <p:cNvSpPr txBox="1"/>
          <p:nvPr/>
        </p:nvSpPr>
        <p:spPr>
          <a:xfrm>
            <a:off x="5683300" y="1689300"/>
            <a:ext cx="32052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¡Excelente! lograste identificar correctamente las </a:t>
            </a:r>
            <a:r>
              <a:rPr lang="es">
                <a:solidFill>
                  <a:schemeClr val="dk2"/>
                </a:solidFill>
                <a:latin typeface="Times New Roman"/>
                <a:ea typeface="Times New Roman"/>
                <a:cs typeface="Times New Roman"/>
                <a:sym typeface="Times New Roman"/>
              </a:rPr>
              <a:t>características</a:t>
            </a:r>
            <a:r>
              <a:rPr lang="es">
                <a:solidFill>
                  <a:schemeClr val="dk2"/>
                </a:solidFill>
                <a:latin typeface="Times New Roman"/>
                <a:ea typeface="Times New Roman"/>
                <a:cs typeface="Times New Roman"/>
                <a:sym typeface="Times New Roman"/>
              </a:rPr>
              <a:t> de cada </a:t>
            </a:r>
            <a:r>
              <a:rPr lang="es">
                <a:solidFill>
                  <a:schemeClr val="dk2"/>
                </a:solidFill>
                <a:latin typeface="Times New Roman"/>
                <a:ea typeface="Times New Roman"/>
                <a:cs typeface="Times New Roman"/>
                <a:sym typeface="Times New Roman"/>
              </a:rPr>
              <a:t>categoría</a:t>
            </a:r>
            <a:r>
              <a:rPr lang="es">
                <a:solidFill>
                  <a:schemeClr val="dk2"/>
                </a:solidFill>
                <a:latin typeface="Times New Roman"/>
                <a:ea typeface="Times New Roman"/>
                <a:cs typeface="Times New Roman"/>
                <a:sym typeface="Times New Roman"/>
              </a:rPr>
              <a:t> en la clasificación de signos. ahora vamos a ubicar los hallazgos del caso en cada categoría. </a:t>
            </a:r>
            <a:endParaRPr>
              <a:solidFill>
                <a:schemeClr val="dk2"/>
              </a:solidFill>
              <a:latin typeface="Times New Roman"/>
              <a:ea typeface="Times New Roman"/>
              <a:cs typeface="Times New Roman"/>
              <a:sym typeface="Times New Roman"/>
            </a:endParaRPr>
          </a:p>
        </p:txBody>
      </p:sp>
      <p:sp>
        <p:nvSpPr>
          <p:cNvPr id="296" name="Google Shape;296;p37"/>
          <p:cNvSpPr txBox="1"/>
          <p:nvPr/>
        </p:nvSpPr>
        <p:spPr>
          <a:xfrm>
            <a:off x="5683300" y="3327400"/>
            <a:ext cx="34884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incorrecta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Lee detenidamente cada definición. la clasificación de los signos es fundamental para el diagnóstico clínico.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143300" y="138250"/>
            <a:ext cx="5654700" cy="5727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0"/>
              </a:spcAft>
              <a:buNone/>
            </a:pPr>
            <a:r>
              <a:rPr lang="es" sz="1800">
                <a:latin typeface="Times New Roman"/>
                <a:ea typeface="Times New Roman"/>
                <a:cs typeface="Times New Roman"/>
                <a:sym typeface="Times New Roman"/>
              </a:rPr>
              <a:t>clasifica las manifestaciones </a:t>
            </a:r>
            <a:r>
              <a:rPr lang="es" sz="1800">
                <a:latin typeface="Times New Roman"/>
                <a:ea typeface="Times New Roman"/>
                <a:cs typeface="Times New Roman"/>
                <a:sym typeface="Times New Roman"/>
              </a:rPr>
              <a:t>clínicas</a:t>
            </a:r>
            <a:r>
              <a:rPr lang="es" sz="1800">
                <a:latin typeface="Times New Roman"/>
                <a:ea typeface="Times New Roman"/>
                <a:cs typeface="Times New Roman"/>
                <a:sym typeface="Times New Roman"/>
              </a:rPr>
              <a:t> del paciente: </a:t>
            </a:r>
            <a:endParaRPr sz="1800">
              <a:latin typeface="Times New Roman"/>
              <a:ea typeface="Times New Roman"/>
              <a:cs typeface="Times New Roman"/>
              <a:sym typeface="Times New Roman"/>
            </a:endParaRPr>
          </a:p>
        </p:txBody>
      </p:sp>
      <p:sp>
        <p:nvSpPr>
          <p:cNvPr id="302" name="Google Shape;302;p38"/>
          <p:cNvSpPr/>
          <p:nvPr/>
        </p:nvSpPr>
        <p:spPr>
          <a:xfrm>
            <a:off x="124401" y="45134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ocular </a:t>
            </a:r>
            <a:endParaRPr sz="1000"/>
          </a:p>
        </p:txBody>
      </p:sp>
      <p:sp>
        <p:nvSpPr>
          <p:cNvPr id="303" name="Google Shape;303;p38"/>
          <p:cNvSpPr/>
          <p:nvPr/>
        </p:nvSpPr>
        <p:spPr>
          <a:xfrm>
            <a:off x="124401" y="40630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secreción nasal </a:t>
            </a:r>
            <a:endParaRPr sz="1000"/>
          </a:p>
        </p:txBody>
      </p:sp>
      <p:sp>
        <p:nvSpPr>
          <p:cNvPr id="304" name="Google Shape;304;p38"/>
          <p:cNvSpPr/>
          <p:nvPr/>
        </p:nvSpPr>
        <p:spPr>
          <a:xfrm>
            <a:off x="1756676" y="4063021"/>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5. deshidratación</a:t>
            </a:r>
            <a:endParaRPr sz="1000"/>
          </a:p>
        </p:txBody>
      </p:sp>
      <p:sp>
        <p:nvSpPr>
          <p:cNvPr id="305" name="Google Shape;305;p38"/>
          <p:cNvSpPr/>
          <p:nvPr/>
        </p:nvSpPr>
        <p:spPr>
          <a:xfrm>
            <a:off x="1756676" y="45456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depresión </a:t>
            </a:r>
            <a:endParaRPr sz="1000"/>
          </a:p>
        </p:txBody>
      </p:sp>
      <p:sp>
        <p:nvSpPr>
          <p:cNvPr id="306" name="Google Shape;306;p38"/>
          <p:cNvSpPr/>
          <p:nvPr/>
        </p:nvSpPr>
        <p:spPr>
          <a:xfrm>
            <a:off x="3297464" y="363844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mucosas pálidas </a:t>
            </a:r>
            <a:endParaRPr sz="1000"/>
          </a:p>
        </p:txBody>
      </p:sp>
      <p:sp>
        <p:nvSpPr>
          <p:cNvPr id="307" name="Google Shape;307;p38"/>
          <p:cNvSpPr/>
          <p:nvPr/>
        </p:nvSpPr>
        <p:spPr>
          <a:xfrm>
            <a:off x="3297464" y="4059257"/>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8. temperatura de 37.0 °C</a:t>
            </a:r>
            <a:endParaRPr sz="1000"/>
          </a:p>
        </p:txBody>
      </p:sp>
      <p:sp>
        <p:nvSpPr>
          <p:cNvPr id="308" name="Google Shape;308;p38"/>
          <p:cNvSpPr/>
          <p:nvPr/>
        </p:nvSpPr>
        <p:spPr>
          <a:xfrm>
            <a:off x="3297464" y="45783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a:t>
            </a:r>
            <a:r>
              <a:rPr lang="es" sz="1000">
                <a:solidFill>
                  <a:srgbClr val="000000"/>
                </a:solidFill>
                <a:latin typeface="Calibri"/>
                <a:ea typeface="Calibri"/>
                <a:cs typeface="Calibri"/>
                <a:sym typeface="Calibri"/>
              </a:rPr>
              <a:t>. </a:t>
            </a:r>
            <a:r>
              <a:rPr lang="es" sz="1000">
                <a:latin typeface="Calibri"/>
                <a:ea typeface="Calibri"/>
                <a:cs typeface="Calibri"/>
                <a:sym typeface="Calibri"/>
              </a:rPr>
              <a:t>hipotonía ruminal </a:t>
            </a:r>
            <a:endParaRPr sz="1000"/>
          </a:p>
        </p:txBody>
      </p:sp>
      <p:sp>
        <p:nvSpPr>
          <p:cNvPr id="309" name="Google Shape;309;p38"/>
          <p:cNvSpPr/>
          <p:nvPr/>
        </p:nvSpPr>
        <p:spPr>
          <a:xfrm>
            <a:off x="4838251" y="36056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10. tos </a:t>
            </a:r>
            <a:endParaRPr sz="1000"/>
          </a:p>
        </p:txBody>
      </p:sp>
      <p:sp>
        <p:nvSpPr>
          <p:cNvPr id="310" name="Google Shape;310;p38"/>
          <p:cNvSpPr/>
          <p:nvPr/>
        </p:nvSpPr>
        <p:spPr>
          <a:xfrm>
            <a:off x="4838251" y="40957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11. pelo hirsuto </a:t>
            </a:r>
            <a:endParaRPr sz="1000"/>
          </a:p>
        </p:txBody>
      </p:sp>
      <p:sp>
        <p:nvSpPr>
          <p:cNvPr id="311" name="Google Shape;311;p38"/>
          <p:cNvSpPr/>
          <p:nvPr/>
        </p:nvSpPr>
        <p:spPr>
          <a:xfrm>
            <a:off x="4838251" y="45456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12. CC  2/5 </a:t>
            </a:r>
            <a:endParaRPr sz="1000"/>
          </a:p>
        </p:txBody>
      </p:sp>
      <p:sp>
        <p:nvSpPr>
          <p:cNvPr id="312" name="Google Shape;312;p38"/>
          <p:cNvSpPr/>
          <p:nvPr/>
        </p:nvSpPr>
        <p:spPr>
          <a:xfrm>
            <a:off x="1756676" y="3580421"/>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linfonodos palpables </a:t>
            </a:r>
            <a:endParaRPr sz="1000"/>
          </a:p>
        </p:txBody>
      </p:sp>
      <p:sp>
        <p:nvSpPr>
          <p:cNvPr id="313" name="Google Shape;313;p38"/>
          <p:cNvSpPr/>
          <p:nvPr/>
        </p:nvSpPr>
        <p:spPr>
          <a:xfrm>
            <a:off x="124401" y="35086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292100" lvl="0" marL="457200" marR="0" rtl="0" algn="l">
              <a:lnSpc>
                <a:spcPct val="90000"/>
              </a:lnSpc>
              <a:spcBef>
                <a:spcPts val="0"/>
              </a:spcBef>
              <a:spcAft>
                <a:spcPts val="0"/>
              </a:spcAft>
              <a:buSzPts val="1000"/>
              <a:buAutoNum type="arabicPeriod"/>
            </a:pPr>
            <a:r>
              <a:rPr lang="es" sz="1000">
                <a:latin typeface="Calibri"/>
                <a:ea typeface="Calibri"/>
                <a:cs typeface="Calibri"/>
                <a:sym typeface="Calibri"/>
              </a:rPr>
              <a:t>diarrea </a:t>
            </a:r>
            <a:endParaRPr sz="1000"/>
          </a:p>
        </p:txBody>
      </p:sp>
      <p:sp>
        <p:nvSpPr>
          <p:cNvPr id="314" name="Google Shape;314;p38"/>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3"/>
          </a:p>
        </p:txBody>
      </p:sp>
      <p:sp>
        <p:nvSpPr>
          <p:cNvPr id="315" name="Google Shape;315;p38"/>
          <p:cNvSpPr/>
          <p:nvPr/>
        </p:nvSpPr>
        <p:spPr>
          <a:xfrm rot="-5400000">
            <a:off x="1827647" y="3516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6" name="Google Shape;316;p38"/>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3"/>
          </a:p>
        </p:txBody>
      </p:sp>
      <p:sp>
        <p:nvSpPr>
          <p:cNvPr id="317" name="Google Shape;317;p38"/>
          <p:cNvSpPr/>
          <p:nvPr/>
        </p:nvSpPr>
        <p:spPr>
          <a:xfrm rot="-5400000">
            <a:off x="5166597" y="351637"/>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8" name="Google Shape;318;p38"/>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3"/>
          </a:p>
        </p:txBody>
      </p:sp>
      <p:sp>
        <p:nvSpPr>
          <p:cNvPr id="319" name="Google Shape;319;p38"/>
          <p:cNvSpPr/>
          <p:nvPr/>
        </p:nvSpPr>
        <p:spPr>
          <a:xfrm rot="-5400000">
            <a:off x="1827647" y="16262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20" name="Google Shape;320;p38"/>
          <p:cNvSpPr/>
          <p:nvPr/>
        </p:nvSpPr>
        <p:spPr>
          <a:xfrm>
            <a:off x="3532625" y="2543504"/>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a:t>
            </a:r>
            <a:r>
              <a:rPr lang="es" sz="1158">
                <a:latin typeface="Calibri"/>
                <a:ea typeface="Calibri"/>
                <a:cs typeface="Calibri"/>
                <a:sym typeface="Calibri"/>
              </a:rPr>
              <a:t> complementarios</a:t>
            </a:r>
            <a:endParaRPr sz="1013"/>
          </a:p>
        </p:txBody>
      </p:sp>
      <p:sp>
        <p:nvSpPr>
          <p:cNvPr id="321" name="Google Shape;321;p38"/>
          <p:cNvSpPr/>
          <p:nvPr/>
        </p:nvSpPr>
        <p:spPr>
          <a:xfrm rot="-5400000">
            <a:off x="5166597" y="16262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22" name="Google Shape;322;p38"/>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3"/>
          </a:p>
        </p:txBody>
      </p:sp>
      <p:sp>
        <p:nvSpPr>
          <p:cNvPr id="323" name="Google Shape;323;p38"/>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24" name="Google Shape;324;p38"/>
          <p:cNvSpPr/>
          <p:nvPr/>
        </p:nvSpPr>
        <p:spPr>
          <a:xfrm>
            <a:off x="6379051" y="37530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13. DVB, IBR, vRSB</a:t>
            </a:r>
            <a:r>
              <a:rPr lang="es" sz="1000">
                <a:latin typeface="Calibri"/>
                <a:ea typeface="Calibri"/>
                <a:cs typeface="Calibri"/>
                <a:sym typeface="Calibri"/>
              </a:rPr>
              <a:t> </a:t>
            </a:r>
            <a:endParaRPr sz="1000"/>
          </a:p>
        </p:txBody>
      </p:sp>
      <p:sp>
        <p:nvSpPr>
          <p:cNvPr id="325" name="Google Shape;325;p38"/>
          <p:cNvSpPr/>
          <p:nvPr/>
        </p:nvSpPr>
        <p:spPr>
          <a:xfrm>
            <a:off x="6379051" y="42431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14. Pasteurella</a:t>
            </a:r>
            <a:endParaRPr sz="1000"/>
          </a:p>
        </p:txBody>
      </p:sp>
      <p:sp>
        <p:nvSpPr>
          <p:cNvPr id="326" name="Google Shape;326;p38"/>
          <p:cNvSpPr/>
          <p:nvPr/>
        </p:nvSpPr>
        <p:spPr>
          <a:xfrm>
            <a:off x="6379051" y="46930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15. inflamación crónica</a:t>
            </a:r>
            <a:endParaRPr sz="1000"/>
          </a:p>
        </p:txBody>
      </p:sp>
      <p:sp>
        <p:nvSpPr>
          <p:cNvPr id="327" name="Google Shape;327;p38"/>
          <p:cNvSpPr txBox="1"/>
          <p:nvPr>
            <p:ph type="title"/>
          </p:nvPr>
        </p:nvSpPr>
        <p:spPr>
          <a:xfrm>
            <a:off x="247825" y="62175"/>
            <a:ext cx="311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Signología </a:t>
            </a:r>
            <a:endParaRPr sz="3500"/>
          </a:p>
          <a:p>
            <a:pPr indent="0" lvl="0" marL="0" rtl="0" algn="l">
              <a:spcBef>
                <a:spcPts val="0"/>
              </a:spcBef>
              <a:spcAft>
                <a:spcPts val="0"/>
              </a:spcAft>
              <a:buNone/>
            </a:pPr>
            <a:r>
              <a:t/>
            </a:r>
            <a:endParaRPr sz="3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p:nvPr/>
        </p:nvSpPr>
        <p:spPr>
          <a:xfrm>
            <a:off x="2437775" y="2761767"/>
            <a:ext cx="1043844"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ocular </a:t>
            </a:r>
            <a:endParaRPr sz="1000"/>
          </a:p>
        </p:txBody>
      </p:sp>
      <p:sp>
        <p:nvSpPr>
          <p:cNvPr id="333" name="Google Shape;333;p39"/>
          <p:cNvSpPr/>
          <p:nvPr/>
        </p:nvSpPr>
        <p:spPr>
          <a:xfrm>
            <a:off x="1422988" y="1029950"/>
            <a:ext cx="1043844"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secreción nasal </a:t>
            </a:r>
            <a:endParaRPr sz="1000"/>
          </a:p>
        </p:txBody>
      </p:sp>
      <p:sp>
        <p:nvSpPr>
          <p:cNvPr id="334" name="Google Shape;334;p39"/>
          <p:cNvSpPr/>
          <p:nvPr/>
        </p:nvSpPr>
        <p:spPr>
          <a:xfrm>
            <a:off x="4646150" y="1492650"/>
            <a:ext cx="1115703"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depresión </a:t>
            </a:r>
            <a:endParaRPr sz="1000"/>
          </a:p>
        </p:txBody>
      </p:sp>
      <p:sp>
        <p:nvSpPr>
          <p:cNvPr id="335" name="Google Shape;335;p39"/>
          <p:cNvSpPr/>
          <p:nvPr/>
        </p:nvSpPr>
        <p:spPr>
          <a:xfrm>
            <a:off x="5761850" y="1026800"/>
            <a:ext cx="1043844"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mucosas pálidas </a:t>
            </a:r>
            <a:endParaRPr sz="1000"/>
          </a:p>
        </p:txBody>
      </p:sp>
      <p:sp>
        <p:nvSpPr>
          <p:cNvPr id="336" name="Google Shape;336;p39"/>
          <p:cNvSpPr/>
          <p:nvPr/>
        </p:nvSpPr>
        <p:spPr>
          <a:xfrm>
            <a:off x="5712925" y="1492650"/>
            <a:ext cx="1115703"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8. temperatura de 37.0 °C</a:t>
            </a:r>
            <a:endParaRPr sz="1000"/>
          </a:p>
        </p:txBody>
      </p:sp>
      <p:sp>
        <p:nvSpPr>
          <p:cNvPr id="337" name="Google Shape;337;p39"/>
          <p:cNvSpPr/>
          <p:nvPr/>
        </p:nvSpPr>
        <p:spPr>
          <a:xfrm>
            <a:off x="5004050" y="632788"/>
            <a:ext cx="116487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a:t>
            </a:r>
            <a:r>
              <a:rPr lang="es" sz="1000">
                <a:solidFill>
                  <a:srgbClr val="000000"/>
                </a:solidFill>
                <a:latin typeface="Calibri"/>
                <a:ea typeface="Calibri"/>
                <a:cs typeface="Calibri"/>
                <a:sym typeface="Calibri"/>
              </a:rPr>
              <a:t>. </a:t>
            </a:r>
            <a:r>
              <a:rPr lang="es" sz="1000">
                <a:latin typeface="Calibri"/>
                <a:ea typeface="Calibri"/>
                <a:cs typeface="Calibri"/>
                <a:sym typeface="Calibri"/>
              </a:rPr>
              <a:t>hipotonía ruminal </a:t>
            </a:r>
            <a:endParaRPr sz="1000"/>
          </a:p>
        </p:txBody>
      </p:sp>
      <p:sp>
        <p:nvSpPr>
          <p:cNvPr id="338" name="Google Shape;338;p39"/>
          <p:cNvSpPr/>
          <p:nvPr/>
        </p:nvSpPr>
        <p:spPr>
          <a:xfrm>
            <a:off x="1279125" y="3189075"/>
            <a:ext cx="1164870" cy="28575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10. tos </a:t>
            </a:r>
            <a:endParaRPr sz="1000"/>
          </a:p>
        </p:txBody>
      </p:sp>
      <p:sp>
        <p:nvSpPr>
          <p:cNvPr id="339" name="Google Shape;339;p39"/>
          <p:cNvSpPr/>
          <p:nvPr/>
        </p:nvSpPr>
        <p:spPr>
          <a:xfrm>
            <a:off x="7244975" y="1588137"/>
            <a:ext cx="1043844"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11. pelo hirsuto </a:t>
            </a:r>
            <a:endParaRPr sz="1000"/>
          </a:p>
        </p:txBody>
      </p:sp>
      <p:sp>
        <p:nvSpPr>
          <p:cNvPr id="340" name="Google Shape;340;p39"/>
          <p:cNvSpPr/>
          <p:nvPr/>
        </p:nvSpPr>
        <p:spPr>
          <a:xfrm>
            <a:off x="4646147" y="1029950"/>
            <a:ext cx="1115703"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12. CC  2/5 </a:t>
            </a:r>
            <a:endParaRPr sz="1000"/>
          </a:p>
        </p:txBody>
      </p:sp>
      <p:sp>
        <p:nvSpPr>
          <p:cNvPr id="341" name="Google Shape;341;p39"/>
          <p:cNvSpPr/>
          <p:nvPr/>
        </p:nvSpPr>
        <p:spPr>
          <a:xfrm>
            <a:off x="1279125" y="2761775"/>
            <a:ext cx="116487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linfonodos palpables </a:t>
            </a:r>
            <a:endParaRPr sz="1000"/>
          </a:p>
        </p:txBody>
      </p:sp>
      <p:sp>
        <p:nvSpPr>
          <p:cNvPr id="342" name="Google Shape;342;p39"/>
          <p:cNvSpPr/>
          <p:nvPr/>
        </p:nvSpPr>
        <p:spPr>
          <a:xfrm>
            <a:off x="1387059" y="1555375"/>
            <a:ext cx="1115703"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292100" lvl="0" marL="457200" marR="0" rtl="0" algn="l">
              <a:lnSpc>
                <a:spcPct val="90000"/>
              </a:lnSpc>
              <a:spcBef>
                <a:spcPts val="0"/>
              </a:spcBef>
              <a:spcAft>
                <a:spcPts val="0"/>
              </a:spcAft>
              <a:buSzPts val="1000"/>
              <a:buAutoNum type="arabicPeriod"/>
            </a:pPr>
            <a:r>
              <a:rPr lang="es" sz="1000">
                <a:latin typeface="Calibri"/>
                <a:ea typeface="Calibri"/>
                <a:cs typeface="Calibri"/>
                <a:sym typeface="Calibri"/>
              </a:rPr>
              <a:t>diarrea </a:t>
            </a:r>
            <a:endParaRPr sz="1000"/>
          </a:p>
        </p:txBody>
      </p:sp>
      <p:sp>
        <p:nvSpPr>
          <p:cNvPr id="343" name="Google Shape;343;p39"/>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3"/>
          </a:p>
        </p:txBody>
      </p:sp>
      <p:sp>
        <p:nvSpPr>
          <p:cNvPr id="344" name="Google Shape;344;p39"/>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3"/>
          </a:p>
        </p:txBody>
      </p:sp>
      <p:sp>
        <p:nvSpPr>
          <p:cNvPr id="345" name="Google Shape;345;p39"/>
          <p:cNvSpPr/>
          <p:nvPr/>
        </p:nvSpPr>
        <p:spPr>
          <a:xfrm rot="-5400000">
            <a:off x="5041400" y="112970"/>
            <a:ext cx="1434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6" name="Google Shape;346;p39"/>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3"/>
          </a:p>
        </p:txBody>
      </p:sp>
      <p:sp>
        <p:nvSpPr>
          <p:cNvPr id="347" name="Google Shape;347;p39"/>
          <p:cNvSpPr/>
          <p:nvPr/>
        </p:nvSpPr>
        <p:spPr>
          <a:xfrm>
            <a:off x="3532625" y="2543504"/>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complementarios</a:t>
            </a:r>
            <a:endParaRPr sz="1013"/>
          </a:p>
        </p:txBody>
      </p:sp>
      <p:sp>
        <p:nvSpPr>
          <p:cNvPr id="348" name="Google Shape;348;p39"/>
          <p:cNvSpPr/>
          <p:nvPr/>
        </p:nvSpPr>
        <p:spPr>
          <a:xfrm rot="-5400000">
            <a:off x="4971450" y="1821320"/>
            <a:ext cx="14328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9" name="Google Shape;349;p39"/>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3"/>
          </a:p>
        </p:txBody>
      </p:sp>
      <p:sp>
        <p:nvSpPr>
          <p:cNvPr id="350" name="Google Shape;350;p39"/>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51" name="Google Shape;351;p39"/>
          <p:cNvSpPr txBox="1"/>
          <p:nvPr/>
        </p:nvSpPr>
        <p:spPr>
          <a:xfrm>
            <a:off x="267700" y="3560925"/>
            <a:ext cx="3737400" cy="12930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2"/>
                </a:solidFill>
                <a:latin typeface="Times New Roman"/>
                <a:ea typeface="Times New Roman"/>
                <a:cs typeface="Times New Roman"/>
                <a:sym typeface="Times New Roman"/>
              </a:rPr>
              <a:t>R</a:t>
            </a:r>
            <a:r>
              <a:rPr lang="es" sz="1200">
                <a:solidFill>
                  <a:schemeClr val="dk2"/>
                </a:solidFill>
                <a:latin typeface="Times New Roman"/>
                <a:ea typeface="Times New Roman"/>
                <a:cs typeface="Times New Roman"/>
                <a:sym typeface="Times New Roman"/>
              </a:rPr>
              <a:t>etroalimentación  correcta</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chemeClr val="dk2"/>
                </a:solidFill>
                <a:latin typeface="Times New Roman"/>
                <a:ea typeface="Times New Roman"/>
                <a:cs typeface="Times New Roman"/>
                <a:sym typeface="Times New Roman"/>
              </a:rPr>
              <a:t>¡Muy bien! lograste clasificar adecuadamente cada manifestación clínica. ahora intenta construir tu lista maestra.</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chemeClr val="dk2"/>
                </a:solidFill>
                <a:latin typeface="Times New Roman"/>
                <a:ea typeface="Times New Roman"/>
                <a:cs typeface="Times New Roman"/>
                <a:sym typeface="Times New Roman"/>
              </a:rPr>
              <a:t>tip:   Identifica los problemas de mayor trascendencia y cuáles de la lista completa se relacionan con ellos. </a:t>
            </a:r>
            <a:endParaRPr sz="1200">
              <a:solidFill>
                <a:schemeClr val="dk2"/>
              </a:solidFill>
              <a:latin typeface="Times New Roman"/>
              <a:ea typeface="Times New Roman"/>
              <a:cs typeface="Times New Roman"/>
              <a:sym typeface="Times New Roman"/>
            </a:endParaRPr>
          </a:p>
        </p:txBody>
      </p:sp>
      <p:sp>
        <p:nvSpPr>
          <p:cNvPr id="352" name="Google Shape;352;p39"/>
          <p:cNvSpPr txBox="1"/>
          <p:nvPr/>
        </p:nvSpPr>
        <p:spPr>
          <a:xfrm>
            <a:off x="4185350" y="3728375"/>
            <a:ext cx="37374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incorrecta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Analiza de nuevo las definiciones de las categorías de signos. </a:t>
            </a:r>
            <a:endParaRPr>
              <a:solidFill>
                <a:schemeClr val="dk2"/>
              </a:solidFill>
              <a:latin typeface="Times New Roman"/>
              <a:ea typeface="Times New Roman"/>
              <a:cs typeface="Times New Roman"/>
              <a:sym typeface="Times New Roman"/>
            </a:endParaRPr>
          </a:p>
        </p:txBody>
      </p:sp>
      <p:sp>
        <p:nvSpPr>
          <p:cNvPr id="353" name="Google Shape;353;p39"/>
          <p:cNvSpPr/>
          <p:nvPr/>
        </p:nvSpPr>
        <p:spPr>
          <a:xfrm>
            <a:off x="4607226" y="219231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13. DVB, IBR, vRSB </a:t>
            </a:r>
            <a:endParaRPr sz="1000"/>
          </a:p>
        </p:txBody>
      </p:sp>
      <p:sp>
        <p:nvSpPr>
          <p:cNvPr id="354" name="Google Shape;354;p39"/>
          <p:cNvSpPr/>
          <p:nvPr/>
        </p:nvSpPr>
        <p:spPr>
          <a:xfrm>
            <a:off x="4616675" y="2682275"/>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14. Pasteurella</a:t>
            </a:r>
            <a:endParaRPr sz="1000"/>
          </a:p>
        </p:txBody>
      </p:sp>
      <p:sp>
        <p:nvSpPr>
          <p:cNvPr id="355" name="Google Shape;355;p39"/>
          <p:cNvSpPr/>
          <p:nvPr/>
        </p:nvSpPr>
        <p:spPr>
          <a:xfrm>
            <a:off x="4607226" y="3106707"/>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15. inflamación crónica</a:t>
            </a:r>
            <a:endParaRPr sz="1000"/>
          </a:p>
        </p:txBody>
      </p:sp>
      <p:sp>
        <p:nvSpPr>
          <p:cNvPr id="356" name="Google Shape;356;p39"/>
          <p:cNvSpPr txBox="1"/>
          <p:nvPr>
            <p:ph type="title"/>
          </p:nvPr>
        </p:nvSpPr>
        <p:spPr>
          <a:xfrm>
            <a:off x="388663" y="152875"/>
            <a:ext cx="311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Signología </a:t>
            </a:r>
            <a:endParaRPr sz="3500"/>
          </a:p>
          <a:p>
            <a:pPr indent="0" lvl="0" marL="0" rtl="0" algn="l">
              <a:spcBef>
                <a:spcPts val="0"/>
              </a:spcBef>
              <a:spcAft>
                <a:spcPts val="0"/>
              </a:spcAft>
              <a:buNone/>
            </a:pPr>
            <a:r>
              <a:t/>
            </a:r>
            <a:endParaRPr sz="3500"/>
          </a:p>
        </p:txBody>
      </p:sp>
      <p:sp>
        <p:nvSpPr>
          <p:cNvPr id="357" name="Google Shape;357;p39"/>
          <p:cNvSpPr/>
          <p:nvPr/>
        </p:nvSpPr>
        <p:spPr>
          <a:xfrm rot="-5400000">
            <a:off x="1781375" y="1746538"/>
            <a:ext cx="1212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58" name="Google Shape;358;p39"/>
          <p:cNvSpPr/>
          <p:nvPr/>
        </p:nvSpPr>
        <p:spPr>
          <a:xfrm rot="-5400000">
            <a:off x="1811850" y="485372"/>
            <a:ext cx="114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0"/>
          <p:cNvSpPr txBox="1"/>
          <p:nvPr/>
        </p:nvSpPr>
        <p:spPr>
          <a:xfrm>
            <a:off x="129250" y="101575"/>
            <a:ext cx="4866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500">
                <a:solidFill>
                  <a:schemeClr val="dk2"/>
                </a:solidFill>
              </a:rPr>
              <a:t>Construye la lista maestra </a:t>
            </a:r>
            <a:endParaRPr sz="3500">
              <a:solidFill>
                <a:schemeClr val="dk2"/>
              </a:solidFill>
            </a:endParaRPr>
          </a:p>
        </p:txBody>
      </p:sp>
      <p:graphicFrame>
        <p:nvGraphicFramePr>
          <p:cNvPr id="364" name="Google Shape;364;p40"/>
          <p:cNvGraphicFramePr/>
          <p:nvPr/>
        </p:nvGraphicFramePr>
        <p:xfrm>
          <a:off x="250649" y="1561146"/>
          <a:ext cx="3000000" cy="3000000"/>
        </p:xfrm>
        <a:graphic>
          <a:graphicData uri="http://schemas.openxmlformats.org/drawingml/2006/table">
            <a:tbl>
              <a:tblPr bandRow="1" firstRow="1">
                <a:noFill/>
                <a:tableStyleId>{C904ACC0-95A0-4183-87B4-51C2899AC0EF}</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E69138"/>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t/>
                      </a:r>
                      <a:endParaRPr sz="1800"/>
                    </a:p>
                  </a:txBody>
                  <a:tcPr marT="45725" marB="45725" marR="91450" marL="91450">
                    <a:solidFill>
                      <a:srgbClr val="F9CB9C"/>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t/>
                      </a:r>
                      <a:endParaRPr sz="1800"/>
                    </a:p>
                  </a:txBody>
                  <a:tcPr marT="45725" marB="45725" marR="91450" marL="91450">
                    <a:solidFill>
                      <a:srgbClr val="F9CB9C"/>
                    </a:solidFill>
                  </a:tcPr>
                </a:tc>
              </a:tr>
            </a:tbl>
          </a:graphicData>
        </a:graphic>
      </p:graphicFrame>
      <p:graphicFrame>
        <p:nvGraphicFramePr>
          <p:cNvPr id="365" name="Google Shape;365;p40"/>
          <p:cNvGraphicFramePr/>
          <p:nvPr/>
        </p:nvGraphicFramePr>
        <p:xfrm>
          <a:off x="5279325" y="276977"/>
          <a:ext cx="3000000" cy="3000000"/>
        </p:xfrm>
        <a:graphic>
          <a:graphicData uri="http://schemas.openxmlformats.org/drawingml/2006/table">
            <a:tbl>
              <a:tblPr>
                <a:noFill/>
                <a:tableStyleId>{84BC8C95-1D40-486A-9443-D1563B821074}</a:tableStyleId>
              </a:tblPr>
              <a:tblGrid>
                <a:gridCol w="611450"/>
                <a:gridCol w="3008050"/>
              </a:tblGrid>
              <a:tr h="286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ocular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linfonodos precrurales palpables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deshidratación</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depresión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 temperatura de 37.0 °C</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hipotonía ruminal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10</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CC 2/5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vRSB, DVB, IBR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a:t>
                      </a:r>
                      <a:r>
                        <a:rPr i="1" lang="es" sz="1000"/>
                        <a:t>Pasteurella spp</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inflamación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66" name="Google Shape;366;p40"/>
          <p:cNvSpPr txBox="1"/>
          <p:nvPr/>
        </p:nvSpPr>
        <p:spPr>
          <a:xfrm>
            <a:off x="1879600" y="722500"/>
            <a:ext cx="3334500" cy="7389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Escribe el o los problemas maestros </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1"/>
          <p:cNvSpPr txBox="1"/>
          <p:nvPr/>
        </p:nvSpPr>
        <p:spPr>
          <a:xfrm>
            <a:off x="129250" y="33175"/>
            <a:ext cx="4162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500">
                <a:solidFill>
                  <a:schemeClr val="dk2"/>
                </a:solidFill>
              </a:rPr>
              <a:t>Construye la lista maestra </a:t>
            </a:r>
            <a:endParaRPr sz="3500">
              <a:solidFill>
                <a:schemeClr val="dk2"/>
              </a:solidFill>
            </a:endParaRPr>
          </a:p>
        </p:txBody>
      </p:sp>
      <p:graphicFrame>
        <p:nvGraphicFramePr>
          <p:cNvPr id="372" name="Google Shape;372;p41"/>
          <p:cNvGraphicFramePr/>
          <p:nvPr/>
        </p:nvGraphicFramePr>
        <p:xfrm>
          <a:off x="224574" y="1578212"/>
          <a:ext cx="3000000" cy="3000000"/>
        </p:xfrm>
        <a:graphic>
          <a:graphicData uri="http://schemas.openxmlformats.org/drawingml/2006/table">
            <a:tbl>
              <a:tblPr bandRow="1" firstRow="1">
                <a:noFill/>
                <a:tableStyleId>{C904ACC0-95A0-4183-87B4-51C2899AC0EF}</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E69138"/>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9CB9C"/>
                    </a:solidFill>
                  </a:tcPr>
                </a:tc>
                <a:tc>
                  <a:txBody>
                    <a:bodyPr/>
                    <a:lstStyle/>
                    <a:p>
                      <a:pPr indent="0" lvl="0" marL="0" marR="0" rtl="0" algn="ctr">
                        <a:spcBef>
                          <a:spcPts val="0"/>
                        </a:spcBef>
                        <a:spcAft>
                          <a:spcPts val="0"/>
                        </a:spcAft>
                        <a:buNone/>
                      </a:pPr>
                      <a:r>
                        <a:rPr lang="es" sz="1800"/>
                        <a:t>Secreción nasal </a:t>
                      </a:r>
                      <a:endParaRPr sz="1800"/>
                    </a:p>
                  </a:txBody>
                  <a:tcPr marT="45725" marB="45725" marR="91450" marL="91450" anchor="ctr">
                    <a:solidFill>
                      <a:srgbClr val="F9CB9C"/>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9CB9C"/>
                    </a:solidFill>
                  </a:tcPr>
                </a:tc>
                <a:tc>
                  <a:txBody>
                    <a:bodyPr/>
                    <a:lstStyle/>
                    <a:p>
                      <a:pPr indent="0" lvl="0" marL="0" marR="0" rtl="0" algn="ctr">
                        <a:spcBef>
                          <a:spcPts val="0"/>
                        </a:spcBef>
                        <a:spcAft>
                          <a:spcPts val="0"/>
                        </a:spcAft>
                        <a:buNone/>
                      </a:pPr>
                      <a:r>
                        <a:rPr lang="es" sz="1800"/>
                        <a:t>Diarrea</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txBody>
                  <a:tcPr marT="45725" marB="45725" marR="91450" marL="91450" anchor="ctr">
                    <a:solidFill>
                      <a:srgbClr val="F9CB9C"/>
                    </a:solidFill>
                  </a:tcPr>
                </a:tc>
              </a:tr>
            </a:tbl>
          </a:graphicData>
        </a:graphic>
      </p:graphicFrame>
      <p:sp>
        <p:nvSpPr>
          <p:cNvPr id="373" name="Google Shape;373;p41"/>
          <p:cNvSpPr txBox="1"/>
          <p:nvPr/>
        </p:nvSpPr>
        <p:spPr>
          <a:xfrm>
            <a:off x="4291450" y="1130073"/>
            <a:ext cx="43581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R</a:t>
            </a:r>
            <a:r>
              <a:rPr lang="es">
                <a:solidFill>
                  <a:schemeClr val="dk2"/>
                </a:solidFill>
              </a:rPr>
              <a:t>etroalimentación</a:t>
            </a:r>
            <a:r>
              <a:rPr lang="es">
                <a:solidFill>
                  <a:schemeClr val="dk2"/>
                </a:solidFill>
              </a:rPr>
              <a:t> correcta </a:t>
            </a:r>
            <a:endParaRPr>
              <a:solidFill>
                <a:schemeClr val="dk2"/>
              </a:solidFill>
            </a:endParaRPr>
          </a:p>
          <a:p>
            <a:pPr indent="0" lvl="0" marL="0" rtl="0" algn="l">
              <a:spcBef>
                <a:spcPts val="0"/>
              </a:spcBef>
              <a:spcAft>
                <a:spcPts val="0"/>
              </a:spcAft>
              <a:buNone/>
            </a:pPr>
            <a:r>
              <a:rPr lang="es">
                <a:solidFill>
                  <a:schemeClr val="dk2"/>
                </a:solidFill>
              </a:rPr>
              <a:t>¡Bien hecho! Lograste identificar los problemas maestros a la perfección.</a:t>
            </a:r>
            <a:endParaRPr>
              <a:solidFill>
                <a:schemeClr val="dk2"/>
              </a:solidFill>
            </a:endParaRPr>
          </a:p>
          <a:p>
            <a:pPr indent="0" lvl="0" marL="0" rtl="0" algn="l">
              <a:spcBef>
                <a:spcPts val="0"/>
              </a:spcBef>
              <a:spcAft>
                <a:spcPts val="0"/>
              </a:spcAft>
              <a:buNone/>
            </a:pPr>
            <a:r>
              <a:rPr lang="es">
                <a:solidFill>
                  <a:schemeClr val="dk2"/>
                </a:solidFill>
              </a:rPr>
              <a:t> </a:t>
            </a:r>
            <a:endParaRPr>
              <a:solidFill>
                <a:schemeClr val="dk2"/>
              </a:solidFill>
            </a:endParaRPr>
          </a:p>
          <a:p>
            <a:pPr indent="0" lvl="0" marL="0" rtl="0" algn="l">
              <a:spcBef>
                <a:spcPts val="0"/>
              </a:spcBef>
              <a:spcAft>
                <a:spcPts val="0"/>
              </a:spcAft>
              <a:buNone/>
            </a:pPr>
            <a:r>
              <a:rPr lang="es">
                <a:solidFill>
                  <a:schemeClr val="dk2"/>
                </a:solidFill>
              </a:rPr>
              <a:t>tip: Recuerda que </a:t>
            </a:r>
            <a:r>
              <a:rPr lang="es">
                <a:solidFill>
                  <a:schemeClr val="dk2"/>
                </a:solidFill>
              </a:rPr>
              <a:t>aquí</a:t>
            </a:r>
            <a:r>
              <a:rPr lang="es">
                <a:solidFill>
                  <a:schemeClr val="dk2"/>
                </a:solidFill>
              </a:rPr>
              <a:t> cambia la </a:t>
            </a:r>
            <a:r>
              <a:rPr lang="es">
                <a:solidFill>
                  <a:schemeClr val="dk2"/>
                </a:solidFill>
              </a:rPr>
              <a:t>numeración</a:t>
            </a:r>
            <a:r>
              <a:rPr lang="es">
                <a:solidFill>
                  <a:schemeClr val="dk2"/>
                </a:solidFill>
              </a:rPr>
              <a:t> romana.</a:t>
            </a:r>
            <a:endParaRPr>
              <a:solidFill>
                <a:schemeClr val="dk2"/>
              </a:solidFill>
            </a:endParaRPr>
          </a:p>
        </p:txBody>
      </p:sp>
      <p:sp>
        <p:nvSpPr>
          <p:cNvPr id="374" name="Google Shape;374;p41"/>
          <p:cNvSpPr txBox="1"/>
          <p:nvPr/>
        </p:nvSpPr>
        <p:spPr>
          <a:xfrm>
            <a:off x="4365550" y="3096123"/>
            <a:ext cx="4358100" cy="12621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Retroalimentación incorrecta </a:t>
            </a:r>
            <a:endParaRPr>
              <a:solidFill>
                <a:schemeClr val="dk2"/>
              </a:solidFill>
            </a:endParaRPr>
          </a:p>
          <a:p>
            <a:pPr indent="0" lvl="0" marL="0" rtl="0" algn="l">
              <a:spcBef>
                <a:spcPts val="0"/>
              </a:spcBef>
              <a:spcAft>
                <a:spcPts val="0"/>
              </a:spcAft>
              <a:buNone/>
            </a:pPr>
            <a:r>
              <a:rPr lang="es">
                <a:solidFill>
                  <a:schemeClr val="dk2"/>
                </a:solidFill>
              </a:rPr>
              <a:t>¡Ups! Vuelve a analizar tu lista de problemas.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tip: Un problema maestro es aquel que domina por entre los demás. </a:t>
            </a:r>
            <a:endParaRPr>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2"/>
          <p:cNvSpPr txBox="1"/>
          <p:nvPr>
            <p:ph type="title"/>
          </p:nvPr>
        </p:nvSpPr>
        <p:spPr>
          <a:xfrm>
            <a:off x="311700" y="445025"/>
            <a:ext cx="2104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500"/>
              <a:t>C</a:t>
            </a:r>
            <a:r>
              <a:rPr lang="es" sz="2500"/>
              <a:t>onstruye la lista maestra </a:t>
            </a:r>
            <a:endParaRPr sz="2500"/>
          </a:p>
        </p:txBody>
      </p:sp>
      <p:graphicFrame>
        <p:nvGraphicFramePr>
          <p:cNvPr id="380" name="Google Shape;380;p42"/>
          <p:cNvGraphicFramePr/>
          <p:nvPr/>
        </p:nvGraphicFramePr>
        <p:xfrm>
          <a:off x="5212800" y="114759"/>
          <a:ext cx="3000000" cy="3000000"/>
        </p:xfrm>
        <a:graphic>
          <a:graphicData uri="http://schemas.openxmlformats.org/drawingml/2006/table">
            <a:tbl>
              <a:tblPr>
                <a:noFill/>
                <a:tableStyleId>{84BC8C95-1D40-486A-9443-D1563B821074}</a:tableStyleId>
              </a:tblPr>
              <a:tblGrid>
                <a:gridCol w="611450"/>
                <a:gridCol w="3008050"/>
              </a:tblGrid>
              <a:tr h="286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diarrea</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ocular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linfonodos precrurales palpables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deshidratación</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depresión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 temperatura de 37.0 °C</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hipotonía ruminal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10</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CC 2/5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vRSB, DVB, IBR</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positivo a </a:t>
                      </a:r>
                      <a:r>
                        <a:rPr i="1" lang="es" sz="1000"/>
                        <a:t>Pasteurella spp</a:t>
                      </a:r>
                      <a:endParaRPr i="1"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86450">
                <a:tc>
                  <a:txBody>
                    <a:bodyPr/>
                    <a:lstStyle/>
                    <a:p>
                      <a:pPr indent="0" lvl="0" marL="0" rtl="0" algn="l">
                        <a:spcBef>
                          <a:spcPts val="0"/>
                        </a:spcBef>
                        <a:spcAft>
                          <a:spcPts val="0"/>
                        </a:spcAft>
                        <a:buNone/>
                      </a:pPr>
                      <a:r>
                        <a:rPr lang="es" sz="1000"/>
                        <a:t>15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inflamación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81" name="Google Shape;381;p42"/>
          <p:cNvSpPr txBox="1"/>
          <p:nvPr/>
        </p:nvSpPr>
        <p:spPr>
          <a:xfrm>
            <a:off x="2416500" y="450000"/>
            <a:ext cx="2612400" cy="10158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Escribe los problemas asociados a cada problema maestro. </a:t>
            </a:r>
            <a:endParaRPr sz="1800">
              <a:solidFill>
                <a:schemeClr val="dk1"/>
              </a:solidFill>
            </a:endParaRPr>
          </a:p>
        </p:txBody>
      </p:sp>
      <p:graphicFrame>
        <p:nvGraphicFramePr>
          <p:cNvPr id="382" name="Google Shape;382;p42"/>
          <p:cNvGraphicFramePr/>
          <p:nvPr/>
        </p:nvGraphicFramePr>
        <p:xfrm>
          <a:off x="311699" y="1580753"/>
          <a:ext cx="3000000" cy="3000000"/>
        </p:xfrm>
        <a:graphic>
          <a:graphicData uri="http://schemas.openxmlformats.org/drawingml/2006/table">
            <a:tbl>
              <a:tblPr bandRow="1" firstRow="1">
                <a:noFill/>
                <a:tableStyleId>{C904ACC0-95A0-4183-87B4-51C2899AC0EF}</a:tableStyleId>
              </a:tblPr>
              <a:tblGrid>
                <a:gridCol w="386275"/>
                <a:gridCol w="1905625"/>
                <a:gridCol w="1957125"/>
              </a:tblGrid>
              <a:tr h="637075">
                <a:tc>
                  <a:txBody>
                    <a:bodyPr/>
                    <a:lstStyle/>
                    <a:p>
                      <a:pPr indent="0" lvl="0" marL="0" marR="0" rtl="0" algn="ctr">
                        <a:spcBef>
                          <a:spcPts val="0"/>
                        </a:spcBef>
                        <a:spcAft>
                          <a:spcPts val="0"/>
                        </a:spcAft>
                        <a:buNone/>
                      </a:pPr>
                      <a:r>
                        <a:t/>
                      </a:r>
                      <a:endParaRPr sz="1600"/>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asociados</a:t>
                      </a:r>
                      <a:endParaRPr/>
                    </a:p>
                  </a:txBody>
                  <a:tcPr marT="45725" marB="45725" marR="91450" marL="91450">
                    <a:solidFill>
                      <a:srgbClr val="E69138"/>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sz="1800"/>
                        <a:t>Secreción nasal</a:t>
                      </a:r>
                      <a:endParaRPr/>
                    </a:p>
                  </a:txBody>
                  <a:tcPr marT="45725" marB="45725" marR="91450" marL="91450">
                    <a:solidFill>
                      <a:srgbClr val="F9CB9C"/>
                    </a:solidFill>
                  </a:tcPr>
                </a:tc>
                <a:tc>
                  <a:txBody>
                    <a:bodyPr/>
                    <a:lstStyle/>
                    <a:p>
                      <a:pPr indent="0" lvl="0" marL="0" marR="0" rtl="0" algn="l">
                        <a:spcBef>
                          <a:spcPts val="0"/>
                        </a:spcBef>
                        <a:spcAft>
                          <a:spcPts val="0"/>
                        </a:spcAft>
                        <a:buNone/>
                      </a:pPr>
                      <a:r>
                        <a:t/>
                      </a:r>
                      <a:endParaRPr sz="1000"/>
                    </a:p>
                  </a:txBody>
                  <a:tcPr marT="45725" marB="45725" marR="91450" marL="91450">
                    <a:solidFill>
                      <a:srgbClr val="F9CB9C"/>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sz="1800"/>
                        <a:t>D</a:t>
                      </a:r>
                      <a:r>
                        <a:rPr lang="es" sz="1800"/>
                        <a:t>iarrea </a:t>
                      </a:r>
                      <a:endParaRPr/>
                    </a:p>
                  </a:txBody>
                  <a:tcPr marT="45725" marB="45725" marR="91450" marL="91450">
                    <a:solidFill>
                      <a:srgbClr val="F9CB9C"/>
                    </a:solidFill>
                  </a:tcPr>
                </a:tc>
                <a:tc>
                  <a:txBody>
                    <a:bodyPr/>
                    <a:lstStyle/>
                    <a:p>
                      <a:pPr indent="0" lvl="0" marL="0" marR="0" rtl="0" algn="l">
                        <a:spcBef>
                          <a:spcPts val="0"/>
                        </a:spcBef>
                        <a:spcAft>
                          <a:spcPts val="0"/>
                        </a:spcAft>
                        <a:buNone/>
                      </a:pPr>
                      <a:r>
                        <a:t/>
                      </a:r>
                      <a:endParaRPr sz="1000"/>
                    </a:p>
                  </a:txBody>
                  <a:tcPr marT="45725" marB="45725" marR="91450" marL="91450">
                    <a:solidFill>
                      <a:srgbClr val="F9CB9C"/>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3"/>
          <p:cNvSpPr txBox="1"/>
          <p:nvPr>
            <p:ph type="title"/>
          </p:nvPr>
        </p:nvSpPr>
        <p:spPr>
          <a:xfrm>
            <a:off x="124650" y="223475"/>
            <a:ext cx="424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construye la lista maestra </a:t>
            </a:r>
            <a:endParaRPr sz="3500"/>
          </a:p>
        </p:txBody>
      </p:sp>
      <p:graphicFrame>
        <p:nvGraphicFramePr>
          <p:cNvPr id="388" name="Google Shape;388;p43"/>
          <p:cNvGraphicFramePr/>
          <p:nvPr/>
        </p:nvGraphicFramePr>
        <p:xfrm>
          <a:off x="4373549" y="291562"/>
          <a:ext cx="3000000" cy="3000000"/>
        </p:xfrm>
        <a:graphic>
          <a:graphicData uri="http://schemas.openxmlformats.org/drawingml/2006/table">
            <a:tbl>
              <a:tblPr bandRow="1" firstRow="1">
                <a:noFill/>
                <a:tableStyleId>{C904ACC0-95A0-4183-87B4-51C2899AC0EF}</a:tableStyleId>
              </a:tblPr>
              <a:tblGrid>
                <a:gridCol w="386275"/>
                <a:gridCol w="1905625"/>
                <a:gridCol w="1957125"/>
              </a:tblGrid>
              <a:tr h="637075">
                <a:tc>
                  <a:txBody>
                    <a:bodyPr/>
                    <a:lstStyle/>
                    <a:p>
                      <a:pPr indent="0" lvl="0" marL="0" marR="0" rtl="0" algn="ctr">
                        <a:spcBef>
                          <a:spcPts val="0"/>
                        </a:spcBef>
                        <a:spcAft>
                          <a:spcPts val="0"/>
                        </a:spcAft>
                        <a:buNone/>
                      </a:pPr>
                      <a:r>
                        <a:t/>
                      </a:r>
                      <a:endParaRPr sz="1600"/>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Problemas asociados</a:t>
                      </a:r>
                      <a:endParaRPr/>
                    </a:p>
                  </a:txBody>
                  <a:tcPr marT="45725" marB="45725" marR="91450" marL="91450">
                    <a:solidFill>
                      <a:srgbClr val="E69138"/>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sz="1800"/>
                        <a:t>Secreción nasal</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txBody>
                  <a:tcPr marT="45725" marB="45725" marR="91450" marL="91450">
                    <a:solidFill>
                      <a:srgbClr val="F9CB9C"/>
                    </a:solidFill>
                  </a:tcPr>
                </a:tc>
                <a:tc>
                  <a:txBody>
                    <a:bodyPr/>
                    <a:lstStyle/>
                    <a:p>
                      <a:pPr indent="0" lvl="0" marL="0" rtl="0" algn="l">
                        <a:spcBef>
                          <a:spcPts val="0"/>
                        </a:spcBef>
                        <a:spcAft>
                          <a:spcPts val="0"/>
                        </a:spcAft>
                        <a:buNone/>
                      </a:pPr>
                      <a:r>
                        <a:rPr lang="es" sz="1000">
                          <a:solidFill>
                            <a:schemeClr val="dk1"/>
                          </a:solidFill>
                        </a:rPr>
                        <a:t>3. secreción ocular </a:t>
                      </a:r>
                      <a:endParaRPr sz="1000">
                        <a:solidFill>
                          <a:schemeClr val="dk1"/>
                        </a:solidFill>
                      </a:endParaRPr>
                    </a:p>
                    <a:p>
                      <a:pPr indent="0" lvl="0" marL="0" rtl="0" algn="l">
                        <a:spcBef>
                          <a:spcPts val="0"/>
                        </a:spcBef>
                        <a:spcAft>
                          <a:spcPts val="0"/>
                        </a:spcAft>
                        <a:buNone/>
                      </a:pPr>
                      <a:r>
                        <a:rPr lang="es" sz="1000">
                          <a:solidFill>
                            <a:schemeClr val="dk1"/>
                          </a:solidFill>
                        </a:rPr>
                        <a:t>6. depresión </a:t>
                      </a:r>
                      <a:endParaRPr sz="1000">
                        <a:solidFill>
                          <a:schemeClr val="dk1"/>
                        </a:solidFill>
                      </a:endParaRPr>
                    </a:p>
                    <a:p>
                      <a:pPr indent="0" lvl="0" marL="0" rtl="0" algn="l">
                        <a:spcBef>
                          <a:spcPts val="0"/>
                        </a:spcBef>
                        <a:spcAft>
                          <a:spcPts val="0"/>
                        </a:spcAft>
                        <a:buNone/>
                      </a:pPr>
                      <a:r>
                        <a:rPr lang="es" sz="1000">
                          <a:solidFill>
                            <a:schemeClr val="dk1"/>
                          </a:solidFill>
                        </a:rPr>
                        <a:t>10. tos</a:t>
                      </a:r>
                      <a:endParaRPr sz="1000">
                        <a:solidFill>
                          <a:schemeClr val="dk1"/>
                        </a:solidFill>
                      </a:endParaRPr>
                    </a:p>
                    <a:p>
                      <a:pPr indent="0" lvl="0" marL="0" rtl="0" algn="l">
                        <a:spcBef>
                          <a:spcPts val="0"/>
                        </a:spcBef>
                        <a:spcAft>
                          <a:spcPts val="0"/>
                        </a:spcAft>
                        <a:buNone/>
                      </a:pPr>
                      <a:r>
                        <a:rPr lang="es" sz="1000">
                          <a:solidFill>
                            <a:schemeClr val="dk1"/>
                          </a:solidFill>
                        </a:rPr>
                        <a:t>12. cc2/5 </a:t>
                      </a:r>
                      <a:endParaRPr sz="1000">
                        <a:solidFill>
                          <a:schemeClr val="dk1"/>
                        </a:solidFill>
                      </a:endParaRPr>
                    </a:p>
                    <a:p>
                      <a:pPr indent="0" lvl="0" marL="0" rtl="0" algn="l">
                        <a:spcBef>
                          <a:spcPts val="0"/>
                        </a:spcBef>
                        <a:spcAft>
                          <a:spcPts val="0"/>
                        </a:spcAft>
                        <a:buNone/>
                      </a:pPr>
                      <a:r>
                        <a:rPr lang="es" sz="1000">
                          <a:solidFill>
                            <a:schemeClr val="dk1"/>
                          </a:solidFill>
                        </a:rPr>
                        <a:t>13. vRSB, IBR</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14. positivo a </a:t>
                      </a:r>
                      <a:r>
                        <a:rPr i="1" lang="es" sz="1000">
                          <a:solidFill>
                            <a:schemeClr val="dk1"/>
                          </a:solidFill>
                        </a:rPr>
                        <a:t>Pasteurella spp</a:t>
                      </a:r>
                      <a:endParaRPr sz="1000">
                        <a:solidFill>
                          <a:schemeClr val="dk1"/>
                        </a:solidFill>
                      </a:endParaRPr>
                    </a:p>
                    <a:p>
                      <a:pPr indent="0" lvl="0" marL="0" rtl="0" algn="l">
                        <a:spcBef>
                          <a:spcPts val="0"/>
                        </a:spcBef>
                        <a:spcAft>
                          <a:spcPts val="0"/>
                        </a:spcAft>
                        <a:buNone/>
                      </a:pPr>
                      <a:r>
                        <a:rPr lang="es" sz="1000">
                          <a:solidFill>
                            <a:schemeClr val="dk1"/>
                          </a:solidFill>
                        </a:rPr>
                        <a:t>15. inflamación crónica</a:t>
                      </a:r>
                      <a:endParaRPr sz="1000">
                        <a:solidFill>
                          <a:schemeClr val="dk1"/>
                        </a:solidFill>
                      </a:endParaRPr>
                    </a:p>
                    <a:p>
                      <a:pPr indent="0" lvl="0" marL="0" rtl="0" algn="l">
                        <a:spcBef>
                          <a:spcPts val="0"/>
                        </a:spcBef>
                        <a:spcAft>
                          <a:spcPts val="0"/>
                        </a:spcAft>
                        <a:buNone/>
                      </a:pPr>
                      <a:r>
                        <a:rPr lang="es" sz="1000">
                          <a:solidFill>
                            <a:schemeClr val="dk1"/>
                          </a:solidFill>
                        </a:rPr>
                        <a:t> </a:t>
                      </a:r>
                      <a:endParaRPr sz="1800"/>
                    </a:p>
                  </a:txBody>
                  <a:tcPr marT="45725" marB="45725" marR="91450" marL="91450">
                    <a:solidFill>
                      <a:srgbClr val="F9CB9C"/>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sz="1800"/>
                        <a:t>D</a:t>
                      </a:r>
                      <a:r>
                        <a:rPr lang="es" sz="1800"/>
                        <a:t>iarrea</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txBody>
                  <a:tcPr marT="45725" marB="45725" marR="91450" marL="91450">
                    <a:solidFill>
                      <a:srgbClr val="F9CB9C"/>
                    </a:solidFill>
                  </a:tcPr>
                </a:tc>
                <a:tc>
                  <a:txBody>
                    <a:bodyPr/>
                    <a:lstStyle/>
                    <a:p>
                      <a:pPr indent="0" lvl="0" marL="0" rtl="0" algn="l">
                        <a:spcBef>
                          <a:spcPts val="0"/>
                        </a:spcBef>
                        <a:spcAft>
                          <a:spcPts val="0"/>
                        </a:spcAft>
                        <a:buNone/>
                      </a:pPr>
                      <a:r>
                        <a:rPr lang="es" sz="1000">
                          <a:solidFill>
                            <a:schemeClr val="dk1"/>
                          </a:solidFill>
                        </a:rPr>
                        <a:t>4. linfonodos palpables </a:t>
                      </a:r>
                      <a:endParaRPr sz="1000">
                        <a:solidFill>
                          <a:schemeClr val="dk1"/>
                        </a:solidFill>
                      </a:endParaRPr>
                    </a:p>
                    <a:p>
                      <a:pPr indent="0" lvl="0" marL="0" rtl="0" algn="l">
                        <a:spcBef>
                          <a:spcPts val="0"/>
                        </a:spcBef>
                        <a:spcAft>
                          <a:spcPts val="0"/>
                        </a:spcAft>
                        <a:buNone/>
                      </a:pPr>
                      <a:r>
                        <a:rPr lang="es" sz="1000">
                          <a:solidFill>
                            <a:schemeClr val="dk1"/>
                          </a:solidFill>
                        </a:rPr>
                        <a:t>5. deshidratación</a:t>
                      </a:r>
                      <a:endParaRPr sz="1000">
                        <a:solidFill>
                          <a:schemeClr val="dk1"/>
                        </a:solidFill>
                      </a:endParaRPr>
                    </a:p>
                    <a:p>
                      <a:pPr indent="0" lvl="0" marL="0" rtl="0" algn="l">
                        <a:spcBef>
                          <a:spcPts val="0"/>
                        </a:spcBef>
                        <a:spcAft>
                          <a:spcPts val="0"/>
                        </a:spcAft>
                        <a:buNone/>
                      </a:pPr>
                      <a:r>
                        <a:rPr lang="es" sz="1000">
                          <a:solidFill>
                            <a:schemeClr val="dk1"/>
                          </a:solidFill>
                        </a:rPr>
                        <a:t>6. depresión </a:t>
                      </a:r>
                      <a:endParaRPr sz="1000">
                        <a:solidFill>
                          <a:schemeClr val="dk1"/>
                        </a:solidFill>
                      </a:endParaRPr>
                    </a:p>
                    <a:p>
                      <a:pPr indent="0" lvl="0" marL="0" rtl="0" algn="l">
                        <a:spcBef>
                          <a:spcPts val="0"/>
                        </a:spcBef>
                        <a:spcAft>
                          <a:spcPts val="0"/>
                        </a:spcAft>
                        <a:buNone/>
                      </a:pPr>
                      <a:r>
                        <a:rPr lang="es" sz="1000">
                          <a:solidFill>
                            <a:schemeClr val="dk1"/>
                          </a:solidFill>
                        </a:rPr>
                        <a:t>7. mucosas pálidas </a:t>
                      </a:r>
                      <a:endParaRPr sz="1000">
                        <a:solidFill>
                          <a:schemeClr val="dk1"/>
                        </a:solidFill>
                      </a:endParaRPr>
                    </a:p>
                    <a:p>
                      <a:pPr indent="0" lvl="0" marL="0" rtl="0" algn="l">
                        <a:spcBef>
                          <a:spcPts val="0"/>
                        </a:spcBef>
                        <a:spcAft>
                          <a:spcPts val="0"/>
                        </a:spcAft>
                        <a:buNone/>
                      </a:pPr>
                      <a:r>
                        <a:rPr lang="es" sz="1000">
                          <a:solidFill>
                            <a:schemeClr val="dk1"/>
                          </a:solidFill>
                        </a:rPr>
                        <a:t>8. hipotermia </a:t>
                      </a:r>
                      <a:endParaRPr sz="1000">
                        <a:solidFill>
                          <a:schemeClr val="dk1"/>
                        </a:solidFill>
                      </a:endParaRPr>
                    </a:p>
                    <a:p>
                      <a:pPr indent="0" lvl="0" marL="0" rtl="0" algn="l">
                        <a:spcBef>
                          <a:spcPts val="0"/>
                        </a:spcBef>
                        <a:spcAft>
                          <a:spcPts val="0"/>
                        </a:spcAft>
                        <a:buNone/>
                      </a:pPr>
                      <a:r>
                        <a:rPr lang="es" sz="1000">
                          <a:solidFill>
                            <a:schemeClr val="dk1"/>
                          </a:solidFill>
                        </a:rPr>
                        <a:t>9. hipotonía ruminal </a:t>
                      </a:r>
                      <a:endParaRPr sz="1000">
                        <a:solidFill>
                          <a:schemeClr val="dk1"/>
                        </a:solidFill>
                      </a:endParaRPr>
                    </a:p>
                    <a:p>
                      <a:pPr indent="0" lvl="0" marL="0" rtl="0" algn="l">
                        <a:spcBef>
                          <a:spcPts val="0"/>
                        </a:spcBef>
                        <a:spcAft>
                          <a:spcPts val="0"/>
                        </a:spcAft>
                        <a:buNone/>
                      </a:pPr>
                      <a:r>
                        <a:rPr lang="es" sz="1000">
                          <a:solidFill>
                            <a:schemeClr val="dk1"/>
                          </a:solidFill>
                        </a:rPr>
                        <a:t>12. cc2/5</a:t>
                      </a:r>
                      <a:endParaRPr sz="1000">
                        <a:solidFill>
                          <a:schemeClr val="dk1"/>
                        </a:solidFill>
                      </a:endParaRPr>
                    </a:p>
                    <a:p>
                      <a:pPr indent="0" lvl="0" marL="0" rtl="0" algn="l">
                        <a:spcBef>
                          <a:spcPts val="0"/>
                        </a:spcBef>
                        <a:spcAft>
                          <a:spcPts val="0"/>
                        </a:spcAft>
                        <a:buNone/>
                      </a:pPr>
                      <a:r>
                        <a:rPr lang="es" sz="1000">
                          <a:solidFill>
                            <a:schemeClr val="dk1"/>
                          </a:solidFill>
                        </a:rPr>
                        <a:t>13. DVB, </a:t>
                      </a:r>
                      <a:endParaRPr sz="1000">
                        <a:solidFill>
                          <a:schemeClr val="dk1"/>
                        </a:solidFill>
                      </a:endParaRPr>
                    </a:p>
                    <a:p>
                      <a:pPr indent="0" lvl="0" marL="0" rtl="0" algn="l">
                        <a:spcBef>
                          <a:spcPts val="0"/>
                        </a:spcBef>
                        <a:spcAft>
                          <a:spcPts val="0"/>
                        </a:spcAft>
                        <a:buNone/>
                      </a:pPr>
                      <a:r>
                        <a:rPr lang="es" sz="1000">
                          <a:solidFill>
                            <a:schemeClr val="dk1"/>
                          </a:solidFill>
                        </a:rPr>
                        <a:t>15. inflamación crónica </a:t>
                      </a:r>
                      <a:endParaRPr sz="1000">
                        <a:solidFill>
                          <a:schemeClr val="dk1"/>
                        </a:solidFill>
                      </a:endParaRPr>
                    </a:p>
                    <a:p>
                      <a:pPr indent="0" lvl="0" marL="0" marR="0" rtl="0" algn="l">
                        <a:spcBef>
                          <a:spcPts val="0"/>
                        </a:spcBef>
                        <a:spcAft>
                          <a:spcPts val="0"/>
                        </a:spcAft>
                        <a:buNone/>
                      </a:pPr>
                      <a:r>
                        <a:t/>
                      </a:r>
                      <a:endParaRPr sz="1800"/>
                    </a:p>
                  </a:txBody>
                  <a:tcPr marT="45725" marB="45725" marR="91450" marL="91450">
                    <a:solidFill>
                      <a:srgbClr val="F9CB9C"/>
                    </a:solidFill>
                  </a:tcPr>
                </a:tc>
              </a:tr>
            </a:tbl>
          </a:graphicData>
        </a:graphic>
      </p:graphicFrame>
      <p:sp>
        <p:nvSpPr>
          <p:cNvPr id="389" name="Google Shape;389;p43"/>
          <p:cNvSpPr txBox="1"/>
          <p:nvPr/>
        </p:nvSpPr>
        <p:spPr>
          <a:xfrm>
            <a:off x="33000" y="1482375"/>
            <a:ext cx="3956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Retroalimentación correcta </a:t>
            </a:r>
            <a:endParaRPr>
              <a:solidFill>
                <a:schemeClr val="dk2"/>
              </a:solidFill>
            </a:endParaRPr>
          </a:p>
          <a:p>
            <a:pPr indent="0" lvl="0" marL="0" rtl="0" algn="l">
              <a:spcBef>
                <a:spcPts val="0"/>
              </a:spcBef>
              <a:spcAft>
                <a:spcPts val="0"/>
              </a:spcAft>
              <a:buNone/>
            </a:pPr>
            <a:r>
              <a:rPr lang="es">
                <a:solidFill>
                  <a:schemeClr val="dk2"/>
                </a:solidFill>
              </a:rPr>
              <a:t>¡Muy bien! Has  establecido tu lista maestra correctamente. </a:t>
            </a:r>
            <a:endParaRPr>
              <a:solidFill>
                <a:schemeClr val="dk2"/>
              </a:solidFill>
            </a:endParaRPr>
          </a:p>
          <a:p>
            <a:pPr indent="0" lvl="0" marL="0" rtl="0" algn="ctr">
              <a:spcBef>
                <a:spcPts val="0"/>
              </a:spcBef>
              <a:spcAft>
                <a:spcPts val="0"/>
              </a:spcAft>
              <a:buNone/>
            </a:pPr>
            <a:r>
              <a:rPr lang="es">
                <a:solidFill>
                  <a:schemeClr val="dk2"/>
                </a:solidFill>
              </a:rPr>
              <a:t> ¡Estás cerca!</a:t>
            </a:r>
            <a:endParaRPr>
              <a:solidFill>
                <a:schemeClr val="dk2"/>
              </a:solidFill>
            </a:endParaRPr>
          </a:p>
        </p:txBody>
      </p:sp>
      <p:sp>
        <p:nvSpPr>
          <p:cNvPr id="390" name="Google Shape;390;p43"/>
          <p:cNvSpPr txBox="1"/>
          <p:nvPr/>
        </p:nvSpPr>
        <p:spPr>
          <a:xfrm>
            <a:off x="124642" y="3215275"/>
            <a:ext cx="3956100" cy="12621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rPr>
              <a:t>Retroalimentación incorrecta </a:t>
            </a:r>
            <a:endParaRPr>
              <a:solidFill>
                <a:schemeClr val="dk2"/>
              </a:solidFill>
            </a:endParaRPr>
          </a:p>
          <a:p>
            <a:pPr indent="0" lvl="0" marL="0" rtl="0" algn="l">
              <a:spcBef>
                <a:spcPts val="0"/>
              </a:spcBef>
              <a:spcAft>
                <a:spcPts val="0"/>
              </a:spcAft>
              <a:buNone/>
            </a:pPr>
            <a:r>
              <a:rPr lang="es">
                <a:solidFill>
                  <a:schemeClr val="dk2"/>
                </a:solidFill>
              </a:rPr>
              <a:t>¡Ups! Vuelve a analizar tu lista de problemas.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tip: Un problema asociado puede estar relacionado con </a:t>
            </a:r>
            <a:r>
              <a:rPr lang="es">
                <a:solidFill>
                  <a:schemeClr val="dk2"/>
                </a:solidFill>
              </a:rPr>
              <a:t>más</a:t>
            </a:r>
            <a:r>
              <a:rPr lang="es">
                <a:solidFill>
                  <a:schemeClr val="dk2"/>
                </a:solidFill>
              </a:rPr>
              <a:t> de un problema maestro.  </a:t>
            </a:r>
            <a:endParaRPr>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Lista maestra </a:t>
            </a:r>
            <a:endParaRPr sz="3500"/>
          </a:p>
        </p:txBody>
      </p:sp>
      <p:sp>
        <p:nvSpPr>
          <p:cNvPr id="396" name="Google Shape;396;p44"/>
          <p:cNvSpPr txBox="1"/>
          <p:nvPr>
            <p:ph idx="1" type="body"/>
          </p:nvPr>
        </p:nvSpPr>
        <p:spPr>
          <a:xfrm>
            <a:off x="311700" y="1983550"/>
            <a:ext cx="8520600" cy="2585400"/>
          </a:xfrm>
          <a:prstGeom prst="rect">
            <a:avLst/>
          </a:prstGeom>
          <a:solidFill>
            <a:srgbClr val="CFE2F3"/>
          </a:solidFill>
        </p:spPr>
        <p:txBody>
          <a:bodyPr anchorCtr="0" anchor="ctr" bIns="91425" lIns="91425" spcFirstLastPara="1" rIns="91425" wrap="square" tIns="91425">
            <a:normAutofit/>
          </a:bodyPr>
          <a:lstStyle/>
          <a:p>
            <a:pPr indent="-342900" lvl="0" marL="457200" rtl="0" algn="l">
              <a:spcBef>
                <a:spcPts val="0"/>
              </a:spcBef>
              <a:spcAft>
                <a:spcPts val="0"/>
              </a:spcAft>
              <a:buSzPts val="1800"/>
              <a:buAutoNum type="romanUcPeriod"/>
            </a:pPr>
            <a:r>
              <a:rPr lang="es"/>
              <a:t>Secreción nasal  ( 3, 6, 10, 12, 13, 14, 15).</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romanUcPeriod"/>
            </a:pPr>
            <a:r>
              <a:rPr lang="es"/>
              <a:t>Diarrea  (4, 5, 6, 7, 8, 9, 12, 13, 15).</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Proceso diagnóstico / Razonamiento  </a:t>
            </a:r>
            <a:endParaRPr/>
          </a:p>
        </p:txBody>
      </p:sp>
      <p:sp>
        <p:nvSpPr>
          <p:cNvPr id="402" name="Google Shape;402;p45"/>
          <p:cNvSpPr txBox="1"/>
          <p:nvPr>
            <p:ph idx="1" type="body"/>
          </p:nvPr>
        </p:nvSpPr>
        <p:spPr>
          <a:xfrm>
            <a:off x="311700" y="1152475"/>
            <a:ext cx="8520600" cy="2286300"/>
          </a:xfrm>
          <a:prstGeom prst="rect">
            <a:avLst/>
          </a:prstGeom>
          <a:solidFill>
            <a:srgbClr val="CFE2F3"/>
          </a:solidFill>
        </p:spPr>
        <p:txBody>
          <a:bodyPr anchorCtr="0" anchor="t" bIns="91425" lIns="91425" spcFirstLastPara="1" rIns="91425" wrap="square" tIns="91425">
            <a:normAutofit/>
          </a:bodyPr>
          <a:lstStyle/>
          <a:p>
            <a:pPr indent="0" lvl="0" marL="0" rtl="0" algn="just">
              <a:spcBef>
                <a:spcPts val="0"/>
              </a:spcBef>
              <a:spcAft>
                <a:spcPts val="0"/>
              </a:spcAft>
              <a:buNone/>
            </a:pPr>
            <a:r>
              <a:rPr lang="es" sz="1600"/>
              <a:t>Para estas alturas, seguramente ya tienes en mente algunos </a:t>
            </a:r>
            <a:r>
              <a:rPr lang="es" sz="1600"/>
              <a:t>diagnósticos</a:t>
            </a:r>
            <a:r>
              <a:rPr lang="es" sz="1600"/>
              <a:t> </a:t>
            </a:r>
            <a:r>
              <a:rPr lang="es" sz="1600"/>
              <a:t>diferenciales</a:t>
            </a:r>
            <a:r>
              <a:rPr lang="es" sz="1600"/>
              <a:t> que cubren y/o  </a:t>
            </a:r>
            <a:r>
              <a:rPr lang="es" sz="1600"/>
              <a:t>justifican</a:t>
            </a:r>
            <a:r>
              <a:rPr lang="es" sz="1600"/>
              <a:t> todas o algunas de las alteraciones </a:t>
            </a:r>
            <a:r>
              <a:rPr lang="es" sz="1600"/>
              <a:t>clínicas</a:t>
            </a:r>
            <a:r>
              <a:rPr lang="es" sz="1600"/>
              <a:t> en Milagros. </a:t>
            </a:r>
            <a:endParaRPr sz="1600"/>
          </a:p>
          <a:p>
            <a:pPr indent="0" lvl="0" marL="0" rtl="0" algn="just">
              <a:spcBef>
                <a:spcPts val="1200"/>
              </a:spcBef>
              <a:spcAft>
                <a:spcPts val="0"/>
              </a:spcAft>
              <a:buNone/>
            </a:pPr>
            <a:r>
              <a:rPr lang="es" sz="1600"/>
              <a:t>A </a:t>
            </a:r>
            <a:r>
              <a:rPr lang="es" sz="1600"/>
              <a:t>continuación</a:t>
            </a:r>
            <a:r>
              <a:rPr lang="es" sz="1600"/>
              <a:t> se debe plantear una lista de </a:t>
            </a:r>
            <a:r>
              <a:rPr lang="es" sz="1600"/>
              <a:t>diagnósticos</a:t>
            </a:r>
            <a:r>
              <a:rPr lang="es" sz="1600"/>
              <a:t> diferenciales para cada uno de los problemas maestros. Existe una nemotecnia que te </a:t>
            </a:r>
            <a:r>
              <a:rPr lang="es" sz="1600"/>
              <a:t>ayudará</a:t>
            </a:r>
            <a:r>
              <a:rPr lang="es" sz="1600"/>
              <a:t> a recordar los procesos </a:t>
            </a:r>
            <a:r>
              <a:rPr lang="es" sz="1600"/>
              <a:t>fisiopatológicos</a:t>
            </a:r>
            <a:r>
              <a:rPr lang="es" sz="1600"/>
              <a:t> que </a:t>
            </a:r>
            <a:r>
              <a:rPr lang="es" sz="1600"/>
              <a:t>podrían</a:t>
            </a:r>
            <a:r>
              <a:rPr lang="es" sz="1600"/>
              <a:t> estar involucrados: </a:t>
            </a:r>
            <a:r>
              <a:rPr lang="es"/>
              <a:t>DAMNIT</a:t>
            </a:r>
            <a:endParaRPr/>
          </a:p>
          <a:p>
            <a:pPr indent="0" lvl="0" marL="0" rtl="0" algn="just">
              <a:spcBef>
                <a:spcPts val="1200"/>
              </a:spcBef>
              <a:spcAft>
                <a:spcPts val="1200"/>
              </a:spcAft>
              <a:buNone/>
            </a:pPr>
            <a:r>
              <a:t/>
            </a:r>
            <a:endParaRPr sz="1600"/>
          </a:p>
        </p:txBody>
      </p:sp>
      <p:sp>
        <p:nvSpPr>
          <p:cNvPr id="403" name="Google Shape;403;p45"/>
          <p:cNvSpPr txBox="1"/>
          <p:nvPr/>
        </p:nvSpPr>
        <p:spPr>
          <a:xfrm>
            <a:off x="311700" y="3740275"/>
            <a:ext cx="8641800" cy="7389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Coloca debajo de cada letra de la </a:t>
            </a:r>
            <a:r>
              <a:rPr lang="es" sz="1800">
                <a:solidFill>
                  <a:schemeClr val="dk2"/>
                </a:solidFill>
              </a:rPr>
              <a:t>mnemotecnia</a:t>
            </a:r>
            <a:r>
              <a:rPr lang="es" sz="1800">
                <a:solidFill>
                  <a:schemeClr val="dk2"/>
                </a:solidFill>
              </a:rPr>
              <a:t> ´DAMNIT´, los procesos a los que hacen referencia. </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type="title"/>
          </p:nvPr>
        </p:nvSpPr>
        <p:spPr>
          <a:xfrm>
            <a:off x="175575" y="19550"/>
            <a:ext cx="2688900" cy="890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Posibles causas de enfermedad </a:t>
            </a:r>
            <a:endParaRPr/>
          </a:p>
          <a:p>
            <a:pPr indent="0" lvl="0" marL="0" rtl="0" algn="l">
              <a:spcBef>
                <a:spcPts val="0"/>
              </a:spcBef>
              <a:spcAft>
                <a:spcPts val="0"/>
              </a:spcAft>
              <a:buNone/>
            </a:pPr>
            <a:r>
              <a:t/>
            </a:r>
            <a:endParaRPr/>
          </a:p>
        </p:txBody>
      </p:sp>
      <p:sp>
        <p:nvSpPr>
          <p:cNvPr id="409" name="Google Shape;409;p46"/>
          <p:cNvSpPr/>
          <p:nvPr/>
        </p:nvSpPr>
        <p:spPr>
          <a:xfrm flipH="1" rot="-989">
            <a:off x="30876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410" name="Google Shape;410;p46"/>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1" name="Google Shape;411;p46"/>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2" name="Google Shape;412;p46"/>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3" name="Google Shape;413;p46"/>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4" name="Google Shape;414;p46"/>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5" name="Google Shape;415;p46"/>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16" name="Google Shape;416;p46"/>
          <p:cNvSpPr/>
          <p:nvPr/>
        </p:nvSpPr>
        <p:spPr>
          <a:xfrm flipH="1" rot="-989">
            <a:off x="1821889"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417" name="Google Shape;417;p46"/>
          <p:cNvSpPr/>
          <p:nvPr/>
        </p:nvSpPr>
        <p:spPr>
          <a:xfrm flipH="1" rot="-989">
            <a:off x="333501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418" name="Google Shape;418;p46"/>
          <p:cNvSpPr/>
          <p:nvPr/>
        </p:nvSpPr>
        <p:spPr>
          <a:xfrm flipH="1" rot="-989">
            <a:off x="4848139"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419" name="Google Shape;419;p46"/>
          <p:cNvSpPr/>
          <p:nvPr/>
        </p:nvSpPr>
        <p:spPr>
          <a:xfrm flipH="1" rot="-989">
            <a:off x="636126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420" name="Google Shape;420;p46"/>
          <p:cNvSpPr/>
          <p:nvPr/>
        </p:nvSpPr>
        <p:spPr>
          <a:xfrm flipH="1" rot="-989">
            <a:off x="780631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421" name="Google Shape;421;p46"/>
          <p:cNvSpPr/>
          <p:nvPr/>
        </p:nvSpPr>
        <p:spPr>
          <a:xfrm>
            <a:off x="328857" y="1003172"/>
            <a:ext cx="151281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422" name="Google Shape;422;p46"/>
          <p:cNvSpPr/>
          <p:nvPr/>
        </p:nvSpPr>
        <p:spPr>
          <a:xfrm>
            <a:off x="4022989" y="1878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423" name="Google Shape;423;p46"/>
          <p:cNvSpPr/>
          <p:nvPr/>
        </p:nvSpPr>
        <p:spPr>
          <a:xfrm>
            <a:off x="4022989" y="8873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424" name="Google Shape;424;p46"/>
          <p:cNvSpPr/>
          <p:nvPr/>
        </p:nvSpPr>
        <p:spPr>
          <a:xfrm>
            <a:off x="2445507" y="69866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425" name="Google Shape;425;p46"/>
          <p:cNvSpPr/>
          <p:nvPr/>
        </p:nvSpPr>
        <p:spPr>
          <a:xfrm>
            <a:off x="328857" y="1346342"/>
            <a:ext cx="1512818" cy="23675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Tisular</a:t>
            </a:r>
            <a:endParaRPr/>
          </a:p>
        </p:txBody>
      </p:sp>
      <p:sp>
        <p:nvSpPr>
          <p:cNvPr id="426" name="Google Shape;426;p46"/>
          <p:cNvSpPr/>
          <p:nvPr/>
        </p:nvSpPr>
        <p:spPr>
          <a:xfrm>
            <a:off x="4022989" y="51597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Valvular</a:t>
            </a:r>
            <a:endParaRPr/>
          </a:p>
        </p:txBody>
      </p:sp>
      <p:sp>
        <p:nvSpPr>
          <p:cNvPr id="427" name="Google Shape;427;p46"/>
          <p:cNvSpPr/>
          <p:nvPr/>
        </p:nvSpPr>
        <p:spPr>
          <a:xfrm>
            <a:off x="5712132" y="51493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428" name="Google Shape;428;p46"/>
          <p:cNvSpPr/>
          <p:nvPr/>
        </p:nvSpPr>
        <p:spPr>
          <a:xfrm>
            <a:off x="5712132" y="108922"/>
            <a:ext cx="1512818"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429" name="Google Shape;429;p46"/>
          <p:cNvSpPr/>
          <p:nvPr/>
        </p:nvSpPr>
        <p:spPr>
          <a:xfrm>
            <a:off x="7558364" y="15012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430" name="Google Shape;430;p46"/>
          <p:cNvSpPr/>
          <p:nvPr/>
        </p:nvSpPr>
        <p:spPr>
          <a:xfrm>
            <a:off x="7558364" y="54590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Misceláneo</a:t>
            </a:r>
            <a:endParaRPr sz="1000">
              <a:solidFill>
                <a:srgbClr val="000000"/>
              </a:solidFill>
              <a:latin typeface="Calibri"/>
              <a:ea typeface="Calibri"/>
              <a:cs typeface="Calibri"/>
              <a:sym typeface="Calibri"/>
            </a:endParaRPr>
          </a:p>
        </p:txBody>
      </p:sp>
      <p:sp>
        <p:nvSpPr>
          <p:cNvPr id="431" name="Google Shape;431;p46"/>
          <p:cNvSpPr/>
          <p:nvPr/>
        </p:nvSpPr>
        <p:spPr>
          <a:xfrm>
            <a:off x="7558364" y="94168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32" name="Google Shape;432;p46"/>
          <p:cNvSpPr/>
          <p:nvPr/>
        </p:nvSpPr>
        <p:spPr>
          <a:xfrm>
            <a:off x="5712132" y="9103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33" name="Google Shape;433;p46"/>
          <p:cNvSpPr/>
          <p:nvPr/>
        </p:nvSpPr>
        <p:spPr>
          <a:xfrm>
            <a:off x="5712132" y="129974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34" name="Google Shape;434;p46"/>
          <p:cNvSpPr/>
          <p:nvPr/>
        </p:nvSpPr>
        <p:spPr>
          <a:xfrm>
            <a:off x="7559492" y="13502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Distrófico</a:t>
            </a:r>
            <a:endParaRPr/>
          </a:p>
        </p:txBody>
      </p:sp>
      <p:sp>
        <p:nvSpPr>
          <p:cNvPr id="435" name="Google Shape;435;p46"/>
          <p:cNvSpPr/>
          <p:nvPr/>
        </p:nvSpPr>
        <p:spPr>
          <a:xfrm>
            <a:off x="2176195" y="1433232"/>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36" name="Google Shape;436;p46"/>
          <p:cNvSpPr/>
          <p:nvPr/>
        </p:nvSpPr>
        <p:spPr>
          <a:xfrm>
            <a:off x="2176195" y="1852868"/>
            <a:ext cx="1512818" cy="2373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Idiopático</a:t>
            </a:r>
            <a:endParaRPr/>
          </a:p>
        </p:txBody>
      </p:sp>
      <p:sp>
        <p:nvSpPr>
          <p:cNvPr id="437" name="Google Shape;437;p46"/>
          <p:cNvSpPr/>
          <p:nvPr/>
        </p:nvSpPr>
        <p:spPr>
          <a:xfrm>
            <a:off x="4023555" y="1165891"/>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38" name="Google Shape;438;p46"/>
          <p:cNvSpPr/>
          <p:nvPr/>
        </p:nvSpPr>
        <p:spPr>
          <a:xfrm>
            <a:off x="4023555" y="190389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39" name="Google Shape;439;p46"/>
          <p:cNvSpPr/>
          <p:nvPr/>
        </p:nvSpPr>
        <p:spPr>
          <a:xfrm>
            <a:off x="2176195" y="1065938"/>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Nutracéutico</a:t>
            </a:r>
            <a:endParaRPr/>
          </a:p>
        </p:txBody>
      </p:sp>
      <p:sp>
        <p:nvSpPr>
          <p:cNvPr id="440" name="Google Shape;440;p46"/>
          <p:cNvSpPr/>
          <p:nvPr/>
        </p:nvSpPr>
        <p:spPr>
          <a:xfrm>
            <a:off x="4023555" y="1530603"/>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Innato</a:t>
            </a:r>
            <a:endParaRPr sz="1000">
              <a:solidFill>
                <a:srgbClr val="000000"/>
              </a:solidFill>
              <a:latin typeface="Calibri"/>
              <a:ea typeface="Calibri"/>
              <a:cs typeface="Calibri"/>
              <a:sym typeface="Calibri"/>
            </a:endParaRPr>
          </a:p>
        </p:txBody>
      </p:sp>
      <p:sp>
        <p:nvSpPr>
          <p:cNvPr id="441" name="Google Shape;441;p46"/>
          <p:cNvSpPr/>
          <p:nvPr/>
        </p:nvSpPr>
        <p:spPr>
          <a:xfrm>
            <a:off x="7559492" y="174699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Vascular</a:t>
            </a:r>
            <a:endParaRPr sz="1000">
              <a:solidFill>
                <a:srgbClr val="000000"/>
              </a:solidFill>
              <a:latin typeface="Calibri"/>
              <a:ea typeface="Calibri"/>
              <a:cs typeface="Calibri"/>
              <a:sym typeface="Calibri"/>
            </a:endParaRPr>
          </a:p>
        </p:txBody>
      </p:sp>
      <p:sp>
        <p:nvSpPr>
          <p:cNvPr id="442" name="Google Shape;442;p46"/>
          <p:cNvSpPr/>
          <p:nvPr/>
        </p:nvSpPr>
        <p:spPr>
          <a:xfrm>
            <a:off x="5712132" y="1717320"/>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Mórbido</a:t>
            </a:r>
            <a:endParaRPr sz="800">
              <a:solidFill>
                <a:srgbClr val="000000"/>
              </a:solidFill>
              <a:latin typeface="Calibri"/>
              <a:ea typeface="Calibri"/>
              <a:cs typeface="Calibri"/>
              <a:sym typeface="Calibri"/>
            </a:endParaRPr>
          </a:p>
        </p:txBody>
      </p:sp>
      <p:sp>
        <p:nvSpPr>
          <p:cNvPr id="443" name="Google Shape;443;p46"/>
          <p:cNvSpPr/>
          <p:nvPr/>
        </p:nvSpPr>
        <p:spPr>
          <a:xfrm>
            <a:off x="328857" y="1717322"/>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Atenuante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7"/>
          <p:cNvSpPr/>
          <p:nvPr/>
        </p:nvSpPr>
        <p:spPr>
          <a:xfrm flipH="1" rot="-989">
            <a:off x="30876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449" name="Google Shape;449;p47"/>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0" name="Google Shape;450;p47"/>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1" name="Google Shape;451;p47"/>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2" name="Google Shape;452;p47"/>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3" name="Google Shape;453;p47"/>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4" name="Google Shape;454;p47"/>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55" name="Google Shape;455;p47"/>
          <p:cNvSpPr/>
          <p:nvPr/>
        </p:nvSpPr>
        <p:spPr>
          <a:xfrm flipH="1" rot="-989">
            <a:off x="1821889"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456" name="Google Shape;456;p47"/>
          <p:cNvSpPr/>
          <p:nvPr/>
        </p:nvSpPr>
        <p:spPr>
          <a:xfrm flipH="1" rot="-989">
            <a:off x="333501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457" name="Google Shape;457;p47"/>
          <p:cNvSpPr/>
          <p:nvPr/>
        </p:nvSpPr>
        <p:spPr>
          <a:xfrm flipH="1" rot="-989">
            <a:off x="4848139"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458" name="Google Shape;458;p47"/>
          <p:cNvSpPr/>
          <p:nvPr/>
        </p:nvSpPr>
        <p:spPr>
          <a:xfrm flipH="1" rot="-989">
            <a:off x="636126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459" name="Google Shape;459;p47"/>
          <p:cNvSpPr/>
          <p:nvPr/>
        </p:nvSpPr>
        <p:spPr>
          <a:xfrm flipH="1" rot="-989">
            <a:off x="7806314" y="2114231"/>
            <a:ext cx="1042500" cy="573000"/>
          </a:xfrm>
          <a:prstGeom prst="roundRect">
            <a:avLst>
              <a:gd fmla="val 16667" name="adj"/>
            </a:avLst>
          </a:prstGeom>
          <a:solidFill>
            <a:srgbClr val="F1C232"/>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460" name="Google Shape;460;p47"/>
          <p:cNvSpPr/>
          <p:nvPr/>
        </p:nvSpPr>
        <p:spPr>
          <a:xfrm>
            <a:off x="308098" y="2847975"/>
            <a:ext cx="1043844"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461" name="Google Shape;461;p47"/>
          <p:cNvSpPr/>
          <p:nvPr/>
        </p:nvSpPr>
        <p:spPr>
          <a:xfrm>
            <a:off x="1841671" y="2927175"/>
            <a:ext cx="1021152"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462" name="Google Shape;462;p47"/>
          <p:cNvSpPr/>
          <p:nvPr/>
        </p:nvSpPr>
        <p:spPr>
          <a:xfrm>
            <a:off x="1821897" y="33150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463" name="Google Shape;463;p47"/>
          <p:cNvSpPr/>
          <p:nvPr/>
        </p:nvSpPr>
        <p:spPr>
          <a:xfrm>
            <a:off x="7810403" y="3442575"/>
            <a:ext cx="86608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464" name="Google Shape;464;p47"/>
          <p:cNvSpPr/>
          <p:nvPr/>
        </p:nvSpPr>
        <p:spPr>
          <a:xfrm>
            <a:off x="328852" y="3163350"/>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465" name="Google Shape;465;p47"/>
          <p:cNvSpPr/>
          <p:nvPr/>
        </p:nvSpPr>
        <p:spPr>
          <a:xfrm>
            <a:off x="4849722" y="292717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66" name="Google Shape;466;p47"/>
          <p:cNvSpPr/>
          <p:nvPr/>
        </p:nvSpPr>
        <p:spPr>
          <a:xfrm>
            <a:off x="1821902" y="36052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67" name="Google Shape;467;p47"/>
          <p:cNvSpPr/>
          <p:nvPr/>
        </p:nvSpPr>
        <p:spPr>
          <a:xfrm>
            <a:off x="7807475" y="2948074"/>
            <a:ext cx="86608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68" name="Google Shape;468;p47"/>
          <p:cNvSpPr/>
          <p:nvPr/>
        </p:nvSpPr>
        <p:spPr>
          <a:xfrm>
            <a:off x="4846798" y="3265550"/>
            <a:ext cx="1043844"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69" name="Google Shape;469;p47"/>
          <p:cNvSpPr/>
          <p:nvPr/>
        </p:nvSpPr>
        <p:spPr>
          <a:xfrm>
            <a:off x="6298351" y="3011100"/>
            <a:ext cx="1104357"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70" name="Google Shape;470;p47"/>
          <p:cNvSpPr/>
          <p:nvPr/>
        </p:nvSpPr>
        <p:spPr>
          <a:xfrm>
            <a:off x="3313602" y="2914475"/>
            <a:ext cx="1043844"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471" name="Google Shape;471;p47"/>
          <p:cNvSpPr/>
          <p:nvPr/>
        </p:nvSpPr>
        <p:spPr>
          <a:xfrm>
            <a:off x="3260522" y="32918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472" name="Google Shape;472;p47"/>
          <p:cNvSpPr/>
          <p:nvPr/>
        </p:nvSpPr>
        <p:spPr>
          <a:xfrm>
            <a:off x="6298351" y="3460425"/>
            <a:ext cx="1104357"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73" name="Google Shape;473;p47"/>
          <p:cNvSpPr txBox="1"/>
          <p:nvPr/>
        </p:nvSpPr>
        <p:spPr>
          <a:xfrm>
            <a:off x="2819250" y="49250"/>
            <a:ext cx="60420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¡Excelente! Ahora tenemos bien ubicados los procesos fisiopatológicos del </a:t>
            </a:r>
            <a:r>
              <a:rPr lang="es">
                <a:solidFill>
                  <a:schemeClr val="dk2"/>
                </a:solidFill>
                <a:latin typeface="Times New Roman"/>
                <a:ea typeface="Times New Roman"/>
                <a:cs typeface="Times New Roman"/>
                <a:sym typeface="Times New Roman"/>
              </a:rPr>
              <a:t>método</a:t>
            </a:r>
            <a:r>
              <a:rPr lang="es">
                <a:solidFill>
                  <a:schemeClr val="dk2"/>
                </a:solidFill>
                <a:latin typeface="Times New Roman"/>
                <a:ea typeface="Times New Roman"/>
                <a:cs typeface="Times New Roman"/>
                <a:sym typeface="Times New Roman"/>
              </a:rPr>
              <a:t> DAMNIT. </a:t>
            </a:r>
            <a:endParaRPr>
              <a:solidFill>
                <a:schemeClr val="dk2"/>
              </a:solidFill>
              <a:latin typeface="Times New Roman"/>
              <a:ea typeface="Times New Roman"/>
              <a:cs typeface="Times New Roman"/>
              <a:sym typeface="Times New Roman"/>
            </a:endParaRPr>
          </a:p>
        </p:txBody>
      </p:sp>
      <p:sp>
        <p:nvSpPr>
          <p:cNvPr id="474" name="Google Shape;474;p47"/>
          <p:cNvSpPr txBox="1"/>
          <p:nvPr/>
        </p:nvSpPr>
        <p:spPr>
          <a:xfrm>
            <a:off x="2819250" y="1024725"/>
            <a:ext cx="6162900" cy="615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incorrecta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Revisa con detenimiento cada proceso fisiopatológico de nuevo. </a:t>
            </a:r>
            <a:endParaRPr>
              <a:solidFill>
                <a:schemeClr val="dk2"/>
              </a:solidFill>
              <a:latin typeface="Times New Roman"/>
              <a:ea typeface="Times New Roman"/>
              <a:cs typeface="Times New Roman"/>
              <a:sym typeface="Times New Roman"/>
            </a:endParaRPr>
          </a:p>
        </p:txBody>
      </p:sp>
      <p:sp>
        <p:nvSpPr>
          <p:cNvPr id="475" name="Google Shape;475;p47"/>
          <p:cNvSpPr txBox="1"/>
          <p:nvPr>
            <p:ph type="title"/>
          </p:nvPr>
        </p:nvSpPr>
        <p:spPr>
          <a:xfrm>
            <a:off x="175575" y="19550"/>
            <a:ext cx="2688900" cy="890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Posibles causas de enfermedad </a:t>
            </a:r>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8"/>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81" name="Google Shape;481;p48"/>
          <p:cNvGraphicFramePr/>
          <p:nvPr/>
        </p:nvGraphicFramePr>
        <p:xfrm>
          <a:off x="311711" y="651655"/>
          <a:ext cx="3000000" cy="3000000"/>
        </p:xfrm>
        <a:graphic>
          <a:graphicData uri="http://schemas.openxmlformats.org/drawingml/2006/table">
            <a:tbl>
              <a:tblPr>
                <a:noFill/>
                <a:tableStyleId>{13D016F6-B1C5-4CB8-85F2-C582BF4E0029}</a:tableStyleId>
              </a:tblPr>
              <a:tblGrid>
                <a:gridCol w="4028050"/>
                <a:gridCol w="45982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82" name="Google Shape;482;p48"/>
          <p:cNvSpPr txBox="1"/>
          <p:nvPr/>
        </p:nvSpPr>
        <p:spPr>
          <a:xfrm>
            <a:off x="5090050" y="1516550"/>
            <a:ext cx="39111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AutoNum type="romanUcPeriod"/>
            </a:pPr>
            <a:r>
              <a:rPr lang="es">
                <a:solidFill>
                  <a:schemeClr val="dk2"/>
                </a:solidFill>
              </a:rPr>
              <a:t>Secreción nasal </a:t>
            </a:r>
            <a:r>
              <a:rPr lang="es">
                <a:solidFill>
                  <a:schemeClr val="dk2"/>
                </a:solidFill>
              </a:rPr>
              <a:t>( 3, 6, 10, 12, 13, 14, 15).</a:t>
            </a:r>
            <a:endParaRPr>
              <a:solidFill>
                <a:schemeClr val="dk2"/>
              </a:solidFill>
            </a:endParaRPr>
          </a:p>
          <a:p>
            <a:pPr indent="-317500" lvl="0" marL="457200" rtl="0" algn="l">
              <a:lnSpc>
                <a:spcPct val="115000"/>
              </a:lnSpc>
              <a:spcBef>
                <a:spcPts val="0"/>
              </a:spcBef>
              <a:spcAft>
                <a:spcPts val="0"/>
              </a:spcAft>
              <a:buClr>
                <a:schemeClr val="dk2"/>
              </a:buClr>
              <a:buSzPts val="1400"/>
              <a:buAutoNum type="romanUcPeriod"/>
            </a:pPr>
            <a:r>
              <a:rPr lang="es">
                <a:solidFill>
                  <a:schemeClr val="dk2"/>
                </a:solidFill>
              </a:rPr>
              <a:t>Diarrea  (4, 5, 6, 7, 8, 9, 12, 13, 15).</a:t>
            </a:r>
            <a:endParaRPr>
              <a:solidFill>
                <a:schemeClr val="dk2"/>
              </a:solidFill>
            </a:endParaRPr>
          </a:p>
        </p:txBody>
      </p:sp>
      <p:sp>
        <p:nvSpPr>
          <p:cNvPr id="483" name="Google Shape;483;p48"/>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están relacionados con cada problema maestro. </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9"/>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89" name="Google Shape;489;p49"/>
          <p:cNvGraphicFramePr/>
          <p:nvPr/>
        </p:nvGraphicFramePr>
        <p:xfrm>
          <a:off x="311711" y="651655"/>
          <a:ext cx="3000000" cy="3000000"/>
        </p:xfrm>
        <a:graphic>
          <a:graphicData uri="http://schemas.openxmlformats.org/drawingml/2006/table">
            <a:tbl>
              <a:tblPr>
                <a:noFill/>
                <a:tableStyleId>{13D016F6-B1C5-4CB8-85F2-C582BF4E0029}</a:tableStyleId>
              </a:tblPr>
              <a:tblGrid>
                <a:gridCol w="3688800"/>
                <a:gridCol w="79907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90" name="Google Shape;490;p49"/>
          <p:cNvSpPr txBox="1"/>
          <p:nvPr/>
        </p:nvSpPr>
        <p:spPr>
          <a:xfrm>
            <a:off x="5090050" y="1580675"/>
            <a:ext cx="39111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AutoNum type="romanUcPeriod"/>
            </a:pPr>
            <a:r>
              <a:rPr b="1" lang="es" sz="1800">
                <a:solidFill>
                  <a:schemeClr val="dk2"/>
                </a:solidFill>
              </a:rPr>
              <a:t>Secreción nasal ( 3, 6, 10, 12, 13, 14, 15).</a:t>
            </a:r>
            <a:endParaRPr b="1" sz="1800">
              <a:solidFill>
                <a:schemeClr val="dk2"/>
              </a:solidFill>
            </a:endParaRPr>
          </a:p>
        </p:txBody>
      </p:sp>
      <p:sp>
        <p:nvSpPr>
          <p:cNvPr id="491" name="Google Shape;491;p49"/>
          <p:cNvSpPr txBox="1"/>
          <p:nvPr/>
        </p:nvSpPr>
        <p:spPr>
          <a:xfrm>
            <a:off x="5231575" y="2297450"/>
            <a:ext cx="33831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¡Perfecto! Lograste relacionar el primer problema maestro de tu paciente con los procesos patológicos del DAMNIT correctamente.</a:t>
            </a:r>
            <a:r>
              <a:rPr lang="es" sz="1800">
                <a:solidFill>
                  <a:schemeClr val="dk2"/>
                </a:solidFill>
              </a:rPr>
              <a:t> </a:t>
            </a:r>
            <a:endParaRPr sz="1800">
              <a:solidFill>
                <a:schemeClr val="dk2"/>
              </a:solidFill>
            </a:endParaRPr>
          </a:p>
        </p:txBody>
      </p:sp>
      <p:sp>
        <p:nvSpPr>
          <p:cNvPr id="492" name="Google Shape;492;p49"/>
          <p:cNvSpPr txBox="1"/>
          <p:nvPr/>
        </p:nvSpPr>
        <p:spPr>
          <a:xfrm>
            <a:off x="5231575" y="3750825"/>
            <a:ext cx="3383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incorrecta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Analiza detenidamente todos los datos que tienes y qué proceso fisiopatológico puede estar relacionado.</a:t>
            </a:r>
            <a:endParaRPr>
              <a:solidFill>
                <a:schemeClr val="dk2"/>
              </a:solidFill>
              <a:latin typeface="Times New Roman"/>
              <a:ea typeface="Times New Roman"/>
              <a:cs typeface="Times New Roman"/>
              <a:sym typeface="Times New Roman"/>
            </a:endParaRPr>
          </a:p>
        </p:txBody>
      </p:sp>
      <p:sp>
        <p:nvSpPr>
          <p:cNvPr id="493" name="Google Shape;493;p49"/>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están relacionados con cada problema maestro. </a:t>
            </a:r>
            <a:endParaRPr sz="1800">
              <a:solidFill>
                <a:schemeClr val="dk2"/>
              </a:solidFill>
            </a:endParaRPr>
          </a:p>
        </p:txBody>
      </p:sp>
      <p:sp>
        <p:nvSpPr>
          <p:cNvPr id="494" name="Google Shape;494;p49"/>
          <p:cNvSpPr/>
          <p:nvPr/>
        </p:nvSpPr>
        <p:spPr>
          <a:xfrm>
            <a:off x="4147825" y="36689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49"/>
          <p:cNvSpPr/>
          <p:nvPr/>
        </p:nvSpPr>
        <p:spPr>
          <a:xfrm>
            <a:off x="4147825" y="33946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49"/>
          <p:cNvSpPr/>
          <p:nvPr/>
        </p:nvSpPr>
        <p:spPr>
          <a:xfrm>
            <a:off x="4147825" y="31203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0"/>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502" name="Google Shape;502;p50"/>
          <p:cNvGraphicFramePr/>
          <p:nvPr/>
        </p:nvGraphicFramePr>
        <p:xfrm>
          <a:off x="311711" y="651655"/>
          <a:ext cx="3000000" cy="3000000"/>
        </p:xfrm>
        <a:graphic>
          <a:graphicData uri="http://schemas.openxmlformats.org/drawingml/2006/table">
            <a:tbl>
              <a:tblPr>
                <a:noFill/>
                <a:tableStyleId>{13D016F6-B1C5-4CB8-85F2-C582BF4E0029}</a:tableStyleId>
              </a:tblPr>
              <a:tblGrid>
                <a:gridCol w="3741000"/>
                <a:gridCol w="74687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503" name="Google Shape;503;p50"/>
          <p:cNvSpPr txBox="1"/>
          <p:nvPr/>
        </p:nvSpPr>
        <p:spPr>
          <a:xfrm>
            <a:off x="5090050" y="1570150"/>
            <a:ext cx="3911100" cy="1275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AutoNum type="romanUcPeriod"/>
            </a:pPr>
            <a:r>
              <a:rPr lang="es">
                <a:solidFill>
                  <a:schemeClr val="dk2"/>
                </a:solidFill>
              </a:rPr>
              <a:t>Secreción nasal ( 3, 6, 10, 12, 13, 14, 15).</a:t>
            </a:r>
            <a:endParaRPr>
              <a:solidFill>
                <a:schemeClr val="dk2"/>
              </a:solidFill>
            </a:endParaRPr>
          </a:p>
          <a:p>
            <a:pPr indent="-342900" lvl="0" marL="457200" rtl="0" algn="l">
              <a:lnSpc>
                <a:spcPct val="115000"/>
              </a:lnSpc>
              <a:spcBef>
                <a:spcPts val="0"/>
              </a:spcBef>
              <a:spcAft>
                <a:spcPts val="0"/>
              </a:spcAft>
              <a:buClr>
                <a:schemeClr val="dk2"/>
              </a:buClr>
              <a:buSzPts val="1800"/>
              <a:buAutoNum type="romanUcPeriod"/>
            </a:pPr>
            <a:r>
              <a:rPr b="1" lang="es" sz="1800">
                <a:solidFill>
                  <a:schemeClr val="dk2"/>
                </a:solidFill>
              </a:rPr>
              <a:t>Diarrea  (4, 5, 6, 7, 8, 9, 12, 13, 15).</a:t>
            </a:r>
            <a:endParaRPr b="1" sz="1800">
              <a:solidFill>
                <a:schemeClr val="dk2"/>
              </a:solidFill>
            </a:endParaRPr>
          </a:p>
        </p:txBody>
      </p:sp>
      <p:sp>
        <p:nvSpPr>
          <p:cNvPr id="504" name="Google Shape;504;p50"/>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a:t>
            </a:r>
            <a:r>
              <a:rPr lang="es" sz="1800">
                <a:solidFill>
                  <a:schemeClr val="dk2"/>
                </a:solidFill>
              </a:rPr>
              <a:t>e la lista de procesos DAMNIT, selecciona aquellos que están relacionados con cada problema maestro. </a:t>
            </a:r>
            <a:endParaRPr sz="1800">
              <a:solidFill>
                <a:schemeClr val="dk2"/>
              </a:solidFill>
            </a:endParaRPr>
          </a:p>
        </p:txBody>
      </p:sp>
      <p:sp>
        <p:nvSpPr>
          <p:cNvPr id="505" name="Google Shape;505;p50"/>
          <p:cNvSpPr/>
          <p:nvPr/>
        </p:nvSpPr>
        <p:spPr>
          <a:xfrm>
            <a:off x="4160225" y="25717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50"/>
          <p:cNvSpPr/>
          <p:nvPr/>
        </p:nvSpPr>
        <p:spPr>
          <a:xfrm>
            <a:off x="4160225" y="33946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50"/>
          <p:cNvSpPr/>
          <p:nvPr/>
        </p:nvSpPr>
        <p:spPr>
          <a:xfrm>
            <a:off x="4160225" y="17488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50"/>
          <p:cNvSpPr/>
          <p:nvPr/>
        </p:nvSpPr>
        <p:spPr>
          <a:xfrm>
            <a:off x="4160225" y="3668961"/>
            <a:ext cx="503100" cy="260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50"/>
          <p:cNvSpPr txBox="1"/>
          <p:nvPr/>
        </p:nvSpPr>
        <p:spPr>
          <a:xfrm>
            <a:off x="5231575" y="2451350"/>
            <a:ext cx="33831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¡Perfecto! Lograste relacionar el segundo problema maestro de tu paciente con los procesos patológicos del DAMNIT correctamente.</a:t>
            </a:r>
            <a:r>
              <a:rPr lang="es" sz="1800">
                <a:solidFill>
                  <a:schemeClr val="dk2"/>
                </a:solidFill>
              </a:rPr>
              <a:t> </a:t>
            </a:r>
            <a:endParaRPr sz="1800">
              <a:solidFill>
                <a:schemeClr val="dk2"/>
              </a:solidFill>
            </a:endParaRPr>
          </a:p>
        </p:txBody>
      </p:sp>
      <p:sp>
        <p:nvSpPr>
          <p:cNvPr id="510" name="Google Shape;510;p50"/>
          <p:cNvSpPr txBox="1"/>
          <p:nvPr/>
        </p:nvSpPr>
        <p:spPr>
          <a:xfrm>
            <a:off x="5231575" y="3929050"/>
            <a:ext cx="3383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Retroalimentación incorrecta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Analiza detenidamente todos los datos que tienes y qué proceso fisiopatológico puede estar relacionado.</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1"/>
          <p:cNvSpPr txBox="1"/>
          <p:nvPr>
            <p:ph type="title"/>
          </p:nvPr>
        </p:nvSpPr>
        <p:spPr>
          <a:xfrm>
            <a:off x="311700" y="445025"/>
            <a:ext cx="4749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Lluvia de enfermedades </a:t>
            </a:r>
            <a:endParaRPr/>
          </a:p>
        </p:txBody>
      </p:sp>
      <p:graphicFrame>
        <p:nvGraphicFramePr>
          <p:cNvPr id="516" name="Google Shape;516;p51"/>
          <p:cNvGraphicFramePr/>
          <p:nvPr/>
        </p:nvGraphicFramePr>
        <p:xfrm>
          <a:off x="311692" y="1126313"/>
          <a:ext cx="3000000" cy="3000000"/>
        </p:xfrm>
        <a:graphic>
          <a:graphicData uri="http://schemas.openxmlformats.org/drawingml/2006/table">
            <a:tbl>
              <a:tblPr bandRow="1" firstRow="1">
                <a:noFill/>
                <a:tableStyleId>{C904ACC0-95A0-4183-87B4-51C2899AC0EF}</a:tableStyleId>
              </a:tblPr>
              <a:tblGrid>
                <a:gridCol w="1915150"/>
                <a:gridCol w="2894975"/>
              </a:tblGrid>
              <a:tr h="370850">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E69138"/>
                    </a:solidFill>
                  </a:tcPr>
                </a:tc>
              </a:tr>
              <a:tr h="12600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I: </a:t>
                      </a:r>
                      <a:r>
                        <a:rPr lang="es">
                          <a:solidFill>
                            <a:schemeClr val="dk2"/>
                          </a:solidFill>
                          <a:latin typeface="Times New Roman"/>
                          <a:ea typeface="Times New Roman"/>
                          <a:cs typeface="Times New Roman"/>
                          <a:sym typeface="Times New Roman"/>
                        </a:rPr>
                        <a:t>Secreción nasal ( 3, 6, 10, 12, 13, 14, 15).</a:t>
                      </a:r>
                      <a:endParaRPr>
                        <a:solidFill>
                          <a:schemeClr val="dk2"/>
                        </a:solidFill>
                        <a:latin typeface="Times New Roman"/>
                        <a:ea typeface="Times New Roman"/>
                        <a:cs typeface="Times New Roman"/>
                        <a:sym typeface="Times New Roman"/>
                      </a:endParaRPr>
                    </a:p>
                  </a:txBody>
                  <a:tcPr marT="45725" marB="45725" marR="91450" marL="91450" anchor="ctr">
                    <a:solidFill>
                      <a:srgbClr val="F9CB9C"/>
                    </a:solidFill>
                  </a:tcPr>
                </a:tc>
                <a:tc>
                  <a:txBody>
                    <a:bodyPr/>
                    <a:lstStyle/>
                    <a:p>
                      <a:pPr indent="0" lvl="0" marL="0" marR="0" rtl="0" algn="ctr">
                        <a:spcBef>
                          <a:spcPts val="0"/>
                        </a:spcBef>
                        <a:spcAft>
                          <a:spcPts val="0"/>
                        </a:spcAft>
                        <a:buNone/>
                      </a:pPr>
                      <a:r>
                        <a:t/>
                      </a:r>
                      <a:endParaRPr sz="1800"/>
                    </a:p>
                  </a:txBody>
                  <a:tcPr marT="45725" marB="45725" marR="91450" marL="91450" anchor="ctr">
                    <a:solidFill>
                      <a:srgbClr val="F9CB9C"/>
                    </a:solidFill>
                  </a:tcPr>
                </a:tc>
              </a:tr>
              <a:tr h="1260000">
                <a:tc>
                  <a:txBody>
                    <a:bodyPr/>
                    <a:lstStyle/>
                    <a:p>
                      <a:pPr indent="0" lvl="0" marL="0" marR="0" rtl="0" algn="l">
                        <a:spcBef>
                          <a:spcPts val="0"/>
                        </a:spcBef>
                        <a:spcAft>
                          <a:spcPts val="0"/>
                        </a:spcAft>
                        <a:buNone/>
                      </a:pPr>
                      <a:r>
                        <a:rPr lang="es">
                          <a:latin typeface="Times New Roman"/>
                          <a:ea typeface="Times New Roman"/>
                          <a:cs typeface="Times New Roman"/>
                          <a:sym typeface="Times New Roman"/>
                        </a:rPr>
                        <a:t>II: </a:t>
                      </a:r>
                      <a:r>
                        <a:rPr lang="es">
                          <a:solidFill>
                            <a:schemeClr val="dk2"/>
                          </a:solidFill>
                          <a:latin typeface="Times New Roman"/>
                          <a:ea typeface="Times New Roman"/>
                          <a:cs typeface="Times New Roman"/>
                          <a:sym typeface="Times New Roman"/>
                        </a:rPr>
                        <a:t>D</a:t>
                      </a:r>
                      <a:r>
                        <a:rPr lang="es">
                          <a:solidFill>
                            <a:schemeClr val="dk2"/>
                          </a:solidFill>
                          <a:latin typeface="Times New Roman"/>
                          <a:ea typeface="Times New Roman"/>
                          <a:cs typeface="Times New Roman"/>
                          <a:sym typeface="Times New Roman"/>
                        </a:rPr>
                        <a:t>iarrea (4, 5, 6, 7, 8, 9, 12, 13, 15)</a:t>
                      </a:r>
                      <a:endParaRPr>
                        <a:latin typeface="Times New Roman"/>
                        <a:ea typeface="Times New Roman"/>
                        <a:cs typeface="Times New Roman"/>
                        <a:sym typeface="Times New Roman"/>
                      </a:endParaRPr>
                    </a:p>
                  </a:txBody>
                  <a:tcPr marT="45725" marB="45725" marR="91450" marL="91450" anchor="ctr">
                    <a:solidFill>
                      <a:srgbClr val="F9CB9C"/>
                    </a:solidFill>
                  </a:tcPr>
                </a:tc>
                <a:tc>
                  <a:txBody>
                    <a:bodyPr/>
                    <a:lstStyle/>
                    <a:p>
                      <a:pPr indent="0" lvl="0" marL="0" marR="0" rtl="0" algn="ctr">
                        <a:spcBef>
                          <a:spcPts val="0"/>
                        </a:spcBef>
                        <a:spcAft>
                          <a:spcPts val="0"/>
                        </a:spcAft>
                        <a:buNone/>
                      </a:pPr>
                      <a:r>
                        <a:t/>
                      </a:r>
                      <a:endParaRPr sz="1800"/>
                    </a:p>
                  </a:txBody>
                  <a:tcPr marT="45725" marB="45725" marR="91450" marL="91450" anchor="ctr">
                    <a:solidFill>
                      <a:srgbClr val="F9CB9C"/>
                    </a:solidFill>
                  </a:tcPr>
                </a:tc>
              </a:tr>
            </a:tbl>
          </a:graphicData>
        </a:graphic>
      </p:graphicFrame>
      <p:graphicFrame>
        <p:nvGraphicFramePr>
          <p:cNvPr id="517" name="Google Shape;517;p51"/>
          <p:cNvGraphicFramePr/>
          <p:nvPr/>
        </p:nvGraphicFramePr>
        <p:xfrm>
          <a:off x="5253850" y="1497175"/>
          <a:ext cx="3000000" cy="3000000"/>
        </p:xfrm>
        <a:graphic>
          <a:graphicData uri="http://schemas.openxmlformats.org/drawingml/2006/table">
            <a:tbl>
              <a:tblPr>
                <a:noFill/>
                <a:tableStyleId>{84BC8C95-1D40-486A-9443-D1563B821074}</a:tableStyleId>
              </a:tblPr>
              <a:tblGrid>
                <a:gridCol w="1894100"/>
                <a:gridCol w="1894100"/>
              </a:tblGrid>
              <a:tr h="2694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H</a:t>
                      </a:r>
                      <a:r>
                        <a:rPr lang="es">
                          <a:latin typeface="Times New Roman"/>
                          <a:ea typeface="Times New Roman"/>
                          <a:cs typeface="Times New Roman"/>
                          <a:sym typeface="Times New Roman"/>
                        </a:rPr>
                        <a:t>istofilosis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Mi</a:t>
                      </a:r>
                      <a:r>
                        <a:rPr lang="es">
                          <a:latin typeface="Times New Roman"/>
                          <a:ea typeface="Times New Roman"/>
                          <a:cs typeface="Times New Roman"/>
                          <a:sym typeface="Times New Roman"/>
                        </a:rPr>
                        <a:t>coplasmosis </a:t>
                      </a:r>
                      <a:endParaRPr>
                        <a:latin typeface="Times New Roman"/>
                        <a:ea typeface="Times New Roman"/>
                        <a:cs typeface="Times New Roman"/>
                        <a:sym typeface="Times New Roman"/>
                      </a:endParaRPr>
                    </a:p>
                  </a:txBody>
                  <a:tcPr marT="91425" marB="91425" marR="91425" marL="91425"/>
                </a:tc>
              </a:tr>
              <a:tr h="5388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N</a:t>
                      </a:r>
                      <a:r>
                        <a:rPr lang="es">
                          <a:latin typeface="Times New Roman"/>
                          <a:ea typeface="Times New Roman"/>
                          <a:cs typeface="Times New Roman"/>
                          <a:sym typeface="Times New Roman"/>
                        </a:rPr>
                        <a:t>eumonía</a:t>
                      </a:r>
                      <a:r>
                        <a:rPr lang="es">
                          <a:latin typeface="Times New Roman"/>
                          <a:ea typeface="Times New Roman"/>
                          <a:cs typeface="Times New Roman"/>
                          <a:sym typeface="Times New Roman"/>
                        </a:rPr>
                        <a:t> </a:t>
                      </a:r>
                      <a:r>
                        <a:rPr lang="es">
                          <a:latin typeface="Times New Roman"/>
                          <a:ea typeface="Times New Roman"/>
                          <a:cs typeface="Times New Roman"/>
                          <a:sym typeface="Times New Roman"/>
                        </a:rPr>
                        <a:t>tromboembólica</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Virus de parainfluenza bovina tipo 3 </a:t>
                      </a:r>
                      <a:endParaRPr>
                        <a:latin typeface="Times New Roman"/>
                        <a:ea typeface="Times New Roman"/>
                        <a:cs typeface="Times New Roman"/>
                        <a:sym typeface="Times New Roman"/>
                      </a:endParaRPr>
                    </a:p>
                  </a:txBody>
                  <a:tcPr marT="91425" marB="91425" marR="91425" marL="91425"/>
                </a:tc>
              </a:tr>
              <a:tr h="4041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D</a:t>
                      </a:r>
                      <a:r>
                        <a:rPr lang="es">
                          <a:latin typeface="Times New Roman"/>
                          <a:ea typeface="Times New Roman"/>
                          <a:cs typeface="Times New Roman"/>
                          <a:sym typeface="Times New Roman"/>
                        </a:rPr>
                        <a:t>iarrea viral bovina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Rinotraqueitis infecciosa bovina </a:t>
                      </a:r>
                      <a:endParaRPr>
                        <a:latin typeface="Times New Roman"/>
                        <a:ea typeface="Times New Roman"/>
                        <a:cs typeface="Times New Roman"/>
                        <a:sym typeface="Times New Roman"/>
                      </a:endParaRPr>
                    </a:p>
                  </a:txBody>
                  <a:tcPr marT="91425" marB="91425" marR="91425" marL="91425"/>
                </a:tc>
              </a:tr>
              <a:tr h="2694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A</a:t>
                      </a:r>
                      <a:r>
                        <a:rPr lang="es">
                          <a:latin typeface="Times New Roman"/>
                          <a:ea typeface="Times New Roman"/>
                          <a:cs typeface="Times New Roman"/>
                          <a:sym typeface="Times New Roman"/>
                        </a:rPr>
                        <a:t>cidosis ruminal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C</a:t>
                      </a:r>
                      <a:r>
                        <a:rPr lang="es">
                          <a:latin typeface="Times New Roman"/>
                          <a:ea typeface="Times New Roman"/>
                          <a:cs typeface="Times New Roman"/>
                          <a:sym typeface="Times New Roman"/>
                        </a:rPr>
                        <a:t>occidiosis</a:t>
                      </a:r>
                      <a:endParaRPr>
                        <a:latin typeface="Times New Roman"/>
                        <a:ea typeface="Times New Roman"/>
                        <a:cs typeface="Times New Roman"/>
                        <a:sym typeface="Times New Roman"/>
                      </a:endParaRPr>
                    </a:p>
                  </a:txBody>
                  <a:tcPr marT="91425" marB="91425" marR="91425" marL="91425"/>
                </a:tc>
              </a:tr>
              <a:tr h="281975">
                <a:tc>
                  <a:txBody>
                    <a:bodyPr/>
                    <a:lstStyle/>
                    <a:p>
                      <a:pPr indent="0" lvl="0" marL="0" rtl="0" algn="l">
                        <a:spcBef>
                          <a:spcPts val="0"/>
                        </a:spcBef>
                        <a:spcAft>
                          <a:spcPts val="0"/>
                        </a:spcAft>
                        <a:buNone/>
                      </a:pPr>
                      <a:r>
                        <a:rPr lang="es">
                          <a:latin typeface="Times New Roman"/>
                          <a:ea typeface="Times New Roman"/>
                          <a:cs typeface="Times New Roman"/>
                          <a:sym typeface="Times New Roman"/>
                        </a:rPr>
                        <a:t>C</a:t>
                      </a:r>
                      <a:r>
                        <a:rPr lang="es">
                          <a:latin typeface="Times New Roman"/>
                          <a:ea typeface="Times New Roman"/>
                          <a:cs typeface="Times New Roman"/>
                          <a:sym typeface="Times New Roman"/>
                        </a:rPr>
                        <a:t>oronavirus bovino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S</a:t>
                      </a:r>
                      <a:r>
                        <a:rPr lang="es">
                          <a:latin typeface="Times New Roman"/>
                          <a:ea typeface="Times New Roman"/>
                          <a:cs typeface="Times New Roman"/>
                          <a:sym typeface="Times New Roman"/>
                        </a:rPr>
                        <a:t>almonelosis </a:t>
                      </a:r>
                      <a:endParaRPr>
                        <a:latin typeface="Times New Roman"/>
                        <a:ea typeface="Times New Roman"/>
                        <a:cs typeface="Times New Roman"/>
                        <a:sym typeface="Times New Roman"/>
                      </a:endParaRPr>
                    </a:p>
                  </a:txBody>
                  <a:tcPr marT="91425" marB="91425" marR="91425" marL="91425"/>
                </a:tc>
              </a:tr>
              <a:tr h="2722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L</a:t>
                      </a:r>
                      <a:r>
                        <a:rPr lang="es">
                          <a:latin typeface="Times New Roman"/>
                          <a:ea typeface="Times New Roman"/>
                          <a:cs typeface="Times New Roman"/>
                          <a:sym typeface="Times New Roman"/>
                        </a:rPr>
                        <a:t>eucosis bovina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T</a:t>
                      </a:r>
                      <a:r>
                        <a:rPr lang="es">
                          <a:latin typeface="Times New Roman"/>
                          <a:ea typeface="Times New Roman"/>
                          <a:cs typeface="Times New Roman"/>
                          <a:sym typeface="Times New Roman"/>
                        </a:rPr>
                        <a:t>uberculosis bovina </a:t>
                      </a:r>
                      <a:endParaRPr>
                        <a:latin typeface="Times New Roman"/>
                        <a:ea typeface="Times New Roman"/>
                        <a:cs typeface="Times New Roman"/>
                        <a:sym typeface="Times New Roman"/>
                      </a:endParaRPr>
                    </a:p>
                  </a:txBody>
                  <a:tcPr marT="91425" marB="91425" marR="91425" marL="91425"/>
                </a:tc>
              </a:tr>
              <a:tr h="2713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F</a:t>
                      </a:r>
                      <a:r>
                        <a:rPr lang="es">
                          <a:latin typeface="Times New Roman"/>
                          <a:ea typeface="Times New Roman"/>
                          <a:cs typeface="Times New Roman"/>
                          <a:sym typeface="Times New Roman"/>
                        </a:rPr>
                        <a:t>asciolasis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Virus respiratorio sincitial bovino </a:t>
                      </a:r>
                      <a:endParaRPr>
                        <a:latin typeface="Times New Roman"/>
                        <a:ea typeface="Times New Roman"/>
                        <a:cs typeface="Times New Roman"/>
                        <a:sym typeface="Times New Roman"/>
                      </a:endParaRPr>
                    </a:p>
                  </a:txBody>
                  <a:tcPr marT="91425" marB="91425" marR="91425" marL="91425"/>
                </a:tc>
              </a:tr>
            </a:tbl>
          </a:graphicData>
        </a:graphic>
      </p:graphicFrame>
      <p:sp>
        <p:nvSpPr>
          <p:cNvPr id="518" name="Google Shape;518;p51"/>
          <p:cNvSpPr txBox="1"/>
          <p:nvPr/>
        </p:nvSpPr>
        <p:spPr>
          <a:xfrm>
            <a:off x="5446050" y="352000"/>
            <a:ext cx="3721800" cy="1108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De las enfermedades enlistadas a la derecha, selecciona y coloca aquellas que puedan explicar cada problema maestro. </a:t>
            </a:r>
            <a:endParaRPr sz="15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s"/>
              <a:t>L</a:t>
            </a:r>
            <a:r>
              <a:rPr lang="es"/>
              <a:t>luvia de enfermedades </a:t>
            </a:r>
            <a:endParaRPr/>
          </a:p>
          <a:p>
            <a:pPr indent="0" lvl="0" marL="0" rtl="0" algn="l">
              <a:spcBef>
                <a:spcPts val="0"/>
              </a:spcBef>
              <a:spcAft>
                <a:spcPts val="0"/>
              </a:spcAft>
              <a:buNone/>
            </a:pPr>
            <a:r>
              <a:t/>
            </a:r>
            <a:endParaRPr/>
          </a:p>
        </p:txBody>
      </p:sp>
      <p:graphicFrame>
        <p:nvGraphicFramePr>
          <p:cNvPr id="524" name="Google Shape;524;p52"/>
          <p:cNvGraphicFramePr/>
          <p:nvPr/>
        </p:nvGraphicFramePr>
        <p:xfrm>
          <a:off x="311692" y="1126313"/>
          <a:ext cx="3000000" cy="3000000"/>
        </p:xfrm>
        <a:graphic>
          <a:graphicData uri="http://schemas.openxmlformats.org/drawingml/2006/table">
            <a:tbl>
              <a:tblPr bandRow="1" firstRow="1">
                <a:noFill/>
                <a:tableStyleId>{C904ACC0-95A0-4183-87B4-51C2899AC0EF}</a:tableStyleId>
              </a:tblPr>
              <a:tblGrid>
                <a:gridCol w="1915150"/>
                <a:gridCol w="2894975"/>
              </a:tblGrid>
              <a:tr h="370850">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E69138"/>
                    </a:solidFill>
                  </a:tcPr>
                </a:tc>
              </a:tr>
              <a:tr h="1260000">
                <a:tc>
                  <a:txBody>
                    <a:bodyPr/>
                    <a:lstStyle/>
                    <a:p>
                      <a:pPr indent="0" lvl="0" marL="0" rtl="0" algn="l">
                        <a:lnSpc>
                          <a:spcPct val="115000"/>
                        </a:lnSpc>
                        <a:spcBef>
                          <a:spcPts val="0"/>
                        </a:spcBef>
                        <a:spcAft>
                          <a:spcPts val="1200"/>
                        </a:spcAft>
                        <a:buNone/>
                      </a:pPr>
                      <a:r>
                        <a:rPr lang="es">
                          <a:solidFill>
                            <a:schemeClr val="dk2"/>
                          </a:solidFill>
                          <a:latin typeface="Times New Roman"/>
                          <a:ea typeface="Times New Roman"/>
                          <a:cs typeface="Times New Roman"/>
                          <a:sym typeface="Times New Roman"/>
                        </a:rPr>
                        <a:t>I.</a:t>
                      </a:r>
                      <a:r>
                        <a:rPr lang="es">
                          <a:solidFill>
                            <a:schemeClr val="dk2"/>
                          </a:solidFill>
                          <a:latin typeface="Arial"/>
                          <a:ea typeface="Arial"/>
                          <a:cs typeface="Arial"/>
                          <a:sym typeface="Arial"/>
                        </a:rPr>
                        <a:t>Secreción nasal ( 3, 6, 10, 12, 13, 14, 15).</a:t>
                      </a:r>
                      <a:endParaRPr>
                        <a:solidFill>
                          <a:schemeClr val="dk2"/>
                        </a:solidFill>
                        <a:latin typeface="Times New Roman"/>
                        <a:ea typeface="Times New Roman"/>
                        <a:cs typeface="Times New Roman"/>
                        <a:sym typeface="Times New Roman"/>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a:latin typeface="Times New Roman"/>
                          <a:ea typeface="Times New Roman"/>
                          <a:cs typeface="Times New Roman"/>
                          <a:sym typeface="Times New Roman"/>
                        </a:rPr>
                        <a:t>histofilosis</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virus de la  PI3</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IBR</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mycoplasmosis</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vRSB</a:t>
                      </a:r>
                      <a:endParaRPr>
                        <a:latin typeface="Times New Roman"/>
                        <a:ea typeface="Times New Roman"/>
                        <a:cs typeface="Times New Roman"/>
                        <a:sym typeface="Times New Roman"/>
                      </a:endParaRPr>
                    </a:p>
                  </a:txBody>
                  <a:tcPr marT="45725" marB="45725" marR="91450" marL="91450">
                    <a:solidFill>
                      <a:srgbClr val="F9CB9C"/>
                    </a:solidFill>
                  </a:tcPr>
                </a:tc>
              </a:tr>
              <a:tr h="1260000">
                <a:tc>
                  <a:txBody>
                    <a:bodyPr/>
                    <a:lstStyle/>
                    <a:p>
                      <a:pPr indent="0" lvl="0" marL="0" marR="0" rtl="0" algn="l">
                        <a:spcBef>
                          <a:spcPts val="0"/>
                        </a:spcBef>
                        <a:spcAft>
                          <a:spcPts val="0"/>
                        </a:spcAft>
                        <a:buNone/>
                      </a:pPr>
                      <a:r>
                        <a:rPr lang="es">
                          <a:latin typeface="Times New Roman"/>
                          <a:ea typeface="Times New Roman"/>
                          <a:cs typeface="Times New Roman"/>
                          <a:sym typeface="Times New Roman"/>
                        </a:rPr>
                        <a:t>II: </a:t>
                      </a:r>
                      <a:r>
                        <a:rPr lang="es">
                          <a:solidFill>
                            <a:schemeClr val="dk2"/>
                          </a:solidFill>
                          <a:latin typeface="Times New Roman"/>
                          <a:ea typeface="Times New Roman"/>
                          <a:cs typeface="Times New Roman"/>
                          <a:sym typeface="Times New Roman"/>
                        </a:rPr>
                        <a:t>Diarrea  (4, 5, 6, 7, 8, 9, 12, 13, 15)</a:t>
                      </a:r>
                      <a:endParaRPr>
                        <a:latin typeface="Times New Roman"/>
                        <a:ea typeface="Times New Roman"/>
                        <a:cs typeface="Times New Roman"/>
                        <a:sym typeface="Times New Roman"/>
                      </a:endParaRPr>
                    </a:p>
                  </a:txBody>
                  <a:tcPr marT="45725" marB="45725" marR="91450" marL="91450" anchor="ctr">
                    <a:solidFill>
                      <a:srgbClr val="F9CB9C"/>
                    </a:solidFill>
                  </a:tcPr>
                </a:tc>
                <a:tc>
                  <a:txBody>
                    <a:bodyPr/>
                    <a:lstStyle/>
                    <a:p>
                      <a:pPr indent="0" lvl="0" marL="0" marR="0" rtl="0" algn="l">
                        <a:spcBef>
                          <a:spcPts val="0"/>
                        </a:spcBef>
                        <a:spcAft>
                          <a:spcPts val="0"/>
                        </a:spcAft>
                        <a:buNone/>
                      </a:pPr>
                      <a:r>
                        <a:rPr lang="es">
                          <a:latin typeface="Times New Roman"/>
                          <a:ea typeface="Times New Roman"/>
                          <a:cs typeface="Times New Roman"/>
                          <a:sym typeface="Times New Roman"/>
                        </a:rPr>
                        <a:t>DVB</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acidosis ruminal </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coccidiosis</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salmonelosis</a:t>
                      </a:r>
                      <a:endParaRPr>
                        <a:latin typeface="Times New Roman"/>
                        <a:ea typeface="Times New Roman"/>
                        <a:cs typeface="Times New Roman"/>
                        <a:sym typeface="Times New Roman"/>
                      </a:endParaRPr>
                    </a:p>
                    <a:p>
                      <a:pPr indent="0" lvl="0" marL="0" marR="0" rtl="0" algn="l">
                        <a:spcBef>
                          <a:spcPts val="0"/>
                        </a:spcBef>
                        <a:spcAft>
                          <a:spcPts val="0"/>
                        </a:spcAft>
                        <a:buNone/>
                      </a:pPr>
                      <a:r>
                        <a:rPr lang="es">
                          <a:latin typeface="Times New Roman"/>
                          <a:ea typeface="Times New Roman"/>
                          <a:cs typeface="Times New Roman"/>
                          <a:sym typeface="Times New Roman"/>
                        </a:rPr>
                        <a:t>fasciolasis </a:t>
                      </a:r>
                      <a:endParaRPr>
                        <a:latin typeface="Times New Roman"/>
                        <a:ea typeface="Times New Roman"/>
                        <a:cs typeface="Times New Roman"/>
                        <a:sym typeface="Times New Roman"/>
                      </a:endParaRPr>
                    </a:p>
                  </a:txBody>
                  <a:tcPr marT="45725" marB="45725" marR="91450" marL="91450">
                    <a:solidFill>
                      <a:srgbClr val="F9CB9C"/>
                    </a:solidFill>
                  </a:tcPr>
                </a:tc>
              </a:tr>
            </a:tbl>
          </a:graphicData>
        </a:graphic>
      </p:graphicFrame>
      <p:sp>
        <p:nvSpPr>
          <p:cNvPr id="525" name="Google Shape;525;p52"/>
          <p:cNvSpPr txBox="1"/>
          <p:nvPr/>
        </p:nvSpPr>
        <p:spPr>
          <a:xfrm>
            <a:off x="5265350" y="1294400"/>
            <a:ext cx="35055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correcta</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¡Muy bien! Has establecido ahora tus diagnósticos diferenciales para cada uno de los problemas maestros  </a:t>
            </a:r>
            <a:endParaRPr>
              <a:solidFill>
                <a:schemeClr val="dk2"/>
              </a:solidFill>
              <a:latin typeface="Times New Roman"/>
              <a:ea typeface="Times New Roman"/>
              <a:cs typeface="Times New Roman"/>
              <a:sym typeface="Times New Roman"/>
            </a:endParaRPr>
          </a:p>
        </p:txBody>
      </p:sp>
      <p:sp>
        <p:nvSpPr>
          <p:cNvPr id="526" name="Google Shape;526;p52"/>
          <p:cNvSpPr txBox="1"/>
          <p:nvPr/>
        </p:nvSpPr>
        <p:spPr>
          <a:xfrm>
            <a:off x="5265350" y="2617775"/>
            <a:ext cx="35055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R</a:t>
            </a:r>
            <a:r>
              <a:rPr lang="es">
                <a:solidFill>
                  <a:schemeClr val="dk2"/>
                </a:solidFill>
                <a:latin typeface="Times New Roman"/>
                <a:ea typeface="Times New Roman"/>
                <a:cs typeface="Times New Roman"/>
                <a:sym typeface="Times New Roman"/>
              </a:rPr>
              <a:t>etroalimentación incorrecta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chemeClr val="dk2"/>
                </a:solidFill>
                <a:latin typeface="Times New Roman"/>
                <a:ea typeface="Times New Roman"/>
                <a:cs typeface="Times New Roman"/>
                <a:sym typeface="Times New Roman"/>
              </a:rPr>
              <a:t>¡Ups! toma en </a:t>
            </a:r>
            <a:r>
              <a:rPr lang="es">
                <a:solidFill>
                  <a:schemeClr val="dk2"/>
                </a:solidFill>
                <a:latin typeface="Times New Roman"/>
                <a:ea typeface="Times New Roman"/>
                <a:cs typeface="Times New Roman"/>
                <a:sym typeface="Times New Roman"/>
              </a:rPr>
              <a:t>consideración</a:t>
            </a:r>
            <a:r>
              <a:rPr lang="es">
                <a:solidFill>
                  <a:schemeClr val="dk2"/>
                </a:solidFill>
                <a:latin typeface="Times New Roman"/>
                <a:ea typeface="Times New Roman"/>
                <a:cs typeface="Times New Roman"/>
                <a:sym typeface="Times New Roman"/>
              </a:rPr>
              <a:t> los sistemas y aparatos que están mayormente afectados </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32" name="Google Shape;532;p53"/>
          <p:cNvSpPr txBox="1"/>
          <p:nvPr>
            <p:ph idx="1" type="body"/>
          </p:nvPr>
        </p:nvSpPr>
        <p:spPr>
          <a:xfrm>
            <a:off x="791625" y="1495425"/>
            <a:ext cx="7502700" cy="14352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De acuerdo a tus diagnósticos diferenciales,  determina ahora que tipo de prueba complementaria del laboratorio de diagnóstico veterinario te puede ser útil para ir descartando / confirmando los posibles diagnósticos </a:t>
            </a:r>
            <a:endParaRPr/>
          </a:p>
        </p:txBody>
      </p:sp>
      <p:sp>
        <p:nvSpPr>
          <p:cNvPr id="533" name="Google Shape;533;p53"/>
          <p:cNvSpPr txBox="1"/>
          <p:nvPr>
            <p:ph idx="1" type="body"/>
          </p:nvPr>
        </p:nvSpPr>
        <p:spPr>
          <a:xfrm>
            <a:off x="930975" y="3213575"/>
            <a:ext cx="7502700" cy="8523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Ubica en la lista de la izquierda las pruebas diagnósticas que necesitas y las que no.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4"/>
          <p:cNvSpPr txBox="1"/>
          <p:nvPr>
            <p:ph type="title"/>
          </p:nvPr>
        </p:nvSpPr>
        <p:spPr>
          <a:xfrm>
            <a:off x="3259900" y="209450"/>
            <a:ext cx="5658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Herramientas diagnósticas???</a:t>
            </a:r>
            <a:endParaRPr/>
          </a:p>
        </p:txBody>
      </p:sp>
      <p:graphicFrame>
        <p:nvGraphicFramePr>
          <p:cNvPr id="539" name="Google Shape;539;p54"/>
          <p:cNvGraphicFramePr/>
          <p:nvPr/>
        </p:nvGraphicFramePr>
        <p:xfrm>
          <a:off x="3242250" y="955064"/>
          <a:ext cx="3000000" cy="3000000"/>
        </p:xfrm>
        <a:graphic>
          <a:graphicData uri="http://schemas.openxmlformats.org/drawingml/2006/table">
            <a:tbl>
              <a:tblPr bandRow="1" firstRow="1">
                <a:noFill/>
                <a:tableStyleId>{C904ACC0-95A0-4183-87B4-51C2899AC0EF}</a:tableStyleId>
              </a:tblPr>
              <a:tblGrid>
                <a:gridCol w="1343500"/>
                <a:gridCol w="1275900"/>
                <a:gridCol w="625000"/>
                <a:gridCol w="625000"/>
                <a:gridCol w="625000"/>
                <a:gridCol w="625000"/>
                <a:gridCol w="625000"/>
              </a:tblGrid>
              <a:tr h="349275">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E69138"/>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E69138"/>
                    </a:solidFill>
                  </a:tcPr>
                </a:tc>
              </a:tr>
              <a:tr h="209575">
                <a:tc rowSpan="5">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I.Secreción nasal ( 3, 6, 10, 12, 13, 14, 15).</a:t>
                      </a:r>
                      <a:endParaRPr>
                        <a:solidFill>
                          <a:schemeClr val="dk2"/>
                        </a:solidFill>
                        <a:latin typeface="Arial"/>
                        <a:ea typeface="Arial"/>
                        <a:cs typeface="Arial"/>
                        <a:sym typeface="Aria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Histofilosis</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parainfluenza bovina tipo 3 </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rinotraqueitis infecciosa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mycoplasmosis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virus respiratorio sincitial bovino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rowSpan="5">
                  <a:txBody>
                    <a:bodyPr/>
                    <a:lstStyle/>
                    <a:p>
                      <a:pPr indent="0" lvl="0" marL="0" marR="0" rtl="0" algn="l">
                        <a:spcBef>
                          <a:spcPts val="0"/>
                        </a:spcBef>
                        <a:spcAft>
                          <a:spcPts val="0"/>
                        </a:spcAft>
                        <a:buNone/>
                      </a:pPr>
                      <a:r>
                        <a:rPr lang="es">
                          <a:solidFill>
                            <a:schemeClr val="dk1"/>
                          </a:solidFill>
                        </a:rPr>
                        <a:t>II: </a:t>
                      </a:r>
                      <a:r>
                        <a:rPr lang="es">
                          <a:solidFill>
                            <a:schemeClr val="dk2"/>
                          </a:solidFill>
                          <a:latin typeface="Arial"/>
                          <a:ea typeface="Arial"/>
                          <a:cs typeface="Arial"/>
                          <a:sym typeface="Arial"/>
                        </a:rPr>
                        <a:t>Diarrea  (4, 5, 6, 7, 8, 9, 12, 13, 15)</a:t>
                      </a:r>
                      <a:endParaRPr>
                        <a:solidFill>
                          <a:srgbClr val="A5A5A5"/>
                        </a:solidFil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diarrea viral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Acidosis ruminal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Coccidiosis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0957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Salmonelosis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321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Fasciolasis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bl>
          </a:graphicData>
        </a:graphic>
      </p:graphicFrame>
      <p:graphicFrame>
        <p:nvGraphicFramePr>
          <p:cNvPr id="540" name="Google Shape;540;p54"/>
          <p:cNvGraphicFramePr/>
          <p:nvPr/>
        </p:nvGraphicFramePr>
        <p:xfrm>
          <a:off x="122225" y="149125"/>
          <a:ext cx="3000000" cy="3000000"/>
        </p:xfrm>
        <a:graphic>
          <a:graphicData uri="http://schemas.openxmlformats.org/drawingml/2006/table">
            <a:tbl>
              <a:tblPr>
                <a:noFill/>
                <a:tableStyleId>{84BC8C95-1D40-486A-9443-D1563B821074}</a:tableStyleId>
              </a:tblPr>
              <a:tblGrid>
                <a:gridCol w="909175"/>
                <a:gridCol w="909175"/>
                <a:gridCol w="909175"/>
              </a:tblGrid>
              <a:tr h="349975">
                <a:tc>
                  <a:txBody>
                    <a:bodyPr/>
                    <a:lstStyle/>
                    <a:p>
                      <a:pPr indent="0" lvl="0" marL="0" rtl="0" algn="l">
                        <a:spcBef>
                          <a:spcPts val="0"/>
                        </a:spcBef>
                        <a:spcAft>
                          <a:spcPts val="0"/>
                        </a:spcAft>
                        <a:buNone/>
                      </a:pPr>
                      <a:r>
                        <a:rPr lang="es"/>
                        <a:t>pruebas: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23075">
                <a:tc gridSpan="2">
                  <a:txBody>
                    <a:bodyPr/>
                    <a:lstStyle/>
                    <a:p>
                      <a:pPr indent="0" lvl="0" marL="0" rtl="0" algn="l">
                        <a:spcBef>
                          <a:spcPts val="0"/>
                        </a:spcBef>
                        <a:spcAft>
                          <a:spcPts val="0"/>
                        </a:spcAft>
                        <a:buNone/>
                      </a:pPr>
                      <a:r>
                        <a:rPr lang="es" sz="1200"/>
                        <a:t>examen coproparasitoscópico </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flotación  </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McMaster</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sedimentación</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PCR</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ELISA</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Biometría hemática   HG</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Perfil bioquímico     BQ</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medición de pH ruminal </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cultivo y aislamiento </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r h="323075">
                <a:tc gridSpan="2">
                  <a:txBody>
                    <a:bodyPr/>
                    <a:lstStyle/>
                    <a:p>
                      <a:pPr indent="0" lvl="0" marL="0" rtl="0" algn="l">
                        <a:spcBef>
                          <a:spcPts val="0"/>
                        </a:spcBef>
                        <a:spcAft>
                          <a:spcPts val="0"/>
                        </a:spcAft>
                        <a:buNone/>
                      </a:pPr>
                      <a:r>
                        <a:rPr lang="es" sz="1200"/>
                        <a:t>necropsia</a:t>
                      </a:r>
                      <a:endParaRPr sz="1200"/>
                    </a:p>
                  </a:txBody>
                  <a:tcPr marT="91425" marB="91425" marR="91425" marL="91425"/>
                </a:tc>
                <a:tc hMerge="1"/>
                <a:tc>
                  <a:txBody>
                    <a:bodyPr/>
                    <a:lstStyle/>
                    <a:p>
                      <a:pPr indent="0" lvl="0" marL="0" rtl="0" algn="l">
                        <a:spcBef>
                          <a:spcPts val="0"/>
                        </a:spcBef>
                        <a:spcAft>
                          <a:spcPts val="0"/>
                        </a:spcAft>
                        <a:buNone/>
                      </a:pPr>
                      <a:r>
                        <a:t/>
                      </a:r>
                      <a:endParaRPr sz="1200"/>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aphicFrame>
        <p:nvGraphicFramePr>
          <p:cNvPr id="545" name="Google Shape;545;p55"/>
          <p:cNvGraphicFramePr/>
          <p:nvPr/>
        </p:nvGraphicFramePr>
        <p:xfrm>
          <a:off x="141700" y="606477"/>
          <a:ext cx="3000000" cy="3000000"/>
        </p:xfrm>
        <a:graphic>
          <a:graphicData uri="http://schemas.openxmlformats.org/drawingml/2006/table">
            <a:tbl>
              <a:tblPr bandRow="1" firstRow="1">
                <a:noFill/>
                <a:tableStyleId>{C904ACC0-95A0-4183-87B4-51C2899AC0EF}</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E69138"/>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E69138"/>
                    </a:solidFill>
                  </a:tcPr>
                </a:tc>
              </a:tr>
              <a:tr h="283425">
                <a:tc rowSpan="5">
                  <a:txBody>
                    <a:bodyPr/>
                    <a:lstStyle/>
                    <a:p>
                      <a:pPr indent="0" lvl="0" marL="0" rtl="0" algn="l">
                        <a:lnSpc>
                          <a:spcPct val="115000"/>
                        </a:lnSpc>
                        <a:spcBef>
                          <a:spcPts val="0"/>
                        </a:spcBef>
                        <a:spcAft>
                          <a:spcPts val="1200"/>
                        </a:spcAft>
                        <a:buSzPts val="1100"/>
                        <a:buNone/>
                      </a:pPr>
                      <a:r>
                        <a:rPr lang="es">
                          <a:solidFill>
                            <a:schemeClr val="dk2"/>
                          </a:solidFill>
                          <a:latin typeface="Arial"/>
                          <a:ea typeface="Arial"/>
                          <a:cs typeface="Arial"/>
                          <a:sym typeface="Arial"/>
                        </a:rPr>
                        <a:t>I</a:t>
                      </a:r>
                      <a:r>
                        <a:rPr lang="es">
                          <a:solidFill>
                            <a:schemeClr val="dk2"/>
                          </a:solidFill>
                          <a:latin typeface="Arial"/>
                          <a:ea typeface="Arial"/>
                          <a:cs typeface="Arial"/>
                          <a:sym typeface="Arial"/>
                        </a:rPr>
                        <a:t>.Secreción nasal ( 3, 6, 10, 12, 13, 14, 15).</a:t>
                      </a:r>
                      <a:endParaRPr>
                        <a:solidFill>
                          <a:srgbClr val="A5A5A5"/>
                        </a:solidFil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Histofilosis</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parainfluenza bovina tipo 3 </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rinotraqueitis infecciosa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mycoplasmosis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virus respiratorio sincitial bovino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rowSpan="5">
                  <a:txBody>
                    <a:bodyPr/>
                    <a:lstStyle/>
                    <a:p>
                      <a:pPr indent="0" lvl="0" marL="0" marR="0" rtl="0" algn="l">
                        <a:spcBef>
                          <a:spcPts val="0"/>
                        </a:spcBef>
                        <a:spcAft>
                          <a:spcPts val="0"/>
                        </a:spcAft>
                        <a:buNone/>
                      </a:pPr>
                      <a:r>
                        <a:rPr lang="es">
                          <a:solidFill>
                            <a:schemeClr val="dk1"/>
                          </a:solidFill>
                        </a:rPr>
                        <a:t>I</a:t>
                      </a:r>
                      <a:r>
                        <a:rPr lang="es">
                          <a:solidFill>
                            <a:schemeClr val="dk1"/>
                          </a:solidFill>
                        </a:rPr>
                        <a:t>I: </a:t>
                      </a:r>
                      <a:r>
                        <a:rPr lang="es">
                          <a:solidFill>
                            <a:schemeClr val="dk2"/>
                          </a:solidFill>
                          <a:latin typeface="Arial"/>
                          <a:ea typeface="Arial"/>
                          <a:cs typeface="Arial"/>
                          <a:sym typeface="Arial"/>
                        </a:rPr>
                        <a:t>Diarrea  (4, 5, 6, 7, 8, 9, 12, 13, 15)</a:t>
                      </a:r>
                      <a:endParaRPr>
                        <a:solidFill>
                          <a:srgbClr val="A5A5A5"/>
                        </a:solidFil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diarrea viral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Acidosis ruminal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Coccidiosis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Salmonelosis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33200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Fasciolasis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bl>
          </a:graphicData>
        </a:graphic>
      </p:graphicFrame>
      <p:sp>
        <p:nvSpPr>
          <p:cNvPr id="546" name="Google Shape;546;p55"/>
          <p:cNvSpPr/>
          <p:nvPr/>
        </p:nvSpPr>
        <p:spPr>
          <a:xfrm>
            <a:off x="3833000" y="18435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55"/>
          <p:cNvSpPr/>
          <p:nvPr/>
        </p:nvSpPr>
        <p:spPr>
          <a:xfrm>
            <a:off x="3833000" y="24209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55"/>
          <p:cNvSpPr/>
          <p:nvPr/>
        </p:nvSpPr>
        <p:spPr>
          <a:xfrm>
            <a:off x="3833000" y="31155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55"/>
          <p:cNvSpPr/>
          <p:nvPr/>
        </p:nvSpPr>
        <p:spPr>
          <a:xfrm>
            <a:off x="3833000" y="3590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55"/>
          <p:cNvSpPr/>
          <p:nvPr/>
        </p:nvSpPr>
        <p:spPr>
          <a:xfrm>
            <a:off x="3833000"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55"/>
          <p:cNvSpPr/>
          <p:nvPr/>
        </p:nvSpPr>
        <p:spPr>
          <a:xfrm>
            <a:off x="7124975"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55"/>
          <p:cNvSpPr/>
          <p:nvPr/>
        </p:nvSpPr>
        <p:spPr>
          <a:xfrm>
            <a:off x="4537850" y="18435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55"/>
          <p:cNvSpPr/>
          <p:nvPr/>
        </p:nvSpPr>
        <p:spPr>
          <a:xfrm>
            <a:off x="4537850" y="24209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55"/>
          <p:cNvSpPr/>
          <p:nvPr/>
        </p:nvSpPr>
        <p:spPr>
          <a:xfrm>
            <a:off x="4537850" y="31155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55"/>
          <p:cNvSpPr/>
          <p:nvPr/>
        </p:nvSpPr>
        <p:spPr>
          <a:xfrm>
            <a:off x="4537850" y="3590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55"/>
          <p:cNvSpPr/>
          <p:nvPr/>
        </p:nvSpPr>
        <p:spPr>
          <a:xfrm>
            <a:off x="4537850" y="452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55"/>
          <p:cNvSpPr/>
          <p:nvPr/>
        </p:nvSpPr>
        <p:spPr>
          <a:xfrm>
            <a:off x="3071000"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5"/>
          <p:cNvSpPr/>
          <p:nvPr/>
        </p:nvSpPr>
        <p:spPr>
          <a:xfrm>
            <a:off x="3071000" y="42248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55"/>
          <p:cNvSpPr/>
          <p:nvPr/>
        </p:nvSpPr>
        <p:spPr>
          <a:xfrm>
            <a:off x="6442850" y="3948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55"/>
          <p:cNvSpPr/>
          <p:nvPr/>
        </p:nvSpPr>
        <p:spPr>
          <a:xfrm>
            <a:off x="3833000" y="27169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55"/>
          <p:cNvSpPr/>
          <p:nvPr/>
        </p:nvSpPr>
        <p:spPr>
          <a:xfrm>
            <a:off x="4537850" y="27169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55"/>
          <p:cNvSpPr/>
          <p:nvPr/>
        </p:nvSpPr>
        <p:spPr>
          <a:xfrm>
            <a:off x="5814200"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55"/>
          <p:cNvSpPr/>
          <p:nvPr/>
        </p:nvSpPr>
        <p:spPr>
          <a:xfrm>
            <a:off x="7882125" y="3948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55"/>
          <p:cNvSpPr/>
          <p:nvPr/>
        </p:nvSpPr>
        <p:spPr>
          <a:xfrm>
            <a:off x="7882125" y="452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55"/>
          <p:cNvSpPr/>
          <p:nvPr/>
        </p:nvSpPr>
        <p:spPr>
          <a:xfrm>
            <a:off x="7882125" y="4239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55"/>
          <p:cNvSpPr/>
          <p:nvPr/>
        </p:nvSpPr>
        <p:spPr>
          <a:xfrm>
            <a:off x="7800425"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55"/>
          <p:cNvSpPr/>
          <p:nvPr/>
        </p:nvSpPr>
        <p:spPr>
          <a:xfrm>
            <a:off x="7882125"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55"/>
          <p:cNvSpPr/>
          <p:nvPr/>
        </p:nvSpPr>
        <p:spPr>
          <a:xfrm>
            <a:off x="7800425" y="30876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55"/>
          <p:cNvSpPr/>
          <p:nvPr/>
        </p:nvSpPr>
        <p:spPr>
          <a:xfrm>
            <a:off x="7800425" y="22918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55"/>
          <p:cNvSpPr/>
          <p:nvPr/>
        </p:nvSpPr>
        <p:spPr>
          <a:xfrm>
            <a:off x="7800425" y="268977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55"/>
          <p:cNvSpPr/>
          <p:nvPr/>
        </p:nvSpPr>
        <p:spPr>
          <a:xfrm>
            <a:off x="7800425" y="35181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55"/>
          <p:cNvSpPr/>
          <p:nvPr/>
        </p:nvSpPr>
        <p:spPr>
          <a:xfrm>
            <a:off x="7800425" y="18940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graphicFrame>
        <p:nvGraphicFramePr>
          <p:cNvPr id="577" name="Google Shape;577;p56"/>
          <p:cNvGraphicFramePr/>
          <p:nvPr/>
        </p:nvGraphicFramePr>
        <p:xfrm>
          <a:off x="141700" y="606477"/>
          <a:ext cx="3000000" cy="3000000"/>
        </p:xfrm>
        <a:graphic>
          <a:graphicData uri="http://schemas.openxmlformats.org/drawingml/2006/table">
            <a:tbl>
              <a:tblPr bandRow="1" firstRow="1">
                <a:noFill/>
                <a:tableStyleId>{C904ACC0-95A0-4183-87B4-51C2899AC0EF}</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E69138"/>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E69138"/>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E69138"/>
                    </a:solidFill>
                  </a:tcPr>
                </a:tc>
              </a:tr>
              <a:tr h="283425">
                <a:tc rowSpan="5">
                  <a:txBody>
                    <a:bodyPr/>
                    <a:lstStyle/>
                    <a:p>
                      <a:pPr indent="0" lvl="0" marL="0" rtl="0" algn="l">
                        <a:lnSpc>
                          <a:spcPct val="115000"/>
                        </a:lnSpc>
                        <a:spcBef>
                          <a:spcPts val="0"/>
                        </a:spcBef>
                        <a:spcAft>
                          <a:spcPts val="1200"/>
                        </a:spcAft>
                        <a:buSzPts val="1100"/>
                        <a:buNone/>
                      </a:pPr>
                      <a:r>
                        <a:rPr lang="es">
                          <a:solidFill>
                            <a:schemeClr val="dk2"/>
                          </a:solidFill>
                          <a:latin typeface="Arial"/>
                          <a:ea typeface="Arial"/>
                          <a:cs typeface="Arial"/>
                          <a:sym typeface="Arial"/>
                        </a:rPr>
                        <a:t>I.Secreción nasal ( 3, 6, 10, 12, 13, 14, 15).</a:t>
                      </a:r>
                      <a:endParaRPr>
                        <a:solidFill>
                          <a:srgbClr val="A5A5A5"/>
                        </a:solidFil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Histofilosis</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parainfluenza bovina tipo 3 </a:t>
                      </a:r>
                      <a:endParaRPr sz="1200"/>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rinotraqueitis infecciosa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mycoplasmosis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virus respiratorio sincitial bovino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472350">
                <a:tc rowSpan="5">
                  <a:txBody>
                    <a:bodyPr/>
                    <a:lstStyle/>
                    <a:p>
                      <a:pPr indent="0" lvl="0" marL="0" marR="0" rtl="0" algn="l">
                        <a:spcBef>
                          <a:spcPts val="0"/>
                        </a:spcBef>
                        <a:spcAft>
                          <a:spcPts val="0"/>
                        </a:spcAft>
                        <a:buNone/>
                      </a:pPr>
                      <a:r>
                        <a:rPr lang="es">
                          <a:solidFill>
                            <a:schemeClr val="dk1"/>
                          </a:solidFill>
                        </a:rPr>
                        <a:t>II: </a:t>
                      </a:r>
                      <a:r>
                        <a:rPr lang="es">
                          <a:solidFill>
                            <a:schemeClr val="dk2"/>
                          </a:solidFill>
                          <a:latin typeface="Arial"/>
                          <a:ea typeface="Arial"/>
                          <a:cs typeface="Arial"/>
                          <a:sym typeface="Arial"/>
                        </a:rPr>
                        <a:t>Diarrea  (4, 5, 6, 7, 8, 9, 12, 13, 15)</a:t>
                      </a:r>
                      <a:endParaRPr>
                        <a:solidFill>
                          <a:srgbClr val="A5A5A5"/>
                        </a:solidFill>
                      </a:endParaRPr>
                    </a:p>
                  </a:txBody>
                  <a:tcPr marT="45725" marB="45725" marR="91450" marL="91450">
                    <a:solidFill>
                      <a:srgbClr val="F6B26B"/>
                    </a:solidFill>
                  </a:tcPr>
                </a:tc>
                <a:tc>
                  <a:txBody>
                    <a:bodyPr/>
                    <a:lstStyle/>
                    <a:p>
                      <a:pPr indent="0" lvl="0" marL="0" marR="0" rtl="0" algn="l">
                        <a:spcBef>
                          <a:spcPts val="0"/>
                        </a:spcBef>
                        <a:spcAft>
                          <a:spcPts val="0"/>
                        </a:spcAft>
                        <a:buNone/>
                      </a:pPr>
                      <a:r>
                        <a:rPr lang="es" sz="1200"/>
                        <a:t>diarrea viral bovina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Acidosis ruminal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Coccidiosis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283425">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Salmonelosis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r h="332000">
                <a:tc vMerge="1"/>
                <a:tc>
                  <a:txBody>
                    <a:bodyPr/>
                    <a:lstStyle/>
                    <a:p>
                      <a:pPr indent="0" lvl="0" marL="0" marR="0" rtl="0" algn="l">
                        <a:lnSpc>
                          <a:spcPct val="100000"/>
                        </a:lnSpc>
                        <a:spcBef>
                          <a:spcPts val="0"/>
                        </a:spcBef>
                        <a:spcAft>
                          <a:spcPts val="0"/>
                        </a:spcAft>
                        <a:buClr>
                          <a:srgbClr val="000000"/>
                        </a:buClr>
                        <a:buSzPts val="1200"/>
                        <a:buFont typeface="Calibri"/>
                        <a:buNone/>
                      </a:pPr>
                      <a:r>
                        <a:rPr lang="es" sz="1200"/>
                        <a:t>Fasciolasis </a:t>
                      </a:r>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9CB9C"/>
                    </a:solidFill>
                  </a:tcPr>
                </a:tc>
              </a:tr>
            </a:tbl>
          </a:graphicData>
        </a:graphic>
      </p:graphicFrame>
      <p:sp>
        <p:nvSpPr>
          <p:cNvPr id="578" name="Google Shape;578;p56"/>
          <p:cNvSpPr/>
          <p:nvPr/>
        </p:nvSpPr>
        <p:spPr>
          <a:xfrm>
            <a:off x="3833000" y="18435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56"/>
          <p:cNvSpPr/>
          <p:nvPr/>
        </p:nvSpPr>
        <p:spPr>
          <a:xfrm>
            <a:off x="3833000" y="24209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56"/>
          <p:cNvSpPr/>
          <p:nvPr/>
        </p:nvSpPr>
        <p:spPr>
          <a:xfrm>
            <a:off x="3833000" y="31155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56"/>
          <p:cNvSpPr/>
          <p:nvPr/>
        </p:nvSpPr>
        <p:spPr>
          <a:xfrm>
            <a:off x="3833000" y="3590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56"/>
          <p:cNvSpPr/>
          <p:nvPr/>
        </p:nvSpPr>
        <p:spPr>
          <a:xfrm>
            <a:off x="3833000"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56"/>
          <p:cNvSpPr/>
          <p:nvPr/>
        </p:nvSpPr>
        <p:spPr>
          <a:xfrm>
            <a:off x="7124975"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4" name="Google Shape;584;p56"/>
          <p:cNvSpPr/>
          <p:nvPr/>
        </p:nvSpPr>
        <p:spPr>
          <a:xfrm>
            <a:off x="4537850" y="18435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56"/>
          <p:cNvSpPr/>
          <p:nvPr/>
        </p:nvSpPr>
        <p:spPr>
          <a:xfrm>
            <a:off x="4537850" y="24209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56"/>
          <p:cNvSpPr/>
          <p:nvPr/>
        </p:nvSpPr>
        <p:spPr>
          <a:xfrm>
            <a:off x="4537850" y="31155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56"/>
          <p:cNvSpPr/>
          <p:nvPr/>
        </p:nvSpPr>
        <p:spPr>
          <a:xfrm>
            <a:off x="4537850" y="3590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56"/>
          <p:cNvSpPr/>
          <p:nvPr/>
        </p:nvSpPr>
        <p:spPr>
          <a:xfrm>
            <a:off x="4537850" y="452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56"/>
          <p:cNvSpPr/>
          <p:nvPr/>
        </p:nvSpPr>
        <p:spPr>
          <a:xfrm>
            <a:off x="3071000"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56"/>
          <p:cNvSpPr/>
          <p:nvPr/>
        </p:nvSpPr>
        <p:spPr>
          <a:xfrm>
            <a:off x="3071000" y="42248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6"/>
          <p:cNvSpPr/>
          <p:nvPr/>
        </p:nvSpPr>
        <p:spPr>
          <a:xfrm>
            <a:off x="6442850" y="3948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56"/>
          <p:cNvSpPr/>
          <p:nvPr/>
        </p:nvSpPr>
        <p:spPr>
          <a:xfrm>
            <a:off x="3833000" y="27169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56"/>
          <p:cNvSpPr/>
          <p:nvPr/>
        </p:nvSpPr>
        <p:spPr>
          <a:xfrm>
            <a:off x="4537850" y="27169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56"/>
          <p:cNvSpPr/>
          <p:nvPr/>
        </p:nvSpPr>
        <p:spPr>
          <a:xfrm>
            <a:off x="5814200"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56"/>
          <p:cNvSpPr/>
          <p:nvPr/>
        </p:nvSpPr>
        <p:spPr>
          <a:xfrm>
            <a:off x="7882125" y="3948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56"/>
          <p:cNvSpPr/>
          <p:nvPr/>
        </p:nvSpPr>
        <p:spPr>
          <a:xfrm>
            <a:off x="7882125" y="452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56"/>
          <p:cNvSpPr/>
          <p:nvPr/>
        </p:nvSpPr>
        <p:spPr>
          <a:xfrm>
            <a:off x="7882125" y="4239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56"/>
          <p:cNvSpPr/>
          <p:nvPr/>
        </p:nvSpPr>
        <p:spPr>
          <a:xfrm>
            <a:off x="7800425" y="14961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56"/>
          <p:cNvSpPr/>
          <p:nvPr/>
        </p:nvSpPr>
        <p:spPr>
          <a:xfrm>
            <a:off x="7882125" y="4809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56"/>
          <p:cNvSpPr/>
          <p:nvPr/>
        </p:nvSpPr>
        <p:spPr>
          <a:xfrm>
            <a:off x="7800425" y="30876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56"/>
          <p:cNvSpPr/>
          <p:nvPr/>
        </p:nvSpPr>
        <p:spPr>
          <a:xfrm>
            <a:off x="7800425" y="22918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56"/>
          <p:cNvSpPr/>
          <p:nvPr/>
        </p:nvSpPr>
        <p:spPr>
          <a:xfrm>
            <a:off x="7800425" y="268977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56"/>
          <p:cNvSpPr/>
          <p:nvPr/>
        </p:nvSpPr>
        <p:spPr>
          <a:xfrm>
            <a:off x="7800425" y="35181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56"/>
          <p:cNvSpPr/>
          <p:nvPr/>
        </p:nvSpPr>
        <p:spPr>
          <a:xfrm>
            <a:off x="7800425" y="18940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56"/>
          <p:cNvSpPr txBox="1"/>
          <p:nvPr/>
        </p:nvSpPr>
        <p:spPr>
          <a:xfrm>
            <a:off x="4537850" y="261175"/>
            <a:ext cx="4388400" cy="15801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2">
                <a:solidFill>
                  <a:schemeClr val="dk2"/>
                </a:solidFill>
                <a:latin typeface="Times New Roman"/>
                <a:ea typeface="Times New Roman"/>
                <a:cs typeface="Times New Roman"/>
                <a:sym typeface="Times New Roman"/>
              </a:rPr>
              <a:t>Retroalimentación correcta</a:t>
            </a:r>
            <a:endParaRPr sz="1752">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752">
                <a:solidFill>
                  <a:schemeClr val="dk2"/>
                </a:solidFill>
                <a:latin typeface="Times New Roman"/>
                <a:ea typeface="Times New Roman"/>
                <a:cs typeface="Times New Roman"/>
                <a:sym typeface="Times New Roman"/>
              </a:rPr>
              <a:t>¡Correcto! Ahora tenemos una bateria de herramientas diagnósticas útiles que nos ayudan a determinar la o las enfermedades que presenta Milagros.  </a:t>
            </a:r>
            <a:endParaRPr sz="1752">
              <a:solidFill>
                <a:schemeClr val="dk2"/>
              </a:solidFill>
              <a:latin typeface="Times New Roman"/>
              <a:ea typeface="Times New Roman"/>
              <a:cs typeface="Times New Roman"/>
              <a:sym typeface="Times New Roman"/>
            </a:endParaRPr>
          </a:p>
        </p:txBody>
      </p:sp>
      <p:sp>
        <p:nvSpPr>
          <p:cNvPr id="606" name="Google Shape;606;p56"/>
          <p:cNvSpPr txBox="1"/>
          <p:nvPr/>
        </p:nvSpPr>
        <p:spPr>
          <a:xfrm>
            <a:off x="4537850" y="1917870"/>
            <a:ext cx="4388400" cy="13104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2">
                <a:solidFill>
                  <a:schemeClr val="dk2"/>
                </a:solidFill>
                <a:latin typeface="Times New Roman"/>
                <a:ea typeface="Times New Roman"/>
                <a:cs typeface="Times New Roman"/>
                <a:sym typeface="Times New Roman"/>
              </a:rPr>
              <a:t>Retroalimentación incorrecta </a:t>
            </a:r>
            <a:endParaRPr sz="1752">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752">
                <a:solidFill>
                  <a:schemeClr val="dk2"/>
                </a:solidFill>
                <a:latin typeface="Times New Roman"/>
                <a:ea typeface="Times New Roman"/>
                <a:cs typeface="Times New Roman"/>
                <a:sym typeface="Times New Roman"/>
              </a:rPr>
              <a:t>¡Ups! Revisa de nuevo la lista de herramientas. Toma en cuenta la situación y las muestras que puedes tomar. </a:t>
            </a:r>
            <a:endParaRPr sz="1752">
              <a:solidFill>
                <a:schemeClr val="dk2"/>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Diagnóstico definitivo</a:t>
            </a:r>
            <a:endParaRPr/>
          </a:p>
        </p:txBody>
      </p:sp>
      <p:sp>
        <p:nvSpPr>
          <p:cNvPr id="612" name="Google Shape;612;p57"/>
          <p:cNvSpPr txBox="1"/>
          <p:nvPr>
            <p:ph idx="1" type="body"/>
          </p:nvPr>
        </p:nvSpPr>
        <p:spPr>
          <a:xfrm>
            <a:off x="311700" y="1152475"/>
            <a:ext cx="8520600" cy="28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 todos los datos recolectados y metodologías utilizadas… ¿Cuál de estos diagnósticos consideras que es el definitivo ?</a:t>
            </a:r>
            <a:endParaRPr/>
          </a:p>
          <a:p>
            <a:pPr indent="0" lvl="0" marL="0" rtl="0" algn="l">
              <a:spcBef>
                <a:spcPts val="1200"/>
              </a:spcBef>
              <a:spcAft>
                <a:spcPts val="1200"/>
              </a:spcAft>
              <a:buNone/>
            </a:pPr>
            <a:r>
              <a:t/>
            </a:r>
            <a:endParaRPr/>
          </a:p>
        </p:txBody>
      </p:sp>
      <p:graphicFrame>
        <p:nvGraphicFramePr>
          <p:cNvPr id="613" name="Google Shape;613;p57"/>
          <p:cNvGraphicFramePr/>
          <p:nvPr/>
        </p:nvGraphicFramePr>
        <p:xfrm>
          <a:off x="952500" y="2190750"/>
          <a:ext cx="3000000" cy="3000000"/>
        </p:xfrm>
        <a:graphic>
          <a:graphicData uri="http://schemas.openxmlformats.org/drawingml/2006/table">
            <a:tbl>
              <a:tblPr>
                <a:noFill/>
                <a:tableStyleId>{84BC8C95-1D40-486A-9443-D1563B821074}</a:tableStyleId>
              </a:tblPr>
              <a:tblGrid>
                <a:gridCol w="3815600"/>
                <a:gridCol w="733975"/>
              </a:tblGrid>
              <a:tr h="381000">
                <a:tc>
                  <a:txBody>
                    <a:bodyPr/>
                    <a:lstStyle/>
                    <a:p>
                      <a:pPr indent="-342900" lvl="0" marL="457200" rtl="0" algn="l">
                        <a:spcBef>
                          <a:spcPts val="0"/>
                        </a:spcBef>
                        <a:spcAft>
                          <a:spcPts val="0"/>
                        </a:spcAft>
                        <a:buClr>
                          <a:schemeClr val="dk2"/>
                        </a:buClr>
                        <a:buSzPts val="1800"/>
                        <a:buAutoNum type="alphaLcParenR"/>
                      </a:pPr>
                      <a:r>
                        <a:rPr lang="es" sz="1800">
                          <a:solidFill>
                            <a:schemeClr val="dk2"/>
                          </a:solidFill>
                        </a:rPr>
                        <a:t> fiebre de embarque </a:t>
                      </a:r>
                      <a:endParaRPr/>
                    </a:p>
                  </a:txBody>
                  <a:tcPr marT="91425" marB="91425" marR="91425" marL="91425">
                    <a:solidFill>
                      <a:srgbClr val="F9CB9C"/>
                    </a:solidFill>
                  </a:tcPr>
                </a:tc>
                <a:tc>
                  <a:txBody>
                    <a:bodyPr/>
                    <a:lstStyle/>
                    <a:p>
                      <a:pPr indent="0" lvl="0" marL="0" rtl="0" algn="l">
                        <a:spcBef>
                          <a:spcPts val="0"/>
                        </a:spcBef>
                        <a:spcAft>
                          <a:spcPts val="0"/>
                        </a:spcAft>
                        <a:buNone/>
                      </a:pPr>
                      <a:r>
                        <a:t/>
                      </a:r>
                      <a:endParaRPr/>
                    </a:p>
                  </a:txBody>
                  <a:tcPr marT="91425" marB="91425" marR="91425" marL="91425">
                    <a:solidFill>
                      <a:srgbClr val="F9CB9C"/>
                    </a:solidFill>
                  </a:tcPr>
                </a:tc>
              </a:tr>
              <a:tr h="381000">
                <a:tc>
                  <a:txBody>
                    <a:bodyPr/>
                    <a:lstStyle/>
                    <a:p>
                      <a:pPr indent="0" lvl="0" marL="0" rtl="0" algn="l">
                        <a:spcBef>
                          <a:spcPts val="0"/>
                        </a:spcBef>
                        <a:spcAft>
                          <a:spcPts val="0"/>
                        </a:spcAft>
                        <a:buNone/>
                      </a:pPr>
                      <a:r>
                        <a:rPr lang="es" sz="1800">
                          <a:solidFill>
                            <a:schemeClr val="dk2"/>
                          </a:solidFill>
                        </a:rPr>
                        <a:t>b)    rinotraqueitis infecciosa bovina</a:t>
                      </a:r>
                      <a:endParaRPr/>
                    </a:p>
                  </a:txBody>
                  <a:tcPr marT="91425" marB="91425" marR="91425" marL="91425">
                    <a:solidFill>
                      <a:srgbClr val="F9CB9C"/>
                    </a:solidFill>
                  </a:tcPr>
                </a:tc>
                <a:tc>
                  <a:txBody>
                    <a:bodyPr/>
                    <a:lstStyle/>
                    <a:p>
                      <a:pPr indent="0" lvl="0" marL="0" rtl="0" algn="l">
                        <a:spcBef>
                          <a:spcPts val="0"/>
                        </a:spcBef>
                        <a:spcAft>
                          <a:spcPts val="0"/>
                        </a:spcAft>
                        <a:buNone/>
                      </a:pPr>
                      <a:r>
                        <a:t/>
                      </a:r>
                      <a:endParaRPr/>
                    </a:p>
                  </a:txBody>
                  <a:tcPr marT="91425" marB="91425" marR="91425" marL="91425">
                    <a:solidFill>
                      <a:srgbClr val="F9CB9C"/>
                    </a:solidFill>
                  </a:tcPr>
                </a:tc>
              </a:tr>
              <a:tr h="381000">
                <a:tc>
                  <a:txBody>
                    <a:bodyPr/>
                    <a:lstStyle/>
                    <a:p>
                      <a:pPr indent="0" lvl="0" marL="0" rtl="0" algn="l">
                        <a:spcBef>
                          <a:spcPts val="0"/>
                        </a:spcBef>
                        <a:spcAft>
                          <a:spcPts val="0"/>
                        </a:spcAft>
                        <a:buNone/>
                      </a:pPr>
                      <a:r>
                        <a:rPr lang="es" sz="1800">
                          <a:solidFill>
                            <a:schemeClr val="dk2"/>
                          </a:solidFill>
                        </a:rPr>
                        <a:t>c)     neumonia tromboembolica </a:t>
                      </a:r>
                      <a:endParaRPr sz="1800">
                        <a:solidFill>
                          <a:schemeClr val="dk2"/>
                        </a:solidFill>
                      </a:endParaRPr>
                    </a:p>
                  </a:txBody>
                  <a:tcPr marT="91425" marB="91425" marR="91425" marL="91425">
                    <a:solidFill>
                      <a:srgbClr val="F9CB9C"/>
                    </a:solidFill>
                  </a:tcPr>
                </a:tc>
                <a:tc>
                  <a:txBody>
                    <a:bodyPr/>
                    <a:lstStyle/>
                    <a:p>
                      <a:pPr indent="0" lvl="0" marL="0" rtl="0" algn="l">
                        <a:spcBef>
                          <a:spcPts val="0"/>
                        </a:spcBef>
                        <a:spcAft>
                          <a:spcPts val="0"/>
                        </a:spcAft>
                        <a:buNone/>
                      </a:pPr>
                      <a:r>
                        <a:t/>
                      </a:r>
                      <a:endParaRPr/>
                    </a:p>
                  </a:txBody>
                  <a:tcPr marT="91425" marB="91425" marR="91425" marL="91425">
                    <a:solidFill>
                      <a:srgbClr val="F9CB9C"/>
                    </a:solidFill>
                  </a:tcPr>
                </a:tc>
              </a:tr>
            </a:tbl>
          </a:graphicData>
        </a:graphic>
      </p:graphicFrame>
      <p:sp>
        <p:nvSpPr>
          <p:cNvPr id="614" name="Google Shape;614;p57"/>
          <p:cNvSpPr/>
          <p:nvPr/>
        </p:nvSpPr>
        <p:spPr>
          <a:xfrm>
            <a:off x="4768100" y="2190739"/>
            <a:ext cx="533700" cy="3339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Recomendaciones al productor: </a:t>
            </a:r>
            <a:endParaRPr sz="3500"/>
          </a:p>
        </p:txBody>
      </p:sp>
      <p:sp>
        <p:nvSpPr>
          <p:cNvPr id="620" name="Google Shape;620;p58"/>
          <p:cNvSpPr txBox="1"/>
          <p:nvPr>
            <p:ph idx="1" type="body"/>
          </p:nvPr>
        </p:nvSpPr>
        <p:spPr>
          <a:xfrm>
            <a:off x="311700" y="1152475"/>
            <a:ext cx="8520600" cy="34164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Times New Roman"/>
                <a:ea typeface="Times New Roman"/>
                <a:cs typeface="Times New Roman"/>
                <a:sym typeface="Times New Roman"/>
              </a:rPr>
              <a:t>Todos los animales desde el lugar de origen deben someterse a un protocolo de metafilaxia con farmacos antibioticos como oxitetraciclina, esto </a:t>
            </a:r>
            <a:r>
              <a:rPr lang="es">
                <a:latin typeface="Times New Roman"/>
                <a:ea typeface="Times New Roman"/>
                <a:cs typeface="Times New Roman"/>
                <a:sym typeface="Times New Roman"/>
              </a:rPr>
              <a:t>permitirá</a:t>
            </a:r>
            <a:r>
              <a:rPr lang="es">
                <a:latin typeface="Times New Roman"/>
                <a:ea typeface="Times New Roman"/>
                <a:cs typeface="Times New Roman"/>
                <a:sym typeface="Times New Roman"/>
              </a:rPr>
              <a:t> que durante el transporte pueda inhibir el proceso de </a:t>
            </a:r>
            <a:r>
              <a:rPr lang="es">
                <a:latin typeface="Times New Roman"/>
                <a:ea typeface="Times New Roman"/>
                <a:cs typeface="Times New Roman"/>
                <a:sym typeface="Times New Roman"/>
              </a:rPr>
              <a:t>replicación</a:t>
            </a:r>
            <a:r>
              <a:rPr lang="es">
                <a:latin typeface="Times New Roman"/>
                <a:ea typeface="Times New Roman"/>
                <a:cs typeface="Times New Roman"/>
                <a:sym typeface="Times New Roman"/>
              </a:rPr>
              <a:t> bacteriana, principalmente pasteurella sp. </a:t>
            </a:r>
            <a:endParaRPr>
              <a:latin typeface="Times New Roman"/>
              <a:ea typeface="Times New Roman"/>
              <a:cs typeface="Times New Roman"/>
              <a:sym typeface="Times New Roman"/>
            </a:endParaRPr>
          </a:p>
          <a:p>
            <a:pPr indent="0" lvl="0" marL="0" rtl="0" algn="just">
              <a:spcBef>
                <a:spcPts val="1200"/>
              </a:spcBef>
              <a:spcAft>
                <a:spcPts val="0"/>
              </a:spcAft>
              <a:buNone/>
            </a:pPr>
            <a:r>
              <a:rPr lang="es">
                <a:latin typeface="Times New Roman"/>
                <a:ea typeface="Times New Roman"/>
                <a:cs typeface="Times New Roman"/>
                <a:sym typeface="Times New Roman"/>
              </a:rPr>
              <a:t>También</a:t>
            </a:r>
            <a:r>
              <a:rPr lang="es">
                <a:latin typeface="Times New Roman"/>
                <a:ea typeface="Times New Roman"/>
                <a:cs typeface="Times New Roman"/>
                <a:sym typeface="Times New Roman"/>
              </a:rPr>
              <a:t> se recomienda establecer protocolos de </a:t>
            </a:r>
            <a:r>
              <a:rPr lang="es">
                <a:latin typeface="Times New Roman"/>
                <a:ea typeface="Times New Roman"/>
                <a:cs typeface="Times New Roman"/>
                <a:sym typeface="Times New Roman"/>
              </a:rPr>
              <a:t>desparasitación</a:t>
            </a:r>
            <a:r>
              <a:rPr lang="es">
                <a:latin typeface="Times New Roman"/>
                <a:ea typeface="Times New Roman"/>
                <a:cs typeface="Times New Roman"/>
                <a:sym typeface="Times New Roman"/>
              </a:rPr>
              <a:t> interna con </a:t>
            </a:r>
            <a:r>
              <a:rPr lang="es">
                <a:latin typeface="Times New Roman"/>
                <a:ea typeface="Times New Roman"/>
                <a:cs typeface="Times New Roman"/>
                <a:sym typeface="Times New Roman"/>
              </a:rPr>
              <a:t>fármacos</a:t>
            </a:r>
            <a:r>
              <a:rPr lang="es">
                <a:latin typeface="Times New Roman"/>
                <a:ea typeface="Times New Roman"/>
                <a:cs typeface="Times New Roman"/>
                <a:sym typeface="Times New Roman"/>
              </a:rPr>
              <a:t> como el </a:t>
            </a:r>
            <a:r>
              <a:rPr lang="es">
                <a:latin typeface="Times New Roman"/>
                <a:ea typeface="Times New Roman"/>
                <a:cs typeface="Times New Roman"/>
                <a:sym typeface="Times New Roman"/>
              </a:rPr>
              <a:t>albendazol</a:t>
            </a:r>
            <a:r>
              <a:rPr lang="es">
                <a:latin typeface="Times New Roman"/>
                <a:ea typeface="Times New Roman"/>
                <a:cs typeface="Times New Roman"/>
                <a:sym typeface="Times New Roman"/>
              </a:rPr>
              <a:t> o levamisol, </a:t>
            </a:r>
            <a:r>
              <a:rPr lang="es">
                <a:latin typeface="Times New Roman"/>
                <a:ea typeface="Times New Roman"/>
                <a:cs typeface="Times New Roman"/>
                <a:sym typeface="Times New Roman"/>
              </a:rPr>
              <a:t>además</a:t>
            </a:r>
            <a:r>
              <a:rPr lang="es">
                <a:latin typeface="Times New Roman"/>
                <a:ea typeface="Times New Roman"/>
                <a:cs typeface="Times New Roman"/>
                <a:sym typeface="Times New Roman"/>
              </a:rPr>
              <a:t> de realizar baños garrapaticidas. De igual forma </a:t>
            </a:r>
            <a:r>
              <a:rPr lang="es">
                <a:latin typeface="Times New Roman"/>
                <a:ea typeface="Times New Roman"/>
                <a:cs typeface="Times New Roman"/>
                <a:sym typeface="Times New Roman"/>
              </a:rPr>
              <a:t>deberán</a:t>
            </a:r>
            <a:r>
              <a:rPr lang="es">
                <a:latin typeface="Times New Roman"/>
                <a:ea typeface="Times New Roman"/>
                <a:cs typeface="Times New Roman"/>
                <a:sym typeface="Times New Roman"/>
              </a:rPr>
              <a:t> establecer un protocolo de </a:t>
            </a:r>
            <a:r>
              <a:rPr lang="es">
                <a:latin typeface="Times New Roman"/>
                <a:ea typeface="Times New Roman"/>
                <a:cs typeface="Times New Roman"/>
                <a:sym typeface="Times New Roman"/>
              </a:rPr>
              <a:t>vacunación</a:t>
            </a:r>
            <a:r>
              <a:rPr lang="es">
                <a:latin typeface="Times New Roman"/>
                <a:ea typeface="Times New Roman"/>
                <a:cs typeface="Times New Roman"/>
                <a:sym typeface="Times New Roman"/>
              </a:rPr>
              <a:t> que debe incluir:</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s">
                <a:latin typeface="Times New Roman"/>
                <a:ea typeface="Times New Roman"/>
                <a:cs typeface="Times New Roman"/>
                <a:sym typeface="Times New Roman"/>
              </a:rPr>
              <a:t>Bacterina triple contra </a:t>
            </a:r>
            <a:r>
              <a:rPr lang="es">
                <a:latin typeface="Times New Roman"/>
                <a:ea typeface="Times New Roman"/>
                <a:cs typeface="Times New Roman"/>
                <a:sym typeface="Times New Roman"/>
              </a:rPr>
              <a:t>Pasteurelosis</a:t>
            </a:r>
            <a:r>
              <a:rPr lang="es">
                <a:latin typeface="Times New Roman"/>
                <a:ea typeface="Times New Roman"/>
                <a:cs typeface="Times New Roman"/>
                <a:sym typeface="Times New Roman"/>
              </a:rPr>
              <a:t>, carbón </a:t>
            </a:r>
            <a:r>
              <a:rPr lang="es">
                <a:latin typeface="Times New Roman"/>
                <a:ea typeface="Times New Roman"/>
                <a:cs typeface="Times New Roman"/>
                <a:sym typeface="Times New Roman"/>
              </a:rPr>
              <a:t>sintomático</a:t>
            </a:r>
            <a:r>
              <a:rPr lang="es">
                <a:latin typeface="Times New Roman"/>
                <a:ea typeface="Times New Roman"/>
                <a:cs typeface="Times New Roman"/>
                <a:sym typeface="Times New Roman"/>
              </a:rPr>
              <a:t> y edema maligno</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s">
                <a:latin typeface="Times New Roman"/>
                <a:ea typeface="Times New Roman"/>
                <a:cs typeface="Times New Roman"/>
                <a:sym typeface="Times New Roman"/>
              </a:rPr>
              <a:t>vacuna ONE SHOT DVB de laboratorio Zoetis </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s">
                <a:latin typeface="Times New Roman"/>
                <a:ea typeface="Times New Roman"/>
                <a:cs typeface="Times New Roman"/>
                <a:sym typeface="Times New Roman"/>
              </a:rPr>
              <a:t>Vacuna BOVILIS VISTA 5 L5 SQ de laboratorio MSD</a:t>
            </a:r>
            <a:endParaRPr>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9"/>
          <p:cNvSpPr txBox="1"/>
          <p:nvPr>
            <p:ph idx="1" type="body"/>
          </p:nvPr>
        </p:nvSpPr>
        <p:spPr>
          <a:xfrm>
            <a:off x="311700" y="498800"/>
            <a:ext cx="8520600" cy="2380500"/>
          </a:xfrm>
          <a:prstGeom prst="rect">
            <a:avLst/>
          </a:prstGeom>
          <a:solidFill>
            <a:srgbClr val="FCE5CD"/>
          </a:solidFill>
        </p:spPr>
        <p:txBody>
          <a:bodyPr anchorCtr="0" anchor="t" bIns="91425" lIns="91425" spcFirstLastPara="1" rIns="91425" wrap="square" tIns="91425">
            <a:normAutofit/>
          </a:bodyPr>
          <a:lstStyle/>
          <a:p>
            <a:pPr indent="0" lvl="0" marL="0" rtl="0" algn="ctr">
              <a:spcBef>
                <a:spcPts val="0"/>
              </a:spcBef>
              <a:spcAft>
                <a:spcPts val="0"/>
              </a:spcAft>
              <a:buNone/>
            </a:pPr>
            <a:r>
              <a:rPr lang="es"/>
              <a:t>¡Bien hecho!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Has llegado a la </a:t>
            </a:r>
            <a:r>
              <a:rPr lang="es"/>
              <a:t>conclusión</a:t>
            </a:r>
            <a:r>
              <a:rPr lang="es"/>
              <a:t> del caso </a:t>
            </a:r>
            <a:r>
              <a:rPr lang="es"/>
              <a:t>clínico</a:t>
            </a:r>
            <a:r>
              <a:rPr lang="es"/>
              <a:t> de Milagros; a </a:t>
            </a:r>
            <a:r>
              <a:rPr lang="es"/>
              <a:t>continuación</a:t>
            </a:r>
            <a:r>
              <a:rPr lang="es"/>
              <a:t> te presentamos algunos hallazgos post mortem y una pequeña reseña para complementar tu aprendizaje. </a:t>
            </a:r>
            <a:endParaRPr/>
          </a:p>
        </p:txBody>
      </p:sp>
      <p:sp>
        <p:nvSpPr>
          <p:cNvPr id="626" name="Google Shape;626;p59"/>
          <p:cNvSpPr txBox="1"/>
          <p:nvPr/>
        </p:nvSpPr>
        <p:spPr>
          <a:xfrm>
            <a:off x="593925" y="2879300"/>
            <a:ext cx="748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0"/>
          <p:cNvSpPr txBox="1"/>
          <p:nvPr>
            <p:ph type="title"/>
          </p:nvPr>
        </p:nvSpPr>
        <p:spPr>
          <a:xfrm>
            <a:off x="311700" y="445025"/>
            <a:ext cx="4900800" cy="12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Hallazgos post mortem:</a:t>
            </a:r>
            <a:endParaRPr sz="3500"/>
          </a:p>
        </p:txBody>
      </p:sp>
      <p:sp>
        <p:nvSpPr>
          <p:cNvPr id="632" name="Google Shape;632;p60"/>
          <p:cNvSpPr txBox="1"/>
          <p:nvPr>
            <p:ph idx="1" type="body"/>
          </p:nvPr>
        </p:nvSpPr>
        <p:spPr>
          <a:xfrm>
            <a:off x="6088150" y="445025"/>
            <a:ext cx="2951700" cy="4184700"/>
          </a:xfrm>
          <a:prstGeom prst="rect">
            <a:avLst/>
          </a:prstGeom>
          <a:solidFill>
            <a:srgbClr val="CFE2F3"/>
          </a:solidFill>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a:t>En la descripción </a:t>
            </a:r>
            <a:r>
              <a:rPr lang="es"/>
              <a:t>macroscópica</a:t>
            </a:r>
            <a:r>
              <a:rPr lang="es"/>
              <a:t>, </a:t>
            </a:r>
            <a:r>
              <a:rPr lang="es"/>
              <a:t>además</a:t>
            </a:r>
            <a:r>
              <a:rPr lang="es"/>
              <a:t> de la </a:t>
            </a:r>
            <a:r>
              <a:rPr lang="es"/>
              <a:t>inspección</a:t>
            </a:r>
            <a:r>
              <a:rPr lang="es"/>
              <a:t> interna y </a:t>
            </a:r>
            <a:r>
              <a:rPr lang="es"/>
              <a:t>externa</a:t>
            </a:r>
            <a:r>
              <a:rPr lang="es"/>
              <a:t>, se evaluaron: </a:t>
            </a:r>
            <a:endParaRPr/>
          </a:p>
          <a:p>
            <a:pPr indent="0" lvl="0" marL="0" rtl="0" algn="l">
              <a:spcBef>
                <a:spcPts val="1200"/>
              </a:spcBef>
              <a:spcAft>
                <a:spcPts val="1200"/>
              </a:spcAft>
              <a:buNone/>
            </a:pPr>
            <a:r>
              <a:rPr lang="es"/>
              <a:t>Cavidad torácica, cavidad Abdominal, Cavidad craneana. las cuales si presentaron alteraciones, y el resto de los </a:t>
            </a:r>
            <a:r>
              <a:rPr lang="es"/>
              <a:t>órganos</a:t>
            </a:r>
            <a:r>
              <a:rPr lang="es"/>
              <a:t> evaluados no presento alteraciones macroscópicas aparentes, salvo grados variables de congestión. </a:t>
            </a:r>
            <a:endParaRPr/>
          </a:p>
        </p:txBody>
      </p:sp>
      <p:pic>
        <p:nvPicPr>
          <p:cNvPr id="633" name="Google Shape;633;p60" title="NxmacroMilagros.png"/>
          <p:cNvPicPr preferRelativeResize="0"/>
          <p:nvPr/>
        </p:nvPicPr>
        <p:blipFill>
          <a:blip r:embed="rId3">
            <a:alphaModFix/>
          </a:blip>
          <a:stretch>
            <a:fillRect/>
          </a:stretch>
        </p:blipFill>
        <p:spPr>
          <a:xfrm>
            <a:off x="88200" y="1728825"/>
            <a:ext cx="5869225" cy="22489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1"/>
          <p:cNvSpPr txBox="1"/>
          <p:nvPr>
            <p:ph idx="1" type="body"/>
          </p:nvPr>
        </p:nvSpPr>
        <p:spPr>
          <a:xfrm>
            <a:off x="4986125" y="1357325"/>
            <a:ext cx="3355200" cy="79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39" name="Google Shape;639;p61" title="NxmicroMilagros.png"/>
          <p:cNvPicPr preferRelativeResize="0"/>
          <p:nvPr/>
        </p:nvPicPr>
        <p:blipFill>
          <a:blip r:embed="rId3">
            <a:alphaModFix/>
          </a:blip>
          <a:stretch>
            <a:fillRect/>
          </a:stretch>
        </p:blipFill>
        <p:spPr>
          <a:xfrm>
            <a:off x="825280" y="1948000"/>
            <a:ext cx="8145550" cy="2807000"/>
          </a:xfrm>
          <a:prstGeom prst="rect">
            <a:avLst/>
          </a:prstGeom>
          <a:noFill/>
          <a:ln>
            <a:noFill/>
          </a:ln>
        </p:spPr>
      </p:pic>
      <p:sp>
        <p:nvSpPr>
          <p:cNvPr id="640" name="Google Shape;640;p61"/>
          <p:cNvSpPr txBox="1"/>
          <p:nvPr>
            <p:ph type="title"/>
          </p:nvPr>
        </p:nvSpPr>
        <p:spPr>
          <a:xfrm>
            <a:off x="252925" y="293850"/>
            <a:ext cx="4900800" cy="12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Hallazgos post mortem:</a:t>
            </a:r>
            <a:endParaRPr sz="35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2"/>
          <p:cNvSpPr txBox="1"/>
          <p:nvPr>
            <p:ph idx="1" type="body"/>
          </p:nvPr>
        </p:nvSpPr>
        <p:spPr>
          <a:xfrm>
            <a:off x="311700" y="2134225"/>
            <a:ext cx="2498400" cy="24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46" name="Google Shape;646;p62" title="NxMilagros.png"/>
          <p:cNvPicPr preferRelativeResize="0"/>
          <p:nvPr/>
        </p:nvPicPr>
        <p:blipFill>
          <a:blip r:embed="rId3">
            <a:alphaModFix/>
          </a:blip>
          <a:stretch>
            <a:fillRect/>
          </a:stretch>
        </p:blipFill>
        <p:spPr>
          <a:xfrm>
            <a:off x="4239042" y="1017725"/>
            <a:ext cx="4590359" cy="3973375"/>
          </a:xfrm>
          <a:prstGeom prst="rect">
            <a:avLst/>
          </a:prstGeom>
          <a:noFill/>
          <a:ln>
            <a:noFill/>
          </a:ln>
        </p:spPr>
      </p:pic>
      <p:sp>
        <p:nvSpPr>
          <p:cNvPr id="647" name="Google Shape;647;p62"/>
          <p:cNvSpPr txBox="1"/>
          <p:nvPr>
            <p:ph type="title"/>
          </p:nvPr>
        </p:nvSpPr>
        <p:spPr>
          <a:xfrm>
            <a:off x="311700" y="445025"/>
            <a:ext cx="4900800" cy="12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Hallazgos post mortem:</a:t>
            </a:r>
            <a:endParaRPr sz="35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 de la Necropsia </a:t>
            </a:r>
            <a:endParaRPr/>
          </a:p>
        </p:txBody>
      </p:sp>
      <p:sp>
        <p:nvSpPr>
          <p:cNvPr id="653" name="Google Shape;653;p63"/>
          <p:cNvSpPr txBox="1"/>
          <p:nvPr>
            <p:ph idx="1" type="body"/>
          </p:nvPr>
        </p:nvSpPr>
        <p:spPr>
          <a:xfrm>
            <a:off x="311700" y="1152475"/>
            <a:ext cx="8520600" cy="3416400"/>
          </a:xfrm>
          <a:prstGeom prst="rect">
            <a:avLst/>
          </a:prstGeom>
          <a:solidFill>
            <a:srgbClr val="CFE2F3"/>
          </a:solidFill>
        </p:spPr>
        <p:txBody>
          <a:bodyPr anchorCtr="0" anchor="t" bIns="91425" lIns="91425" spcFirstLastPara="1" rIns="91425" wrap="square" tIns="91425">
            <a:normAutofit/>
          </a:bodyPr>
          <a:lstStyle/>
          <a:p>
            <a:pPr indent="0" lvl="0" marL="0" rtl="0" algn="just">
              <a:spcBef>
                <a:spcPts val="0"/>
              </a:spcBef>
              <a:spcAft>
                <a:spcPts val="0"/>
              </a:spcAft>
              <a:buNone/>
            </a:pPr>
            <a:r>
              <a:rPr lang="es">
                <a:latin typeface="Times New Roman"/>
                <a:ea typeface="Times New Roman"/>
                <a:cs typeface="Times New Roman"/>
                <a:sym typeface="Times New Roman"/>
              </a:rPr>
              <a:t>los hallazgos recabados durante el estudio post mortem de la Vaca Milagros </a:t>
            </a:r>
            <a:r>
              <a:rPr lang="es">
                <a:latin typeface="Times New Roman"/>
                <a:ea typeface="Times New Roman"/>
                <a:cs typeface="Times New Roman"/>
                <a:sym typeface="Times New Roman"/>
              </a:rPr>
              <a:t>evidencian</a:t>
            </a:r>
            <a:r>
              <a:rPr lang="es">
                <a:latin typeface="Times New Roman"/>
                <a:ea typeface="Times New Roman"/>
                <a:cs typeface="Times New Roman"/>
                <a:sym typeface="Times New Roman"/>
              </a:rPr>
              <a:t> procesos inflamatorios de magnitudes diferentes principalmente en órganos como intestino delgado, SNC, y parénquima hepático.</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s">
                <a:latin typeface="Times New Roman"/>
                <a:ea typeface="Times New Roman"/>
                <a:cs typeface="Times New Roman"/>
                <a:sym typeface="Times New Roman"/>
              </a:rPr>
              <a:t>Ante la ausencia de agentes infecciosos o neoplasias identificables no es posible establecer </a:t>
            </a:r>
            <a:r>
              <a:rPr lang="es">
                <a:latin typeface="Times New Roman"/>
                <a:ea typeface="Times New Roman"/>
                <a:cs typeface="Times New Roman"/>
                <a:sym typeface="Times New Roman"/>
              </a:rPr>
              <a:t>con certeza</a:t>
            </a:r>
            <a:r>
              <a:rPr lang="es">
                <a:latin typeface="Times New Roman"/>
                <a:ea typeface="Times New Roman"/>
                <a:cs typeface="Times New Roman"/>
                <a:sym typeface="Times New Roman"/>
              </a:rPr>
              <a:t> la etiología del cuadro descrito, </a:t>
            </a:r>
            <a:r>
              <a:rPr lang="es">
                <a:latin typeface="Times New Roman"/>
                <a:ea typeface="Times New Roman"/>
                <a:cs typeface="Times New Roman"/>
                <a:sym typeface="Times New Roman"/>
              </a:rPr>
              <a:t>sin embargo</a:t>
            </a:r>
            <a:r>
              <a:rPr lang="es">
                <a:latin typeface="Times New Roman"/>
                <a:ea typeface="Times New Roman"/>
                <a:cs typeface="Times New Roman"/>
                <a:sym typeface="Times New Roman"/>
              </a:rPr>
              <a:t>, la presencia de atrofia y </a:t>
            </a:r>
            <a:r>
              <a:rPr lang="es">
                <a:latin typeface="Times New Roman"/>
                <a:ea typeface="Times New Roman"/>
                <a:cs typeface="Times New Roman"/>
                <a:sym typeface="Times New Roman"/>
              </a:rPr>
              <a:t>fusión</a:t>
            </a:r>
            <a:r>
              <a:rPr lang="es">
                <a:latin typeface="Times New Roman"/>
                <a:ea typeface="Times New Roman"/>
                <a:cs typeface="Times New Roman"/>
                <a:sym typeface="Times New Roman"/>
              </a:rPr>
              <a:t> de vellosidades intestinales permite considerar Coronavirus bovino, y la meningoencefalitis no supurativa y plexitis coroidea, </a:t>
            </a:r>
            <a:r>
              <a:rPr lang="es">
                <a:latin typeface="Times New Roman"/>
                <a:ea typeface="Times New Roman"/>
                <a:cs typeface="Times New Roman"/>
                <a:sym typeface="Times New Roman"/>
              </a:rPr>
              <a:t>así</a:t>
            </a:r>
            <a:r>
              <a:rPr lang="es">
                <a:latin typeface="Times New Roman"/>
                <a:ea typeface="Times New Roman"/>
                <a:cs typeface="Times New Roman"/>
                <a:sym typeface="Times New Roman"/>
              </a:rPr>
              <a:t> como la hepatitis necrótica es sugerente a un cuadro infeccioso no convencional de Diarrea viral bovina, que puede presentarse en individuos persistentemente infectados con cepas virales no </a:t>
            </a:r>
            <a:r>
              <a:rPr lang="es">
                <a:latin typeface="Times New Roman"/>
                <a:ea typeface="Times New Roman"/>
                <a:cs typeface="Times New Roman"/>
                <a:sym typeface="Times New Roman"/>
              </a:rPr>
              <a:t>citopáticas</a:t>
            </a:r>
            <a:r>
              <a:rPr lang="e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