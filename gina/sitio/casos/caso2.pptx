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42B2CEF-8FDF-4996-B793-AAA11D85B9D2}">
  <a:tblStyle styleId="{B42B2CEF-8FDF-4996-B793-AAA11D85B9D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7bb7e920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7bb7e920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f3ce504f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f3ce504f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5b9e52b2f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5b9e52b2f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f3ce504f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f3ce504f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f3ce504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cf3ce504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f3ce504f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f3ce504f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f3ce504fe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f3ce504f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f3ce504f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cf3ce504f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f3ce504fe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cf3ce504f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f3ce504f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cf3ce504f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7bb7e920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7bb7e920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f3ce504fe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cf3ce504f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f3ce504fe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cf3ce504fe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7bb7e920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d7bb7e920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f3ce504fe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cf3ce504fe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a4cf0ed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da4cf0ed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cf3ce504fe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cf3ce504fe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cf3ce504fe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cf3ce504fe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da4cf0ed3b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da4cf0ed3b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da4cf0ed3b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da4cf0ed3b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da4cf0ed3b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da4cf0ed3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a4cf0ed3b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da4cf0ed3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a4cf0ed3b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da4cf0ed3b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da4cf0ed3b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da4cf0ed3b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cf3ce504f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cf3ce504f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da4cf0ed3b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da4cf0ed3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mailto:FIVRancho@correo.com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Proyecto PAPIME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casos </a:t>
            </a:r>
            <a:r>
              <a:rPr lang="es"/>
              <a:t>clínicos</a:t>
            </a:r>
            <a:r>
              <a:rPr lang="es"/>
              <a:t> participativos en rumiantes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311700" y="744575"/>
            <a:ext cx="8520600" cy="144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200">
                <a:solidFill>
                  <a:srgbClr val="000000"/>
                </a:solidFill>
              </a:rPr>
              <a:t>CASO #</a:t>
            </a:r>
            <a:r>
              <a:rPr lang="es" sz="5200"/>
              <a:t>2</a:t>
            </a:r>
            <a:r>
              <a:rPr lang="es" sz="5200">
                <a:solidFill>
                  <a:srgbClr val="000000"/>
                </a:solidFill>
              </a:rPr>
              <a:t>. BOVINO </a:t>
            </a:r>
            <a:endParaRPr sz="52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200">
              <a:solidFill>
                <a:srgbClr val="000000"/>
              </a:solidFill>
            </a:endParaRPr>
          </a:p>
        </p:txBody>
      </p:sp>
      <p:pic>
        <p:nvPicPr>
          <p:cNvPr id="61" name="Google Shape;61;p14" title="gy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4675" y="1894800"/>
            <a:ext cx="4588200" cy="2849400"/>
          </a:xfrm>
          <a:prstGeom prst="flowChartDelay">
            <a:avLst/>
          </a:prstGeom>
          <a:noFill/>
          <a:ln>
            <a:noFill/>
          </a:ln>
        </p:spPr>
      </p:pic>
      <p:pic>
        <p:nvPicPr>
          <p:cNvPr id="62" name="Google Shape;62;p14" title="edomex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825" y="1994388"/>
            <a:ext cx="3606600" cy="2650200"/>
          </a:xfrm>
          <a:prstGeom prst="flowChartOffpageConnector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87425" y="131025"/>
            <a:ext cx="85206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CONSTRUCCIÓN DEL CASO CLÍNICO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8" name="Google Shape;68;p15"/>
          <p:cNvSpPr txBox="1"/>
          <p:nvPr/>
        </p:nvSpPr>
        <p:spPr>
          <a:xfrm>
            <a:off x="4718425" y="726825"/>
            <a:ext cx="3981000" cy="1569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C</a:t>
            </a:r>
            <a:r>
              <a:rPr lang="es" sz="1800">
                <a:solidFill>
                  <a:schemeClr val="dk1"/>
                </a:solidFill>
              </a:rPr>
              <a:t>on la finalidad de establecer un adecuado abordaje médico en un caso clínico real, se debe establecer una secuencia lógica que sigue un orden específico  en los hechos.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124400" y="4513500"/>
            <a:ext cx="1372882" cy="21431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MOTIVO DE CONSULTA </a:t>
            </a:r>
            <a:endParaRPr sz="1000"/>
          </a:p>
        </p:txBody>
      </p:sp>
      <p:sp>
        <p:nvSpPr>
          <p:cNvPr id="70" name="Google Shape;70;p15"/>
          <p:cNvSpPr/>
          <p:nvPr/>
        </p:nvSpPr>
        <p:spPr>
          <a:xfrm>
            <a:off x="124400" y="4233650"/>
            <a:ext cx="1293459" cy="21431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HISTORIA CLÍNICA</a:t>
            </a:r>
            <a:endParaRPr sz="1000"/>
          </a:p>
        </p:txBody>
      </p:sp>
      <p:sp>
        <p:nvSpPr>
          <p:cNvPr id="71" name="Google Shape;71;p15"/>
          <p:cNvSpPr/>
          <p:nvPr/>
        </p:nvSpPr>
        <p:spPr>
          <a:xfrm>
            <a:off x="198150" y="3114251"/>
            <a:ext cx="1225383" cy="21431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EXAMEN A DISTANCIA </a:t>
            </a:r>
            <a:endParaRPr sz="900"/>
          </a:p>
        </p:txBody>
      </p:sp>
      <p:sp>
        <p:nvSpPr>
          <p:cNvPr id="72" name="Google Shape;72;p15"/>
          <p:cNvSpPr/>
          <p:nvPr/>
        </p:nvSpPr>
        <p:spPr>
          <a:xfrm>
            <a:off x="124400" y="2866300"/>
            <a:ext cx="1372882" cy="182434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EXAMEN FÍSICO GENERAL </a:t>
            </a:r>
            <a:endParaRPr sz="900"/>
          </a:p>
        </p:txBody>
      </p:sp>
      <p:sp>
        <p:nvSpPr>
          <p:cNvPr id="73" name="Google Shape;73;p15"/>
          <p:cNvSpPr/>
          <p:nvPr/>
        </p:nvSpPr>
        <p:spPr>
          <a:xfrm>
            <a:off x="124400" y="3673950"/>
            <a:ext cx="1293459" cy="21431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EXAMEN FÍSICO ESPECIAL </a:t>
            </a:r>
            <a:endParaRPr sz="800"/>
          </a:p>
        </p:txBody>
      </p:sp>
      <p:sp>
        <p:nvSpPr>
          <p:cNvPr id="74" name="Google Shape;74;p15"/>
          <p:cNvSpPr/>
          <p:nvPr/>
        </p:nvSpPr>
        <p:spPr>
          <a:xfrm>
            <a:off x="174025" y="3394100"/>
            <a:ext cx="990896" cy="21431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ANAMNESIS</a:t>
            </a:r>
            <a:endParaRPr sz="1000"/>
          </a:p>
        </p:txBody>
      </p:sp>
      <p:sp>
        <p:nvSpPr>
          <p:cNvPr id="75" name="Google Shape;75;p15"/>
          <p:cNvSpPr/>
          <p:nvPr/>
        </p:nvSpPr>
        <p:spPr>
          <a:xfrm>
            <a:off x="124400" y="3953800"/>
            <a:ext cx="990896" cy="21431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RESEÑA </a:t>
            </a:r>
            <a:endParaRPr sz="1000"/>
          </a:p>
        </p:txBody>
      </p:sp>
      <p:sp>
        <p:nvSpPr>
          <p:cNvPr id="76" name="Google Shape;76;p15"/>
          <p:cNvSpPr/>
          <p:nvPr/>
        </p:nvSpPr>
        <p:spPr>
          <a:xfrm>
            <a:off x="3307075" y="2111516"/>
            <a:ext cx="1042500" cy="3909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EXPLORACIÓN</a:t>
            </a:r>
            <a:endParaRPr sz="1000"/>
          </a:p>
        </p:txBody>
      </p:sp>
      <p:sp>
        <p:nvSpPr>
          <p:cNvPr id="77" name="Google Shape;77;p15"/>
          <p:cNvSpPr/>
          <p:nvPr/>
        </p:nvSpPr>
        <p:spPr>
          <a:xfrm>
            <a:off x="3180776" y="2502425"/>
            <a:ext cx="12951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1934425" y="2111516"/>
            <a:ext cx="1042500" cy="3909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58">
                <a:latin typeface="Calibri"/>
                <a:ea typeface="Calibri"/>
                <a:cs typeface="Calibri"/>
                <a:sym typeface="Calibri"/>
              </a:rPr>
              <a:t>INTERROGATORIO </a:t>
            </a:r>
            <a:endParaRPr sz="658"/>
          </a:p>
        </p:txBody>
      </p:sp>
      <p:sp>
        <p:nvSpPr>
          <p:cNvPr id="79" name="Google Shape;79;p15"/>
          <p:cNvSpPr/>
          <p:nvPr/>
        </p:nvSpPr>
        <p:spPr>
          <a:xfrm>
            <a:off x="1808126" y="2502425"/>
            <a:ext cx="12951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124400" y="1034875"/>
            <a:ext cx="4109700" cy="646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Acomoda en orden secuencial los aspectos del interrogatorio y de la exploración 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87425" y="131025"/>
            <a:ext cx="85206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/>
              <a:t>CONSTRUCCIÓN DEL CASO CLÍNICO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86" name="Google Shape;86;p16"/>
          <p:cNvSpPr txBox="1"/>
          <p:nvPr/>
        </p:nvSpPr>
        <p:spPr>
          <a:xfrm>
            <a:off x="4718425" y="726825"/>
            <a:ext cx="3981000" cy="1569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con la finalidad de establecer un adecuado abordaje médico en un caso clínico real, se debe establecer una secuencia lógica que sigue un orden específico  en los hechos.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298275" y="3324463"/>
            <a:ext cx="1372882" cy="21431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MOTIVO DE CONSULTA </a:t>
            </a:r>
            <a:endParaRPr sz="1000"/>
          </a:p>
        </p:txBody>
      </p:sp>
      <p:sp>
        <p:nvSpPr>
          <p:cNvPr id="88" name="Google Shape;88;p16"/>
          <p:cNvSpPr/>
          <p:nvPr/>
        </p:nvSpPr>
        <p:spPr>
          <a:xfrm>
            <a:off x="416375" y="4398100"/>
            <a:ext cx="1293459" cy="21431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HISTORIA CLÍNICA</a:t>
            </a:r>
            <a:endParaRPr sz="1000"/>
          </a:p>
        </p:txBody>
      </p:sp>
      <p:sp>
        <p:nvSpPr>
          <p:cNvPr id="89" name="Google Shape;89;p16"/>
          <p:cNvSpPr/>
          <p:nvPr/>
        </p:nvSpPr>
        <p:spPr>
          <a:xfrm>
            <a:off x="2986538" y="2678751"/>
            <a:ext cx="1225383" cy="21431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EXAMEN A DISTANCIA </a:t>
            </a:r>
            <a:endParaRPr sz="900"/>
          </a:p>
        </p:txBody>
      </p:sp>
      <p:sp>
        <p:nvSpPr>
          <p:cNvPr id="90" name="Google Shape;90;p16"/>
          <p:cNvSpPr/>
          <p:nvPr/>
        </p:nvSpPr>
        <p:spPr>
          <a:xfrm>
            <a:off x="2912787" y="3535863"/>
            <a:ext cx="1372882" cy="182434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EXAMEN FÍSICO GENERAL </a:t>
            </a:r>
            <a:endParaRPr sz="900"/>
          </a:p>
        </p:txBody>
      </p:sp>
      <p:sp>
        <p:nvSpPr>
          <p:cNvPr id="91" name="Google Shape;91;p16"/>
          <p:cNvSpPr/>
          <p:nvPr/>
        </p:nvSpPr>
        <p:spPr>
          <a:xfrm>
            <a:off x="2952513" y="4361100"/>
            <a:ext cx="1293459" cy="21431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EXAMEN FÍSICO ESPECIAL </a:t>
            </a:r>
            <a:endParaRPr sz="800"/>
          </a:p>
        </p:txBody>
      </p:sp>
      <p:sp>
        <p:nvSpPr>
          <p:cNvPr id="92" name="Google Shape;92;p16"/>
          <p:cNvSpPr/>
          <p:nvPr/>
        </p:nvSpPr>
        <p:spPr>
          <a:xfrm>
            <a:off x="489275" y="3861275"/>
            <a:ext cx="990896" cy="21431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ANAMNESIS</a:t>
            </a:r>
            <a:endParaRPr sz="1000"/>
          </a:p>
        </p:txBody>
      </p:sp>
      <p:sp>
        <p:nvSpPr>
          <p:cNvPr id="93" name="Google Shape;93;p16"/>
          <p:cNvSpPr/>
          <p:nvPr/>
        </p:nvSpPr>
        <p:spPr>
          <a:xfrm>
            <a:off x="489275" y="2651975"/>
            <a:ext cx="990896" cy="21431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RESEÑA </a:t>
            </a:r>
            <a:endParaRPr sz="1000"/>
          </a:p>
        </p:txBody>
      </p:sp>
      <p:sp>
        <p:nvSpPr>
          <p:cNvPr id="94" name="Google Shape;94;p16"/>
          <p:cNvSpPr/>
          <p:nvPr/>
        </p:nvSpPr>
        <p:spPr>
          <a:xfrm>
            <a:off x="3077975" y="2123466"/>
            <a:ext cx="1042500" cy="3909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EXPLORACIÓN</a:t>
            </a:r>
            <a:endParaRPr sz="1000"/>
          </a:p>
        </p:txBody>
      </p:sp>
      <p:sp>
        <p:nvSpPr>
          <p:cNvPr id="95" name="Google Shape;95;p16"/>
          <p:cNvSpPr/>
          <p:nvPr/>
        </p:nvSpPr>
        <p:spPr>
          <a:xfrm>
            <a:off x="2951676" y="2514375"/>
            <a:ext cx="12951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463475" y="2111516"/>
            <a:ext cx="1042500" cy="3909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58">
                <a:latin typeface="Calibri"/>
                <a:ea typeface="Calibri"/>
                <a:cs typeface="Calibri"/>
                <a:sym typeface="Calibri"/>
              </a:rPr>
              <a:t>INTERROGATORIO </a:t>
            </a:r>
            <a:endParaRPr sz="658"/>
          </a:p>
        </p:txBody>
      </p:sp>
      <p:sp>
        <p:nvSpPr>
          <p:cNvPr id="97" name="Google Shape;97;p16"/>
          <p:cNvSpPr/>
          <p:nvPr/>
        </p:nvSpPr>
        <p:spPr>
          <a:xfrm>
            <a:off x="337163" y="2502413"/>
            <a:ext cx="12951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124400" y="1034875"/>
            <a:ext cx="4109700" cy="646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Acomoda </a:t>
            </a:r>
            <a:r>
              <a:rPr lang="es" sz="1500">
                <a:solidFill>
                  <a:schemeClr val="dk2"/>
                </a:solidFill>
              </a:rPr>
              <a:t>en orden secuencial los aspectos del interrogatorio y de la exploración 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4572001" y="2643812"/>
            <a:ext cx="4320000" cy="7086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77950" lIns="77950" spcFirstLastPara="1" rIns="77950" wrap="square" tIns="7795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193">
                <a:latin typeface="Times New Roman"/>
                <a:ea typeface="Times New Roman"/>
                <a:cs typeface="Times New Roman"/>
                <a:sym typeface="Times New Roman"/>
              </a:rPr>
              <a:t>Retroalimentación correcta</a:t>
            </a:r>
            <a:endParaRPr sz="1193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193">
                <a:latin typeface="Times New Roman"/>
                <a:ea typeface="Times New Roman"/>
                <a:cs typeface="Times New Roman"/>
                <a:sym typeface="Times New Roman"/>
              </a:rPr>
              <a:t>¡Bien hecho! el abordaje estructurado en el orden correcto te orienta a llegar a un mejor diagnóstico y resolución del problema. </a:t>
            </a:r>
            <a:endParaRPr sz="1534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4685881" y="3519851"/>
            <a:ext cx="4206000" cy="11283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77950" lIns="77950" spcFirstLastPara="1" rIns="77950" wrap="square" tIns="7795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193">
                <a:latin typeface="Times New Roman"/>
                <a:ea typeface="Times New Roman"/>
                <a:cs typeface="Times New Roman"/>
                <a:sym typeface="Times New Roman"/>
              </a:rPr>
              <a:t>Retroalimentación incorrecta</a:t>
            </a:r>
            <a:endParaRPr sz="1193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193">
                <a:latin typeface="Times New Roman"/>
                <a:ea typeface="Times New Roman"/>
                <a:cs typeface="Times New Roman"/>
                <a:sym typeface="Times New Roman"/>
              </a:rPr>
              <a:t>¡Ups! revisa con detenimiento  tu respuesta. Recuerda: un expediente clínico impreciso y desordenado puede causar confusión, pérdida de tiempo y de recursos. </a:t>
            </a:r>
            <a:endParaRPr sz="119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4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311700" y="565575"/>
            <a:ext cx="368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/>
              <a:t>Reseña </a:t>
            </a:r>
            <a:endParaRPr sz="3500"/>
          </a:p>
        </p:txBody>
      </p:sp>
      <p:sp>
        <p:nvSpPr>
          <p:cNvPr id="106" name="Google Shape;106;p17"/>
          <p:cNvSpPr txBox="1"/>
          <p:nvPr>
            <p:ph idx="1" type="body"/>
          </p:nvPr>
        </p:nvSpPr>
        <p:spPr>
          <a:xfrm>
            <a:off x="902525" y="1174675"/>
            <a:ext cx="2182800" cy="3379500"/>
          </a:xfrm>
          <a:prstGeom prst="rect">
            <a:avLst/>
          </a:prstGeom>
          <a:solidFill>
            <a:srgbClr val="FCE5CD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Times New Roman"/>
                <a:ea typeface="Times New Roman"/>
                <a:cs typeface="Times New Roman"/>
                <a:sym typeface="Times New Roman"/>
              </a:rPr>
              <a:t>Especie:  Bovino 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latin typeface="Times New Roman"/>
                <a:ea typeface="Times New Roman"/>
                <a:cs typeface="Times New Roman"/>
                <a:sym typeface="Times New Roman"/>
              </a:rPr>
              <a:t>Raza: Gyr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latin typeface="Times New Roman"/>
                <a:ea typeface="Times New Roman"/>
                <a:cs typeface="Times New Roman"/>
                <a:sym typeface="Times New Roman"/>
              </a:rPr>
              <a:t>Sexo:  Macho 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latin typeface="Times New Roman"/>
                <a:ea typeface="Times New Roman"/>
                <a:cs typeface="Times New Roman"/>
                <a:sym typeface="Times New Roman"/>
              </a:rPr>
              <a:t>Estado fisiológico: 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latin typeface="Times New Roman"/>
                <a:ea typeface="Times New Roman"/>
                <a:cs typeface="Times New Roman"/>
                <a:sym typeface="Times New Roman"/>
              </a:rPr>
              <a:t>Edad: 5 años 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latin typeface="Times New Roman"/>
                <a:ea typeface="Times New Roman"/>
                <a:cs typeface="Times New Roman"/>
                <a:sym typeface="Times New Roman"/>
              </a:rPr>
              <a:t>Función</a:t>
            </a:r>
            <a:r>
              <a:rPr lang="es" sz="1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" sz="1300">
                <a:latin typeface="Times New Roman"/>
                <a:ea typeface="Times New Roman"/>
                <a:cs typeface="Times New Roman"/>
                <a:sym typeface="Times New Roman"/>
              </a:rPr>
              <a:t>zootécnica</a:t>
            </a:r>
            <a:r>
              <a:rPr lang="es" sz="1300">
                <a:latin typeface="Times New Roman"/>
                <a:ea typeface="Times New Roman"/>
                <a:cs typeface="Times New Roman"/>
                <a:sym typeface="Times New Roman"/>
              </a:rPr>
              <a:t>:  Producción cárnica 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latin typeface="Times New Roman"/>
                <a:ea typeface="Times New Roman"/>
                <a:cs typeface="Times New Roman"/>
                <a:sym typeface="Times New Roman"/>
              </a:rPr>
              <a:t>ID: SIINIGA 00155103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300">
                <a:latin typeface="Times New Roman"/>
                <a:ea typeface="Times New Roman"/>
                <a:cs typeface="Times New Roman"/>
                <a:sym typeface="Times New Roman"/>
              </a:rPr>
              <a:t>Nombre: N R 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7"/>
          <p:cNvSpPr txBox="1"/>
          <p:nvPr>
            <p:ph idx="1" type="body"/>
          </p:nvPr>
        </p:nvSpPr>
        <p:spPr>
          <a:xfrm>
            <a:off x="3085325" y="1654075"/>
            <a:ext cx="2077500" cy="2900100"/>
          </a:xfrm>
          <a:prstGeom prst="rect">
            <a:avLst/>
          </a:prstGeom>
          <a:solidFill>
            <a:srgbClr val="CFE2F3"/>
          </a:solidFill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Times New Roman"/>
                <a:ea typeface="Times New Roman"/>
                <a:cs typeface="Times New Roman"/>
                <a:sym typeface="Times New Roman"/>
              </a:rPr>
              <a:t>Productor: Juanito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latin typeface="Times New Roman"/>
                <a:ea typeface="Times New Roman"/>
                <a:cs typeface="Times New Roman"/>
                <a:sym typeface="Times New Roman"/>
              </a:rPr>
              <a:t>tel. contacto:  722-321-1234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latin typeface="Times New Roman"/>
                <a:ea typeface="Times New Roman"/>
                <a:cs typeface="Times New Roman"/>
                <a:sym typeface="Times New Roman"/>
              </a:rPr>
              <a:t>dirección</a:t>
            </a:r>
            <a:r>
              <a:rPr lang="es" sz="16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latin typeface="Times New Roman"/>
                <a:ea typeface="Times New Roman"/>
                <a:cs typeface="Times New Roman"/>
                <a:sym typeface="Times New Roman"/>
              </a:rPr>
              <a:t>51440 Villa Luvianos, Méx.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latin typeface="Times New Roman"/>
                <a:ea typeface="Times New Roman"/>
                <a:cs typeface="Times New Roman"/>
                <a:sym typeface="Times New Roman"/>
              </a:rPr>
              <a:t>correo </a:t>
            </a:r>
            <a:r>
              <a:rPr lang="es" sz="1600">
                <a:latin typeface="Times New Roman"/>
                <a:ea typeface="Times New Roman"/>
                <a:cs typeface="Times New Roman"/>
                <a:sym typeface="Times New Roman"/>
              </a:rPr>
              <a:t>electrónico</a:t>
            </a:r>
            <a:r>
              <a:rPr lang="es" sz="1600">
                <a:latin typeface="Times New Roman"/>
                <a:ea typeface="Times New Roman"/>
                <a:cs typeface="Times New Roman"/>
                <a:sym typeface="Times New Roman"/>
              </a:rPr>
              <a:t>:  </a:t>
            </a:r>
            <a:r>
              <a:rPr lang="es" sz="16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FIVRancho@correo.com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311700" y="1202025"/>
            <a:ext cx="4329000" cy="30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En esta ocasión te llama el encargado de la producción “Las Adelitas”, porque se dio cuenta que algunos de los ejemplares del rancho </a:t>
            </a:r>
            <a:r>
              <a:rPr lang="es"/>
              <a:t>están</a:t>
            </a:r>
            <a:r>
              <a:rPr lang="es"/>
              <a:t> presentando signología respiratoria, refiere que se escucha como tosen y algunos traen moco en las narinas, pero que hay uno en particular que lo ve más afectado, y que le pudo ver </a:t>
            </a:r>
            <a:r>
              <a:rPr lang="es"/>
              <a:t>como</a:t>
            </a:r>
            <a:r>
              <a:rPr lang="es"/>
              <a:t> unas costras negras azuladas. </a:t>
            </a:r>
            <a:endParaRPr/>
          </a:p>
        </p:txBody>
      </p:sp>
      <p:sp>
        <p:nvSpPr>
          <p:cNvPr id="113" name="Google Shape;113;p18"/>
          <p:cNvSpPr txBox="1"/>
          <p:nvPr/>
        </p:nvSpPr>
        <p:spPr>
          <a:xfrm>
            <a:off x="311700" y="306075"/>
            <a:ext cx="510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>
                <a:solidFill>
                  <a:srgbClr val="000000"/>
                </a:solidFill>
              </a:rPr>
              <a:t>Motivo de consulta </a:t>
            </a:r>
            <a:endParaRPr sz="3500">
              <a:solidFill>
                <a:srgbClr val="000000"/>
              </a:solidFill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5416500" y="1202025"/>
            <a:ext cx="3425700" cy="25443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311700" y="445025"/>
            <a:ext cx="479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/>
              <a:t>Anamnesis </a:t>
            </a:r>
            <a:endParaRPr sz="3500"/>
          </a:p>
        </p:txBody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4037125" y="1152475"/>
            <a:ext cx="4795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El encargado habla contigo por teléfono, y te comenta que desde hace una semana aproximadamente notó al toro un tanto raro, casi no comía, le notó moco   amarillento en ambas narinas, y tos frecuente, </a:t>
            </a:r>
            <a:r>
              <a:rPr lang="es"/>
              <a:t>además</a:t>
            </a:r>
            <a:r>
              <a:rPr lang="es"/>
              <a:t> a veces, tenía una posición rara con la cabeza hacia abajo, y le administraron unas inyecciones para curarlo (enrofloxacina, y dexametasona), pero que no vio respuesta y ayer cuando fue a revisar el potrero se dio cuenta que ya hay  más animales afectados.</a:t>
            </a:r>
            <a:endParaRPr/>
          </a:p>
        </p:txBody>
      </p:sp>
      <p:sp>
        <p:nvSpPr>
          <p:cNvPr id="121" name="Google Shape;121;p19"/>
          <p:cNvSpPr/>
          <p:nvPr/>
        </p:nvSpPr>
        <p:spPr>
          <a:xfrm>
            <a:off x="678275" y="1439550"/>
            <a:ext cx="3207400" cy="2838050"/>
          </a:xfrm>
          <a:prstGeom prst="flowChartManualOperat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Anamnesis</a:t>
            </a:r>
            <a:endParaRPr/>
          </a:p>
        </p:txBody>
      </p:sp>
      <p:graphicFrame>
        <p:nvGraphicFramePr>
          <p:cNvPr id="127" name="Google Shape;127;p20"/>
          <p:cNvGraphicFramePr/>
          <p:nvPr/>
        </p:nvGraphicFramePr>
        <p:xfrm>
          <a:off x="3118650" y="1870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{B42B2CEF-8FDF-4996-B793-AAA11D85B9D2}</a:tableStyleId>
              </a:tblPr>
              <a:tblGrid>
                <a:gridCol w="2016125"/>
                <a:gridCol w="682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Manifestaciones </a:t>
                      </a:r>
                      <a:r>
                        <a:rPr lang="es"/>
                        <a:t>clínicas</a:t>
                      </a:r>
                      <a:r>
                        <a:rPr lang="es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Factores de riesgo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Ambos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8" name="Google Shape;128;p20"/>
          <p:cNvSpPr txBox="1"/>
          <p:nvPr>
            <p:ph type="title"/>
          </p:nvPr>
        </p:nvSpPr>
        <p:spPr>
          <a:xfrm>
            <a:off x="98975" y="1222650"/>
            <a:ext cx="8738100" cy="572700"/>
          </a:xfrm>
          <a:prstGeom prst="rect">
            <a:avLst/>
          </a:prstGeom>
          <a:solidFill>
            <a:schemeClr val="accent6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s" sz="1520">
                <a:solidFill>
                  <a:schemeClr val="dk2"/>
                </a:solidFill>
              </a:rPr>
              <a:t>¿Qué tipo de datos encuentras dentro de la anamnesis con relación al toro Gyr?</a:t>
            </a:r>
            <a:endParaRPr sz="2420"/>
          </a:p>
        </p:txBody>
      </p:sp>
      <p:sp>
        <p:nvSpPr>
          <p:cNvPr id="129" name="Google Shape;129;p20"/>
          <p:cNvSpPr/>
          <p:nvPr/>
        </p:nvSpPr>
        <p:spPr>
          <a:xfrm>
            <a:off x="5225850" y="2000286"/>
            <a:ext cx="503100" cy="260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0"/>
          <p:cNvSpPr txBox="1"/>
          <p:nvPr/>
        </p:nvSpPr>
        <p:spPr>
          <a:xfrm>
            <a:off x="4572000" y="3607100"/>
            <a:ext cx="4265100" cy="14019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incorrecta</a:t>
            </a:r>
            <a:b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¡Ups! Recuerda que los factores de riesgo son </a:t>
            </a:r>
            <a:r>
              <a:rPr lang="es" u="sng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condiciones</a:t>
            </a: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del ambiente o del paciente mismo que predisponen la manifestación de enfermedad.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ojo: su presencia no implica la enfermedad.</a:t>
            </a:r>
            <a:r>
              <a:rPr lang="es">
                <a:solidFill>
                  <a:srgbClr val="595959"/>
                </a:solidFill>
              </a:rPr>
              <a:t> 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98975" y="3607100"/>
            <a:ext cx="4265100" cy="14019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correcta</a:t>
            </a:r>
            <a:b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¡Excelente! como ya sabemos, la anamnesis es un relato detallado del motivo de consulta, por lo que encontramos sólo </a:t>
            </a:r>
            <a:r>
              <a:rPr lang="es" u="sng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manifestaciones</a:t>
            </a: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clínicas del paciente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/>
              <a:t>Historia </a:t>
            </a:r>
            <a:r>
              <a:rPr lang="es" sz="3500"/>
              <a:t>clínica</a:t>
            </a:r>
            <a:r>
              <a:rPr lang="es" sz="3500"/>
              <a:t> </a:t>
            </a:r>
            <a:endParaRPr sz="3500"/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311700" y="1152475"/>
            <a:ext cx="8206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Se trata de una mediana producción orientada a la </a:t>
            </a:r>
            <a:r>
              <a:rPr lang="es">
                <a:solidFill>
                  <a:schemeClr val="dk1"/>
                </a:solidFill>
              </a:rPr>
              <a:t>industria</a:t>
            </a:r>
            <a:r>
              <a:rPr lang="es">
                <a:solidFill>
                  <a:schemeClr val="dk1"/>
                </a:solidFill>
              </a:rPr>
              <a:t> cárnica, cuentan con ganado de diversas razas y </a:t>
            </a:r>
            <a:r>
              <a:rPr lang="es">
                <a:solidFill>
                  <a:schemeClr val="dk1"/>
                </a:solidFill>
              </a:rPr>
              <a:t>orígenes</a:t>
            </a:r>
            <a:r>
              <a:rPr lang="es">
                <a:solidFill>
                  <a:schemeClr val="dk1"/>
                </a:solidFill>
              </a:rPr>
              <a:t>, </a:t>
            </a:r>
            <a:r>
              <a:rPr lang="es">
                <a:solidFill>
                  <a:schemeClr val="dk1"/>
                </a:solidFill>
              </a:rPr>
              <a:t>así</a:t>
            </a:r>
            <a:r>
              <a:rPr lang="es">
                <a:solidFill>
                  <a:schemeClr val="dk1"/>
                </a:solidFill>
              </a:rPr>
              <a:t> como </a:t>
            </a:r>
            <a:r>
              <a:rPr lang="es">
                <a:solidFill>
                  <a:schemeClr val="dk1"/>
                </a:solidFill>
              </a:rPr>
              <a:t>también</a:t>
            </a:r>
            <a:r>
              <a:rPr lang="es">
                <a:solidFill>
                  <a:schemeClr val="dk1"/>
                </a:solidFill>
              </a:rPr>
              <a:t> ejemplares de Fertilización in vitro. El ganado se encuentra en potreros y no cuentan con uno exclusivo para recibirlo, no cuentan con programas de vacunación  ni desparasitación, y la medicina preventiva que realizan es precaria. Se alimenta al ganado en comederos provisionales hechos con botes de metal, y les dan una mezcla maíz molido, </a:t>
            </a:r>
            <a:r>
              <a:rPr lang="es">
                <a:solidFill>
                  <a:schemeClr val="dk1"/>
                </a:solidFill>
              </a:rPr>
              <a:t>maíz</a:t>
            </a:r>
            <a:r>
              <a:rPr lang="es">
                <a:solidFill>
                  <a:schemeClr val="dk1"/>
                </a:solidFill>
              </a:rPr>
              <a:t> rolado, y concentrado comercial, </a:t>
            </a:r>
            <a:r>
              <a:rPr lang="es">
                <a:solidFill>
                  <a:schemeClr val="dk1"/>
                </a:solidFill>
              </a:rPr>
              <a:t>además</a:t>
            </a:r>
            <a:r>
              <a:rPr lang="es">
                <a:solidFill>
                  <a:schemeClr val="dk1"/>
                </a:solidFill>
              </a:rPr>
              <a:t> le ponen un poco de melaza ya en el comedero. El rancho se encuentra en el Estado de México y cuenta con un numero ### de animales en total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/>
              <a:t>Historia clínica </a:t>
            </a:r>
            <a:endParaRPr sz="3500"/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4572000" y="3607100"/>
            <a:ext cx="4265100" cy="14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retroalimentacion incorrecta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44" name="Google Shape;144;p22"/>
          <p:cNvGraphicFramePr/>
          <p:nvPr/>
        </p:nvGraphicFramePr>
        <p:xfrm>
          <a:off x="3118650" y="1870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{B42B2CEF-8FDF-4996-B793-AAA11D85B9D2}</a:tableStyleId>
              </a:tblPr>
              <a:tblGrid>
                <a:gridCol w="2016125"/>
                <a:gridCol w="682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Manifestaciones clínicas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Factores de riesgo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Ambos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5" name="Google Shape;145;p22"/>
          <p:cNvSpPr txBox="1"/>
          <p:nvPr>
            <p:ph type="title"/>
          </p:nvPr>
        </p:nvSpPr>
        <p:spPr>
          <a:xfrm>
            <a:off x="98975" y="1222650"/>
            <a:ext cx="8738100" cy="572700"/>
          </a:xfrm>
          <a:prstGeom prst="rect">
            <a:avLst/>
          </a:prstGeom>
          <a:solidFill>
            <a:schemeClr val="accent6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es" sz="1520">
                <a:solidFill>
                  <a:schemeClr val="dk2"/>
                </a:solidFill>
              </a:rPr>
              <a:t>¿Qué tipo de datos encuentras dentro de la historia clínica con </a:t>
            </a:r>
            <a:r>
              <a:rPr lang="es" sz="1520">
                <a:solidFill>
                  <a:schemeClr val="dk2"/>
                </a:solidFill>
              </a:rPr>
              <a:t>relación</a:t>
            </a:r>
            <a:r>
              <a:rPr lang="es" sz="1520">
                <a:solidFill>
                  <a:schemeClr val="dk2"/>
                </a:solidFill>
              </a:rPr>
              <a:t> a la vaca Milagros?</a:t>
            </a:r>
            <a:endParaRPr sz="2420"/>
          </a:p>
        </p:txBody>
      </p:sp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98975" y="3607100"/>
            <a:ext cx="4265100" cy="14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retroalimentacion correcta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2"/>
          <p:cNvSpPr/>
          <p:nvPr/>
        </p:nvSpPr>
        <p:spPr>
          <a:xfrm>
            <a:off x="5134775" y="2571186"/>
            <a:ext cx="503100" cy="260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/>
        </p:nvSpPr>
        <p:spPr>
          <a:xfrm>
            <a:off x="337375" y="93800"/>
            <a:ext cx="43395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500">
                <a:solidFill>
                  <a:schemeClr val="dk2"/>
                </a:solidFill>
              </a:rPr>
              <a:t>Historia clínica </a:t>
            </a:r>
            <a:endParaRPr b="1" sz="3500">
              <a:solidFill>
                <a:schemeClr val="dk2"/>
              </a:solidFill>
            </a:endParaRPr>
          </a:p>
        </p:txBody>
      </p:sp>
      <p:graphicFrame>
        <p:nvGraphicFramePr>
          <p:cNvPr id="153" name="Google Shape;153;p23"/>
          <p:cNvGraphicFramePr/>
          <p:nvPr/>
        </p:nvGraphicFramePr>
        <p:xfrm>
          <a:off x="490260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{B42B2CEF-8FDF-4996-B793-AAA11D85B9D2}</a:tableStyleId>
              </a:tblPr>
              <a:tblGrid>
                <a:gridCol w="2413000"/>
                <a:gridCol w="900200"/>
                <a:gridCol w="844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 </a:t>
                      </a:r>
                      <a:r>
                        <a:rPr lang="es">
                          <a:solidFill>
                            <a:schemeClr val="dk1"/>
                          </a:solidFill>
                        </a:rPr>
                        <a:t>diferentes procedencias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secreción nasal amarillenta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 </a:t>
                      </a:r>
                      <a:r>
                        <a:rPr lang="es">
                          <a:solidFill>
                            <a:schemeClr val="dk1"/>
                          </a:solidFill>
                        </a:rPr>
                        <a:t>pobre desparasitación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hiporexia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depresión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potreros no controlados 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tos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disnea / ortopnea 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pobre vacunación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costras azules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comederos reciclados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4" name="Google Shape;154;p23"/>
          <p:cNvSpPr txBox="1"/>
          <p:nvPr/>
        </p:nvSpPr>
        <p:spPr>
          <a:xfrm>
            <a:off x="99150" y="788850"/>
            <a:ext cx="4224600" cy="1293000"/>
          </a:xfrm>
          <a:prstGeom prst="rect">
            <a:avLst/>
          </a:prstGeom>
          <a:solidFill>
            <a:srgbClr val="EEFF4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Identifica los factores de riesgo y las manifestaciones clínicas.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MC= manifestación clínica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FR= factor de riesgo 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/>
        </p:nvSpPr>
        <p:spPr>
          <a:xfrm>
            <a:off x="1011325" y="3604175"/>
            <a:ext cx="30000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retroalimentacion incorrecta</a:t>
            </a:r>
            <a:endParaRPr/>
          </a:p>
        </p:txBody>
      </p:sp>
      <p:sp>
        <p:nvSpPr>
          <p:cNvPr id="160" name="Google Shape;160;p24"/>
          <p:cNvSpPr txBox="1"/>
          <p:nvPr/>
        </p:nvSpPr>
        <p:spPr>
          <a:xfrm>
            <a:off x="142500" y="2226300"/>
            <a:ext cx="4137900" cy="1699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>
                <a:solidFill>
                  <a:srgbClr val="000000"/>
                </a:solidFill>
              </a:rPr>
              <a:t>Retroalimentación correcta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>
                <a:solidFill>
                  <a:srgbClr val="000000"/>
                </a:solidFill>
              </a:rPr>
              <a:t>¡Muy bien! Ahora tienes claro la diferencia entre manifestaciones clínicas y factores de riesgo.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/>
              <a:t>Tip: Recuerda que en el pastoreo aumenta la incidencia de ectoparásitos</a:t>
            </a:r>
            <a:endParaRPr/>
          </a:p>
        </p:txBody>
      </p:sp>
      <p:sp>
        <p:nvSpPr>
          <p:cNvPr id="161" name="Google Shape;161;p24"/>
          <p:cNvSpPr txBox="1"/>
          <p:nvPr/>
        </p:nvSpPr>
        <p:spPr>
          <a:xfrm>
            <a:off x="452275" y="4069950"/>
            <a:ext cx="4224600" cy="10497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</a:rPr>
              <a:t>Retroalimentación incorrecta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rgbClr val="000000"/>
                </a:solidFill>
              </a:rPr>
              <a:t>¡Ups! </a:t>
            </a:r>
            <a:r>
              <a:rPr lang="es"/>
              <a:t>Revisa de nuevo los datos plasmados en la reseña, anamnesis e historia clínica.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337375" y="93800"/>
            <a:ext cx="43395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500">
                <a:solidFill>
                  <a:schemeClr val="dk2"/>
                </a:solidFill>
              </a:rPr>
              <a:t>Historia clínica </a:t>
            </a:r>
            <a:endParaRPr b="1" sz="3500">
              <a:solidFill>
                <a:schemeClr val="dk2"/>
              </a:solidFill>
            </a:endParaRPr>
          </a:p>
        </p:txBody>
      </p:sp>
      <p:graphicFrame>
        <p:nvGraphicFramePr>
          <p:cNvPr id="163" name="Google Shape;163;p24"/>
          <p:cNvGraphicFramePr/>
          <p:nvPr/>
        </p:nvGraphicFramePr>
        <p:xfrm>
          <a:off x="490260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{B42B2CEF-8FDF-4996-B793-AAA11D85B9D2}</a:tableStyleId>
              </a:tblPr>
              <a:tblGrid>
                <a:gridCol w="2413000"/>
                <a:gridCol w="900200"/>
                <a:gridCol w="844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 </a:t>
                      </a:r>
                      <a:r>
                        <a:rPr lang="es">
                          <a:solidFill>
                            <a:schemeClr val="dk1"/>
                          </a:solidFill>
                        </a:rPr>
                        <a:t>diferentes procedencias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FR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secreción nasal amarillenta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 </a:t>
                      </a:r>
                      <a:r>
                        <a:rPr lang="es">
                          <a:solidFill>
                            <a:schemeClr val="dk1"/>
                          </a:solidFill>
                        </a:rPr>
                        <a:t>pobre desparasitación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FR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hiporexia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depresión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potreros no controlados 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FR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tos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disnea / ortopnea 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pobre vacunación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FR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costras azules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comederos reciclados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FR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4" name="Google Shape;164;p24"/>
          <p:cNvSpPr txBox="1"/>
          <p:nvPr/>
        </p:nvSpPr>
        <p:spPr>
          <a:xfrm>
            <a:off x="99150" y="788850"/>
            <a:ext cx="4224600" cy="1293000"/>
          </a:xfrm>
          <a:prstGeom prst="rect">
            <a:avLst/>
          </a:prstGeom>
          <a:solidFill>
            <a:srgbClr val="EEFF4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Identifica los factores de riesgo y las manifestaciones clínicas.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MC= manifestación clínica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FR= factor de riesgo 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311700" y="445025"/>
            <a:ext cx="364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/>
              <a:t>Examen físico general </a:t>
            </a:r>
            <a:endParaRPr sz="3500"/>
          </a:p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3961025" y="1152475"/>
            <a:ext cx="4871400" cy="3416400"/>
          </a:xfrm>
          <a:prstGeom prst="rect">
            <a:avLst/>
          </a:prstGeom>
          <a:solidFill>
            <a:srgbClr val="CFE2F3"/>
          </a:solidFill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toro  ingresa a las instalaciones de la FMVZ  cercano a las 02.00 AM en estado crítico,y el personal tarda aproximadamente 8 minutos en llegar.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"/>
              <a:t>A</a:t>
            </a:r>
            <a:r>
              <a:rPr lang="es"/>
              <a:t>l realizar el EFG, se obtiene la siguiente información: El animal se encuentra en decúbito esternal, con signos evidentes de dolor, FR en rango, a la auscultación se perciben estertores húmedos, temperatura rectal de 36.7°C, atonía ruminal    y mucosas pálidas.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71" name="Google Shape;171;p25"/>
          <p:cNvGraphicFramePr/>
          <p:nvPr/>
        </p:nvGraphicFramePr>
        <p:xfrm>
          <a:off x="311700" y="161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{B42B2CEF-8FDF-4996-B793-AAA11D85B9D2}</a:tableStyleId>
              </a:tblPr>
              <a:tblGrid>
                <a:gridCol w="1730375"/>
                <a:gridCol w="1730375"/>
              </a:tblGrid>
              <a:tr h="592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lang="e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ndicador fisiológico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r>
                        <a:rPr lang="e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allazgo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69138"/>
                    </a:solidFill>
                  </a:tcPr>
                </a:tc>
              </a:tr>
              <a:tr h="57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frecuencia cardíaca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 lpm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</a:tr>
              <a:tr h="57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temperatura rectal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36.7 °C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</a:tr>
              <a:tr h="57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frecuencia respiratoria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15rpm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</a:tr>
              <a:tr h="57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movimientos ruminales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0-1 / 2 min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type="title"/>
          </p:nvPr>
        </p:nvSpPr>
        <p:spPr>
          <a:xfrm>
            <a:off x="2991400" y="7475"/>
            <a:ext cx="5682900" cy="114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/>
              <a:t>M</a:t>
            </a:r>
            <a:r>
              <a:rPr lang="es" sz="3500"/>
              <a:t>anifestaciones de enfermedad </a:t>
            </a:r>
            <a:endParaRPr sz="3500"/>
          </a:p>
        </p:txBody>
      </p:sp>
      <p:sp>
        <p:nvSpPr>
          <p:cNvPr id="177" name="Google Shape;177;p26"/>
          <p:cNvSpPr txBox="1"/>
          <p:nvPr>
            <p:ph type="title"/>
          </p:nvPr>
        </p:nvSpPr>
        <p:spPr>
          <a:xfrm>
            <a:off x="3271550" y="1323525"/>
            <a:ext cx="5928600" cy="963900"/>
          </a:xfrm>
          <a:prstGeom prst="rect">
            <a:avLst/>
          </a:prstGeom>
          <a:solidFill>
            <a:schemeClr val="accent6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620"/>
              <a:t>S</a:t>
            </a:r>
            <a:r>
              <a:rPr lang="es" sz="1620"/>
              <a:t>elecciona los datos que consideres son una </a:t>
            </a:r>
            <a:r>
              <a:rPr lang="es" sz="1620"/>
              <a:t>manifestación</a:t>
            </a:r>
            <a:r>
              <a:rPr lang="es" sz="1620"/>
              <a:t> de enfermedad </a:t>
            </a:r>
            <a:endParaRPr sz="1620"/>
          </a:p>
        </p:txBody>
      </p:sp>
      <p:graphicFrame>
        <p:nvGraphicFramePr>
          <p:cNvPr id="178" name="Google Shape;178;p26"/>
          <p:cNvGraphicFramePr/>
          <p:nvPr/>
        </p:nvGraphicFramePr>
        <p:xfrm>
          <a:off x="83675" y="-406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{B42B2CEF-8FDF-4996-B793-AAA11D85B9D2}</a:tableStyleId>
              </a:tblPr>
              <a:tblGrid>
                <a:gridCol w="2047075"/>
                <a:gridCol w="735150"/>
              </a:tblGrid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T</a:t>
                      </a:r>
                      <a:r>
                        <a:rPr lang="es" sz="1200"/>
                        <a:t>emperatura de 36.7 °C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14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Disnea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Depresión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Estertor húmedo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FR: 15 rpm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condición</a:t>
                      </a:r>
                      <a:r>
                        <a:rPr lang="es" sz="1200"/>
                        <a:t> corporal 3.5/5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</a:t>
                      </a:r>
                      <a:r>
                        <a:rPr lang="es" sz="1200"/>
                        <a:t>ignología</a:t>
                      </a:r>
                      <a:r>
                        <a:rPr lang="es" sz="1200"/>
                        <a:t> de dolor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Hiporexia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</a:t>
                      </a:r>
                      <a:r>
                        <a:rPr lang="es" sz="1200"/>
                        <a:t>ecreción nasal amarillenta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M</a:t>
                      </a:r>
                      <a:r>
                        <a:rPr lang="es" sz="1200">
                          <a:solidFill>
                            <a:schemeClr val="dk1"/>
                          </a:solidFill>
                        </a:rPr>
                        <a:t>ucosas pálidas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207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Atonía ruminal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FC: 60 lpm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/>
          <p:nvPr>
            <p:ph type="title"/>
          </p:nvPr>
        </p:nvSpPr>
        <p:spPr>
          <a:xfrm>
            <a:off x="2991400" y="7475"/>
            <a:ext cx="5682900" cy="114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/>
              <a:t>Manifestaciones de enfermedad </a:t>
            </a:r>
            <a:endParaRPr sz="3500"/>
          </a:p>
        </p:txBody>
      </p:sp>
      <p:sp>
        <p:nvSpPr>
          <p:cNvPr id="184" name="Google Shape;184;p27"/>
          <p:cNvSpPr txBox="1"/>
          <p:nvPr>
            <p:ph type="title"/>
          </p:nvPr>
        </p:nvSpPr>
        <p:spPr>
          <a:xfrm>
            <a:off x="3271550" y="1323525"/>
            <a:ext cx="5928600" cy="963900"/>
          </a:xfrm>
          <a:prstGeom prst="rect">
            <a:avLst/>
          </a:prstGeom>
          <a:solidFill>
            <a:schemeClr val="accent6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620"/>
              <a:t>Selecciona los datos que consideres son una manifestación de enfermedad recabados en el EFG</a:t>
            </a:r>
            <a:endParaRPr sz="1620"/>
          </a:p>
        </p:txBody>
      </p:sp>
      <p:graphicFrame>
        <p:nvGraphicFramePr>
          <p:cNvPr id="185" name="Google Shape;185;p27"/>
          <p:cNvGraphicFramePr/>
          <p:nvPr/>
        </p:nvGraphicFramePr>
        <p:xfrm>
          <a:off x="83675" y="-406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{B42B2CEF-8FDF-4996-B793-AAA11D85B9D2}</a:tableStyleId>
              </a:tblPr>
              <a:tblGrid>
                <a:gridCol w="2047075"/>
                <a:gridCol w="735150"/>
              </a:tblGrid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Temperatura de 36.7 °C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14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Disnea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Depresión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Estertor húmedo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FR: 15 rpm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condición corporal 3.5/5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Signología de dolor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Hiporexia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Secreción nasal amarillenta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Mucosas pálidas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207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Atonía ruminal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FC: 60 lpm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6" name="Google Shape;186;p27"/>
          <p:cNvSpPr/>
          <p:nvPr/>
        </p:nvSpPr>
        <p:spPr>
          <a:xfrm>
            <a:off x="2228825" y="11"/>
            <a:ext cx="503100" cy="260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7"/>
          <p:cNvSpPr/>
          <p:nvPr/>
        </p:nvSpPr>
        <p:spPr>
          <a:xfrm>
            <a:off x="2228825" y="892786"/>
            <a:ext cx="503100" cy="260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7"/>
          <p:cNvSpPr/>
          <p:nvPr/>
        </p:nvSpPr>
        <p:spPr>
          <a:xfrm>
            <a:off x="2228825" y="1284111"/>
            <a:ext cx="503100" cy="260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7"/>
          <p:cNvSpPr/>
          <p:nvPr/>
        </p:nvSpPr>
        <p:spPr>
          <a:xfrm>
            <a:off x="2228825" y="1675436"/>
            <a:ext cx="503100" cy="260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7"/>
          <p:cNvSpPr/>
          <p:nvPr/>
        </p:nvSpPr>
        <p:spPr>
          <a:xfrm>
            <a:off x="2228825" y="3751711"/>
            <a:ext cx="503100" cy="260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7"/>
          <p:cNvSpPr/>
          <p:nvPr/>
        </p:nvSpPr>
        <p:spPr>
          <a:xfrm>
            <a:off x="2228825" y="2874486"/>
            <a:ext cx="503100" cy="260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7"/>
          <p:cNvSpPr/>
          <p:nvPr/>
        </p:nvSpPr>
        <p:spPr>
          <a:xfrm>
            <a:off x="2228825" y="4212536"/>
            <a:ext cx="503100" cy="260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7"/>
          <p:cNvSpPr txBox="1"/>
          <p:nvPr/>
        </p:nvSpPr>
        <p:spPr>
          <a:xfrm>
            <a:off x="3899625" y="2732875"/>
            <a:ext cx="4987800" cy="1072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79525" lIns="79525" spcFirstLastPara="1" rIns="79525" wrap="square" tIns="795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correcta</a:t>
            </a:r>
            <a:endParaRPr sz="12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44"/>
              </a:spcBef>
              <a:spcAft>
                <a:spcPts val="1044"/>
              </a:spcAft>
              <a:buNone/>
            </a:pP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¡Bien! Hemos detectado correctamente las principales manifestaciones de enfermedad, los estertores húmedos y la disnea nos indican que muy probablemente el problema será cardiopulmonar. </a:t>
            </a:r>
            <a:endParaRPr sz="12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27"/>
          <p:cNvSpPr txBox="1"/>
          <p:nvPr/>
        </p:nvSpPr>
        <p:spPr>
          <a:xfrm>
            <a:off x="3899625" y="4005100"/>
            <a:ext cx="4987800" cy="7884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79525" lIns="79525" spcFirstLastPara="1" rIns="79525" wrap="square" tIns="79525">
            <a:normAutofit fontScale="7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65">
                <a:solidFill>
                  <a:srgbClr val="595959"/>
                </a:solidFill>
              </a:rPr>
              <a:t>retroalimentación incorrecta</a:t>
            </a:r>
            <a:endParaRPr sz="1565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44"/>
              </a:spcBef>
              <a:spcAft>
                <a:spcPts val="1044"/>
              </a:spcAft>
              <a:buNone/>
            </a:pPr>
            <a:r>
              <a:rPr lang="es" sz="1565">
                <a:solidFill>
                  <a:srgbClr val="595959"/>
                </a:solidFill>
              </a:rPr>
              <a:t>¡Ups! revisa con detenimiento la información recabada del EFG para determinar datos que representen enfermedad. </a:t>
            </a:r>
            <a:endParaRPr sz="1565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type="title"/>
          </p:nvPr>
        </p:nvSpPr>
        <p:spPr>
          <a:xfrm>
            <a:off x="311700" y="445025"/>
            <a:ext cx="4139100" cy="13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/>
              <a:t>P</a:t>
            </a:r>
            <a:r>
              <a:rPr lang="es" sz="3500"/>
              <a:t>ruebas complementarias </a:t>
            </a:r>
            <a:endParaRPr sz="3500"/>
          </a:p>
        </p:txBody>
      </p:sp>
      <p:sp>
        <p:nvSpPr>
          <p:cNvPr id="200" name="Google Shape;200;p28"/>
          <p:cNvSpPr txBox="1"/>
          <p:nvPr>
            <p:ph idx="1" type="body"/>
          </p:nvPr>
        </p:nvSpPr>
        <p:spPr>
          <a:xfrm>
            <a:off x="4450750" y="218625"/>
            <a:ext cx="4381500" cy="18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para obtener un panorama </a:t>
            </a:r>
            <a:r>
              <a:rPr lang="es"/>
              <a:t>más</a:t>
            </a:r>
            <a:r>
              <a:rPr lang="es"/>
              <a:t> amplio y complementar el proceso </a:t>
            </a:r>
            <a:r>
              <a:rPr lang="es"/>
              <a:t>diagnóstico</a:t>
            </a:r>
            <a:r>
              <a:rPr lang="es"/>
              <a:t> decides apoyarte con pruebas de laboratorio de diagnóstico clínico especializado en medicina veterinaria. </a:t>
            </a:r>
            <a:endParaRPr/>
          </a:p>
        </p:txBody>
      </p:sp>
      <p:graphicFrame>
        <p:nvGraphicFramePr>
          <p:cNvPr id="201" name="Google Shape;201;p28"/>
          <p:cNvGraphicFramePr/>
          <p:nvPr/>
        </p:nvGraphicFramePr>
        <p:xfrm>
          <a:off x="190475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{B42B2CEF-8FDF-4996-B793-AAA11D85B9D2}</a:tableStyleId>
              </a:tblPr>
              <a:tblGrid>
                <a:gridCol w="2190775"/>
                <a:gridCol w="2190775"/>
              </a:tblGrid>
              <a:tr h="53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hisopado  nasal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orina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hisopado traqueal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sangre en vacutainer sin anticoagulante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estiércol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2" name="Google Shape;202;p28"/>
          <p:cNvSpPr txBox="1"/>
          <p:nvPr/>
        </p:nvSpPr>
        <p:spPr>
          <a:xfrm>
            <a:off x="599250" y="1648775"/>
            <a:ext cx="3564000" cy="78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coloca cada muestra en la prueba correspondiente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3" name="Google Shape;203;p28"/>
          <p:cNvSpPr/>
          <p:nvPr/>
        </p:nvSpPr>
        <p:spPr>
          <a:xfrm>
            <a:off x="4880726" y="2670026"/>
            <a:ext cx="1728395" cy="51482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3175" lIns="78550" spcFirstLastPara="1" rIns="78550" wrap="square" tIns="13175">
            <a:noAutofit/>
          </a:bodyPr>
          <a:lstStyle/>
          <a:p>
            <a:pPr indent="0" lvl="0" marL="52268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71">
                <a:latin typeface="Calibri"/>
                <a:ea typeface="Calibri"/>
                <a:cs typeface="Calibri"/>
                <a:sym typeface="Calibri"/>
              </a:rPr>
              <a:t>Urianálisis</a:t>
            </a:r>
            <a:endParaRPr sz="1371"/>
          </a:p>
        </p:txBody>
      </p:sp>
      <p:sp>
        <p:nvSpPr>
          <p:cNvPr id="204" name="Google Shape;204;p28"/>
          <p:cNvSpPr/>
          <p:nvPr/>
        </p:nvSpPr>
        <p:spPr>
          <a:xfrm>
            <a:off x="4880726" y="3458427"/>
            <a:ext cx="1728395" cy="51482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3175" lIns="78550" spcFirstLastPara="1" rIns="78550" wrap="square" tIns="13175">
            <a:noAutofit/>
          </a:bodyPr>
          <a:lstStyle/>
          <a:p>
            <a:pPr indent="0" lvl="0" marL="52268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71">
                <a:latin typeface="Calibri"/>
                <a:ea typeface="Calibri"/>
                <a:cs typeface="Calibri"/>
                <a:sym typeface="Calibri"/>
              </a:rPr>
              <a:t>Biometría hemática </a:t>
            </a:r>
            <a:endParaRPr sz="1371"/>
          </a:p>
        </p:txBody>
      </p:sp>
      <p:sp>
        <p:nvSpPr>
          <p:cNvPr id="205" name="Google Shape;205;p28"/>
          <p:cNvSpPr/>
          <p:nvPr/>
        </p:nvSpPr>
        <p:spPr>
          <a:xfrm>
            <a:off x="4880726" y="4179578"/>
            <a:ext cx="1728395" cy="51482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3175" lIns="78550" spcFirstLastPara="1" rIns="78550" wrap="square" tIns="13175">
            <a:noAutofit/>
          </a:bodyPr>
          <a:lstStyle/>
          <a:p>
            <a:pPr indent="0" lvl="0" marL="52268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71">
                <a:latin typeface="Calibri"/>
                <a:ea typeface="Calibri"/>
                <a:cs typeface="Calibri"/>
                <a:sym typeface="Calibri"/>
              </a:rPr>
              <a:t>Análisis</a:t>
            </a:r>
            <a:r>
              <a:rPr lang="es" sz="1371">
                <a:latin typeface="Calibri"/>
                <a:ea typeface="Calibri"/>
                <a:cs typeface="Calibri"/>
                <a:sym typeface="Calibri"/>
              </a:rPr>
              <a:t> coprológico </a:t>
            </a:r>
            <a:endParaRPr sz="1371"/>
          </a:p>
        </p:txBody>
      </p:sp>
      <p:sp>
        <p:nvSpPr>
          <p:cNvPr id="206" name="Google Shape;206;p28"/>
          <p:cNvSpPr/>
          <p:nvPr/>
        </p:nvSpPr>
        <p:spPr>
          <a:xfrm>
            <a:off x="6820702" y="3458427"/>
            <a:ext cx="1728395" cy="51482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3175" lIns="78550" spcFirstLastPara="1" rIns="78550" wrap="square" tIns="13175">
            <a:noAutofit/>
          </a:bodyPr>
          <a:lstStyle/>
          <a:p>
            <a:pPr indent="0" lvl="0" marL="52268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71">
                <a:latin typeface="Calibri"/>
                <a:ea typeface="Calibri"/>
                <a:cs typeface="Calibri"/>
                <a:sym typeface="Calibri"/>
              </a:rPr>
              <a:t>Análisis bacteriológico </a:t>
            </a:r>
            <a:endParaRPr sz="1371"/>
          </a:p>
        </p:txBody>
      </p:sp>
      <p:sp>
        <p:nvSpPr>
          <p:cNvPr id="207" name="Google Shape;207;p28"/>
          <p:cNvSpPr/>
          <p:nvPr/>
        </p:nvSpPr>
        <p:spPr>
          <a:xfrm>
            <a:off x="6718411" y="4155284"/>
            <a:ext cx="1728395" cy="51482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3175" lIns="78550" spcFirstLastPara="1" rIns="78550" wrap="square" tIns="13175">
            <a:noAutofit/>
          </a:bodyPr>
          <a:lstStyle/>
          <a:p>
            <a:pPr indent="0" lvl="0" marL="52268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71">
                <a:latin typeface="Calibri"/>
                <a:ea typeface="Calibri"/>
                <a:cs typeface="Calibri"/>
                <a:sym typeface="Calibri"/>
              </a:rPr>
              <a:t>Análisis molecular </a:t>
            </a:r>
            <a:endParaRPr sz="1371"/>
          </a:p>
        </p:txBody>
      </p:sp>
      <p:sp>
        <p:nvSpPr>
          <p:cNvPr id="208" name="Google Shape;208;p28"/>
          <p:cNvSpPr/>
          <p:nvPr/>
        </p:nvSpPr>
        <p:spPr>
          <a:xfrm>
            <a:off x="6796602" y="2670027"/>
            <a:ext cx="1728395" cy="51482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3175" lIns="78550" spcFirstLastPara="1" rIns="78550" wrap="square" tIns="13175">
            <a:noAutofit/>
          </a:bodyPr>
          <a:lstStyle/>
          <a:p>
            <a:pPr indent="0" lvl="0" marL="52268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71">
                <a:latin typeface="Calibri"/>
                <a:ea typeface="Calibri"/>
                <a:cs typeface="Calibri"/>
                <a:sym typeface="Calibri"/>
              </a:rPr>
              <a:t>Perfil bioquímico</a:t>
            </a:r>
            <a:endParaRPr sz="137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/>
          <p:nvPr>
            <p:ph type="title"/>
          </p:nvPr>
        </p:nvSpPr>
        <p:spPr>
          <a:xfrm>
            <a:off x="311700" y="445025"/>
            <a:ext cx="4139100" cy="13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/>
              <a:t>P</a:t>
            </a:r>
            <a:r>
              <a:rPr lang="es" sz="3500"/>
              <a:t>ruebas complementarias </a:t>
            </a:r>
            <a:endParaRPr sz="3500"/>
          </a:p>
        </p:txBody>
      </p:sp>
      <p:sp>
        <p:nvSpPr>
          <p:cNvPr id="214" name="Google Shape;214;p29"/>
          <p:cNvSpPr txBox="1"/>
          <p:nvPr>
            <p:ph idx="1" type="body"/>
          </p:nvPr>
        </p:nvSpPr>
        <p:spPr>
          <a:xfrm>
            <a:off x="4450750" y="218625"/>
            <a:ext cx="4381500" cy="18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para obtener un panorama más amplio y complementar el proceso diagnóstico decides apoyarte con pruebas de laboratorio de diagnóstico clínico especializado en medicina veterinaria. </a:t>
            </a:r>
            <a:endParaRPr/>
          </a:p>
        </p:txBody>
      </p:sp>
      <p:graphicFrame>
        <p:nvGraphicFramePr>
          <p:cNvPr id="215" name="Google Shape;215;p29"/>
          <p:cNvGraphicFramePr/>
          <p:nvPr/>
        </p:nvGraphicFramePr>
        <p:xfrm>
          <a:off x="190475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{B42B2CEF-8FDF-4996-B793-AAA11D85B9D2}</a:tableStyleId>
              </a:tblPr>
              <a:tblGrid>
                <a:gridCol w="2190775"/>
                <a:gridCol w="2190775"/>
              </a:tblGrid>
              <a:tr h="53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hisopado  nasal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análisis molecular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orina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urianálisis</a:t>
                      </a:r>
                      <a:r>
                        <a:rPr lang="es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hisopado  traqueal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análisis bacteriológico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sangre en vacutainer sin anticoagulante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perfil bioquímico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estiércol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análisis coprológico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6" name="Google Shape;216;p29"/>
          <p:cNvSpPr txBox="1"/>
          <p:nvPr/>
        </p:nvSpPr>
        <p:spPr>
          <a:xfrm>
            <a:off x="599250" y="1648775"/>
            <a:ext cx="3564000" cy="78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coloca cada muestra en la prueba correspondiente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7" name="Google Shape;217;p29"/>
          <p:cNvSpPr txBox="1"/>
          <p:nvPr/>
        </p:nvSpPr>
        <p:spPr>
          <a:xfrm>
            <a:off x="4814650" y="2068332"/>
            <a:ext cx="4228800" cy="13236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correcta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¡Bien hecho!  recuerda que cada muestra que envíes a laboratorio debe ser la correcta e ir debidamente identificada y conservada.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18" name="Google Shape;218;p29"/>
          <p:cNvSpPr txBox="1"/>
          <p:nvPr/>
        </p:nvSpPr>
        <p:spPr>
          <a:xfrm>
            <a:off x="4859500" y="3668182"/>
            <a:ext cx="4139100" cy="13236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incorrecta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¡Ups! revisa con cuidado los datos y razona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tip:  la muestra para un perfil bioquimico debe ser minimo 2ml de sangre en vacutainer de tapa morada.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0"/>
          <p:cNvSpPr txBox="1"/>
          <p:nvPr>
            <p:ph type="title"/>
          </p:nvPr>
        </p:nvSpPr>
        <p:spPr>
          <a:xfrm>
            <a:off x="311700" y="445025"/>
            <a:ext cx="4139100" cy="13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/>
              <a:t>P</a:t>
            </a:r>
            <a:r>
              <a:rPr lang="es" sz="3500"/>
              <a:t>ruebas complementarias </a:t>
            </a:r>
            <a:endParaRPr sz="3500"/>
          </a:p>
        </p:txBody>
      </p:sp>
      <p:sp>
        <p:nvSpPr>
          <p:cNvPr id="224" name="Google Shape;224;p30"/>
          <p:cNvSpPr txBox="1"/>
          <p:nvPr/>
        </p:nvSpPr>
        <p:spPr>
          <a:xfrm>
            <a:off x="4322100" y="197825"/>
            <a:ext cx="4821900" cy="1569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A </a:t>
            </a:r>
            <a:r>
              <a:rPr lang="es" sz="1800">
                <a:solidFill>
                  <a:schemeClr val="dk2"/>
                </a:solidFill>
              </a:rPr>
              <a:t>continuación</a:t>
            </a:r>
            <a:r>
              <a:rPr lang="es" sz="1800">
                <a:solidFill>
                  <a:schemeClr val="dk2"/>
                </a:solidFill>
              </a:rPr>
              <a:t> el resultado de la </a:t>
            </a:r>
            <a:r>
              <a:rPr lang="es" sz="1800">
                <a:solidFill>
                  <a:schemeClr val="dk2"/>
                </a:solidFill>
              </a:rPr>
              <a:t>análisis</a:t>
            </a:r>
            <a:r>
              <a:rPr lang="es" sz="1800">
                <a:solidFill>
                  <a:schemeClr val="dk2"/>
                </a:solidFill>
              </a:rPr>
              <a:t> coproparasitoscópico, usando la </a:t>
            </a:r>
            <a:r>
              <a:rPr lang="es" sz="1800">
                <a:solidFill>
                  <a:schemeClr val="dk2"/>
                </a:solidFill>
              </a:rPr>
              <a:t>técnica</a:t>
            </a:r>
            <a:r>
              <a:rPr lang="es" sz="1800">
                <a:solidFill>
                  <a:schemeClr val="dk2"/>
                </a:solidFill>
              </a:rPr>
              <a:t> de McMaster.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25" name="Google Shape;225;p30" title="ParasitoGy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25" y="1963950"/>
            <a:ext cx="3424832" cy="307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0" title="ParasitoGyr.png"/>
          <p:cNvPicPr preferRelativeResize="0"/>
          <p:nvPr/>
        </p:nvPicPr>
        <p:blipFill rotWithShape="1">
          <a:blip r:embed="rId3">
            <a:alphaModFix/>
          </a:blip>
          <a:srcRect b="10233" l="3792" r="53559" t="51237"/>
          <a:stretch/>
        </p:blipFill>
        <p:spPr>
          <a:xfrm>
            <a:off x="4701900" y="1831199"/>
            <a:ext cx="3791302" cy="307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1" name="Google Shape;231;p31"/>
          <p:cNvGraphicFramePr/>
          <p:nvPr/>
        </p:nvGraphicFramePr>
        <p:xfrm>
          <a:off x="1780325" y="958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{B42B2CEF-8FDF-4996-B793-AAA11D85B9D2}</a:tableStyleId>
              </a:tblPr>
              <a:tblGrid>
                <a:gridCol w="2413000"/>
                <a:gridCol w="2413000"/>
                <a:gridCol w="2413000"/>
              </a:tblGrid>
              <a:tr h="62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Área del laboratorio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Prueba diagnóstica solicitada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Resultado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69138"/>
                    </a:solidFill>
                  </a:tcPr>
                </a:tc>
              </a:tr>
              <a:tr h="62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análisis molecular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PCR en punto final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POSITIVO A: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DvB-1, DvB-2, IBR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NEGATIVO A: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vRSB, vPI 3, Leucosis Bovina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</a:tr>
              <a:tr h="62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McMaster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6900 HPG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</a:tr>
              <a:tr h="381000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biometría hemática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Ligera hemoconcentración, neutrofilia.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perfil bioquímico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Alteraciones compatibles con problemas </a:t>
                      </a: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hepáticos </a:t>
                      </a: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urinarios.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aislamiento e identificación bacteriológico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crecimiento de: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Biberstenia trhealosi, Pasteurella SPP y Corynebacterium spp.</a:t>
                      </a:r>
                      <a:endParaRPr i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</a:tr>
            </a:tbl>
          </a:graphicData>
        </a:graphic>
      </p:graphicFrame>
      <p:sp>
        <p:nvSpPr>
          <p:cNvPr id="232" name="Google Shape;232;p31"/>
          <p:cNvSpPr txBox="1"/>
          <p:nvPr/>
        </p:nvSpPr>
        <p:spPr>
          <a:xfrm>
            <a:off x="4314725" y="112400"/>
            <a:ext cx="4704600" cy="738900"/>
          </a:xfrm>
          <a:prstGeom prst="rect">
            <a:avLst/>
          </a:prstGeom>
          <a:solidFill>
            <a:srgbClr val="EEFF4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Coloca en su lugar cada área del laboratorio de diagnóstico veterinario. 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33" name="Google Shape;233;p31"/>
          <p:cNvSpPr txBox="1"/>
          <p:nvPr/>
        </p:nvSpPr>
        <p:spPr>
          <a:xfrm>
            <a:off x="175625" y="112400"/>
            <a:ext cx="4139100" cy="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000000"/>
                </a:solidFill>
              </a:rPr>
              <a:t>Pruebas complementarias </a:t>
            </a:r>
            <a:endParaRPr sz="2500">
              <a:solidFill>
                <a:srgbClr val="000000"/>
              </a:solidFill>
            </a:endParaRPr>
          </a:p>
        </p:txBody>
      </p:sp>
      <p:sp>
        <p:nvSpPr>
          <p:cNvPr id="234" name="Google Shape;234;p31"/>
          <p:cNvSpPr/>
          <p:nvPr/>
        </p:nvSpPr>
        <p:spPr>
          <a:xfrm>
            <a:off x="1" y="1690776"/>
            <a:ext cx="1728395" cy="51482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13175" lIns="78550" spcFirstLastPara="1" rIns="78550" wrap="square" tIns="131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71">
                <a:latin typeface="Calibri"/>
                <a:ea typeface="Calibri"/>
                <a:cs typeface="Calibri"/>
                <a:sym typeface="Calibri"/>
              </a:rPr>
              <a:t>Laboratorio de patología clínica</a:t>
            </a:r>
            <a:endParaRPr sz="1371"/>
          </a:p>
        </p:txBody>
      </p:sp>
      <p:sp>
        <p:nvSpPr>
          <p:cNvPr id="235" name="Google Shape;235;p31"/>
          <p:cNvSpPr/>
          <p:nvPr/>
        </p:nvSpPr>
        <p:spPr>
          <a:xfrm>
            <a:off x="1" y="2314363"/>
            <a:ext cx="1728395" cy="51482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3175" lIns="78550" spcFirstLastPara="1" rIns="78550" wrap="square" tIns="131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71">
                <a:latin typeface="Calibri"/>
                <a:ea typeface="Calibri"/>
                <a:cs typeface="Calibri"/>
                <a:sym typeface="Calibri"/>
              </a:rPr>
              <a:t>Laboratorio de microbiología</a:t>
            </a:r>
            <a:endParaRPr sz="1371"/>
          </a:p>
        </p:txBody>
      </p:sp>
      <p:sp>
        <p:nvSpPr>
          <p:cNvPr id="236" name="Google Shape;236;p31"/>
          <p:cNvSpPr/>
          <p:nvPr/>
        </p:nvSpPr>
        <p:spPr>
          <a:xfrm>
            <a:off x="1" y="1067176"/>
            <a:ext cx="1728395" cy="51482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3175" lIns="78550" spcFirstLastPara="1" rIns="78550" wrap="square" tIns="131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71">
                <a:latin typeface="Calibri"/>
                <a:ea typeface="Calibri"/>
                <a:cs typeface="Calibri"/>
                <a:sym typeface="Calibri"/>
              </a:rPr>
              <a:t>Laboratorio de virología 	</a:t>
            </a:r>
            <a:endParaRPr sz="1371"/>
          </a:p>
        </p:txBody>
      </p:sp>
      <p:sp>
        <p:nvSpPr>
          <p:cNvPr id="237" name="Google Shape;237;p31"/>
          <p:cNvSpPr/>
          <p:nvPr/>
        </p:nvSpPr>
        <p:spPr>
          <a:xfrm>
            <a:off x="1" y="3670501"/>
            <a:ext cx="1728395" cy="51482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13175" lIns="78550" spcFirstLastPara="1" rIns="78550" wrap="square" tIns="131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71">
                <a:latin typeface="Calibri"/>
                <a:ea typeface="Calibri"/>
                <a:cs typeface="Calibri"/>
                <a:sym typeface="Calibri"/>
              </a:rPr>
              <a:t>Laboratorio de parasitología </a:t>
            </a:r>
            <a:endParaRPr sz="1371"/>
          </a:p>
        </p:txBody>
      </p:sp>
      <p:sp>
        <p:nvSpPr>
          <p:cNvPr id="238" name="Google Shape;238;p31"/>
          <p:cNvSpPr/>
          <p:nvPr/>
        </p:nvSpPr>
        <p:spPr>
          <a:xfrm>
            <a:off x="1" y="4294088"/>
            <a:ext cx="1728395" cy="51482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3175" lIns="78550" spcFirstLastPara="1" rIns="78550" wrap="square" tIns="131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71">
                <a:latin typeface="Calibri"/>
                <a:ea typeface="Calibri"/>
                <a:cs typeface="Calibri"/>
                <a:sym typeface="Calibri"/>
              </a:rPr>
              <a:t>laboratorio de histología </a:t>
            </a:r>
            <a:endParaRPr sz="1371"/>
          </a:p>
        </p:txBody>
      </p:sp>
      <p:sp>
        <p:nvSpPr>
          <p:cNvPr id="239" name="Google Shape;239;p31"/>
          <p:cNvSpPr/>
          <p:nvPr/>
        </p:nvSpPr>
        <p:spPr>
          <a:xfrm>
            <a:off x="1" y="3046901"/>
            <a:ext cx="1728395" cy="51482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3175" lIns="78550" spcFirstLastPara="1" rIns="78550" wrap="square" tIns="131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71">
                <a:latin typeface="Calibri"/>
                <a:ea typeface="Calibri"/>
                <a:cs typeface="Calibri"/>
                <a:sym typeface="Calibri"/>
              </a:rPr>
              <a:t>Laboratorio </a:t>
            </a:r>
            <a:r>
              <a:rPr lang="es" sz="1371">
                <a:latin typeface="Calibri"/>
                <a:ea typeface="Calibri"/>
                <a:cs typeface="Calibri"/>
                <a:sym typeface="Calibri"/>
              </a:rPr>
              <a:t>patología</a:t>
            </a:r>
            <a:r>
              <a:rPr lang="es" sz="1371">
                <a:latin typeface="Calibri"/>
                <a:ea typeface="Calibri"/>
                <a:cs typeface="Calibri"/>
                <a:sym typeface="Calibri"/>
              </a:rPr>
              <a:t> diagnóstica	</a:t>
            </a:r>
            <a:endParaRPr sz="137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4" name="Google Shape;244;p32"/>
          <p:cNvGraphicFramePr/>
          <p:nvPr/>
        </p:nvGraphicFramePr>
        <p:xfrm>
          <a:off x="4132050" y="958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{B42B2CEF-8FDF-4996-B793-AAA11D85B9D2}</a:tableStyleId>
              </a:tblPr>
              <a:tblGrid>
                <a:gridCol w="1814100"/>
                <a:gridCol w="1507400"/>
                <a:gridCol w="1565775"/>
              </a:tblGrid>
              <a:tr h="62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Área del laboratorio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Prueba diagnóstica solicitada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Resultado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69138"/>
                    </a:solidFill>
                  </a:tcPr>
                </a:tc>
              </a:tr>
              <a:tr h="62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Laboratorio de virología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análisis molecular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PCR en punto final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POSITIVO A: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DvB-1, DvB-2, IBR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NEGATIVO A: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vRSB, vPI 3, Leucosis Bovina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</a:tr>
              <a:tr h="62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Laboratorio de parasitología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McMaster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6900 HPG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</a:tr>
              <a:tr h="381000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Laboratorio de patología clínica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biometría hemática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Ligera hemoconcentración, neutrofilia.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perfil bioquímico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Alteraciones compatibles con problemas hepáticos y urinarios.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Laboratorio de microbiología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aislamiento e identificación bacteriológico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crecimiento de: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Biberstenia trhealosi, Pasteurella SPP y Corynebacterium spp.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</a:tr>
            </a:tbl>
          </a:graphicData>
        </a:graphic>
      </p:graphicFrame>
      <p:sp>
        <p:nvSpPr>
          <p:cNvPr id="245" name="Google Shape;245;p32"/>
          <p:cNvSpPr txBox="1"/>
          <p:nvPr/>
        </p:nvSpPr>
        <p:spPr>
          <a:xfrm>
            <a:off x="4314725" y="112400"/>
            <a:ext cx="4704600" cy="738900"/>
          </a:xfrm>
          <a:prstGeom prst="rect">
            <a:avLst/>
          </a:prstGeom>
          <a:solidFill>
            <a:srgbClr val="EEFF4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Coloca en su lugar cada área del laboratorio de diagnóstico veterinario. 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46" name="Google Shape;246;p32"/>
          <p:cNvSpPr txBox="1"/>
          <p:nvPr/>
        </p:nvSpPr>
        <p:spPr>
          <a:xfrm rot="-806459">
            <a:off x="175686" y="112399"/>
            <a:ext cx="4139070" cy="118169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>
                <a:solidFill>
                  <a:srgbClr val="000000"/>
                </a:solidFill>
              </a:rPr>
              <a:t>Pruebas complementarias </a:t>
            </a:r>
            <a:endParaRPr sz="3500">
              <a:solidFill>
                <a:srgbClr val="000000"/>
              </a:solidFill>
            </a:endParaRPr>
          </a:p>
        </p:txBody>
      </p:sp>
      <p:sp>
        <p:nvSpPr>
          <p:cNvPr id="247" name="Google Shape;247;p32"/>
          <p:cNvSpPr txBox="1"/>
          <p:nvPr/>
        </p:nvSpPr>
        <p:spPr>
          <a:xfrm>
            <a:off x="130825" y="1725150"/>
            <a:ext cx="3740100" cy="13236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etroalimentación correcta </a:t>
            </a:r>
            <a:endParaRPr sz="12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¡Muy bien! El objetivo de estos estudios es complementar la información obtenida para con ello establecer los posibles diagnósticos.</a:t>
            </a:r>
            <a:endParaRPr sz="12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tip: La técnica de  McMaster es una </a:t>
            </a: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técnica</a:t>
            </a: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cuantitativa.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48" name="Google Shape;248;p32"/>
          <p:cNvSpPr txBox="1"/>
          <p:nvPr/>
        </p:nvSpPr>
        <p:spPr>
          <a:xfrm>
            <a:off x="175675" y="3451675"/>
            <a:ext cx="3740100" cy="12621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incorrecta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¡Ups! recuerda que las pruebas de laboratorio complementan el diagnóstico para confirmarlo o descartarlo.  Revisa muy bien y con detenimiento la prueba solicitada y el resultado. 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3"/>
          <p:cNvSpPr txBox="1"/>
          <p:nvPr/>
        </p:nvSpPr>
        <p:spPr>
          <a:xfrm>
            <a:off x="311700" y="445025"/>
            <a:ext cx="2982600" cy="16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rgbClr val="000000"/>
                </a:solidFill>
              </a:rPr>
              <a:t>Laboratorio de virología </a:t>
            </a:r>
            <a:endParaRPr sz="2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4"/>
          <p:cNvSpPr txBox="1"/>
          <p:nvPr/>
        </p:nvSpPr>
        <p:spPr>
          <a:xfrm>
            <a:off x="311700" y="445025"/>
            <a:ext cx="400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>
                <a:solidFill>
                  <a:srgbClr val="000000"/>
                </a:solidFill>
              </a:rPr>
              <a:t>Patología clínica </a:t>
            </a:r>
            <a:endParaRPr sz="3500">
              <a:solidFill>
                <a:srgbClr val="000000"/>
              </a:solidFill>
            </a:endParaRPr>
          </a:p>
        </p:txBody>
      </p:sp>
      <p:sp>
        <p:nvSpPr>
          <p:cNvPr id="259" name="Google Shape;259;p34"/>
          <p:cNvSpPr txBox="1"/>
          <p:nvPr/>
        </p:nvSpPr>
        <p:spPr>
          <a:xfrm>
            <a:off x="129875" y="2571750"/>
            <a:ext cx="400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000000"/>
                </a:solidFill>
              </a:rPr>
              <a:t>Hemograma </a:t>
            </a:r>
            <a:endParaRPr sz="2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5"/>
          <p:cNvSpPr txBox="1"/>
          <p:nvPr/>
        </p:nvSpPr>
        <p:spPr>
          <a:xfrm>
            <a:off x="311700" y="445025"/>
            <a:ext cx="400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>
                <a:solidFill>
                  <a:srgbClr val="000000"/>
                </a:solidFill>
              </a:rPr>
              <a:t>Patología clínica </a:t>
            </a:r>
            <a:endParaRPr sz="3500">
              <a:solidFill>
                <a:srgbClr val="000000"/>
              </a:solidFill>
            </a:endParaRPr>
          </a:p>
        </p:txBody>
      </p:sp>
      <p:sp>
        <p:nvSpPr>
          <p:cNvPr id="265" name="Google Shape;265;p35"/>
          <p:cNvSpPr txBox="1"/>
          <p:nvPr/>
        </p:nvSpPr>
        <p:spPr>
          <a:xfrm>
            <a:off x="129875" y="2571750"/>
            <a:ext cx="400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000000"/>
                </a:solidFill>
              </a:rPr>
              <a:t>Perfil bioquímico </a:t>
            </a:r>
            <a:endParaRPr sz="2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6"/>
          <p:cNvSpPr txBox="1"/>
          <p:nvPr/>
        </p:nvSpPr>
        <p:spPr>
          <a:xfrm>
            <a:off x="311700" y="459632"/>
            <a:ext cx="2945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>
                <a:solidFill>
                  <a:srgbClr val="000000"/>
                </a:solidFill>
              </a:rPr>
              <a:t>Microbiología </a:t>
            </a:r>
            <a:endParaRPr sz="3500">
              <a:solidFill>
                <a:srgbClr val="000000"/>
              </a:solidFill>
            </a:endParaRPr>
          </a:p>
        </p:txBody>
      </p:sp>
      <p:sp>
        <p:nvSpPr>
          <p:cNvPr id="271" name="Google Shape;271;p36"/>
          <p:cNvSpPr txBox="1"/>
          <p:nvPr/>
        </p:nvSpPr>
        <p:spPr>
          <a:xfrm>
            <a:off x="311700" y="2216232"/>
            <a:ext cx="2945100" cy="15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rgbClr val="000000"/>
                </a:solidFill>
              </a:rPr>
              <a:t>Cultivo, aislamiento e identificación.</a:t>
            </a:r>
            <a:endParaRPr sz="2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7"/>
          <p:cNvSpPr txBox="1"/>
          <p:nvPr/>
        </p:nvSpPr>
        <p:spPr>
          <a:xfrm>
            <a:off x="311700" y="445025"/>
            <a:ext cx="2945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/>
              <a:t>Parasitología</a:t>
            </a:r>
            <a:endParaRPr sz="3500">
              <a:solidFill>
                <a:srgbClr val="000000"/>
              </a:solidFill>
            </a:endParaRPr>
          </a:p>
        </p:txBody>
      </p:sp>
      <p:sp>
        <p:nvSpPr>
          <p:cNvPr id="277" name="Google Shape;277;p37"/>
          <p:cNvSpPr txBox="1"/>
          <p:nvPr/>
        </p:nvSpPr>
        <p:spPr>
          <a:xfrm>
            <a:off x="311700" y="2201625"/>
            <a:ext cx="2945100" cy="15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/>
              <a:t>Mc Master </a:t>
            </a:r>
            <a:endParaRPr sz="2800">
              <a:solidFill>
                <a:srgbClr val="000000"/>
              </a:solidFill>
            </a:endParaRPr>
          </a:p>
        </p:txBody>
      </p:sp>
      <p:pic>
        <p:nvPicPr>
          <p:cNvPr id="278" name="Google Shape;278;p37" title="Captura de pantalla 2026-03-24 2004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3275" y="152400"/>
            <a:ext cx="382152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3" name="Google Shape;283;p38"/>
          <p:cNvGraphicFramePr/>
          <p:nvPr/>
        </p:nvGraphicFramePr>
        <p:xfrm>
          <a:off x="5279325" y="225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{B42B2CEF-8FDF-4996-B793-AAA11D85B9D2}</a:tableStyleId>
              </a:tblPr>
              <a:tblGrid>
                <a:gridCol w="611450"/>
                <a:gridCol w="3008050"/>
              </a:tblGrid>
              <a:tr h="28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secreción nasal amarillenta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linfonodos precrurales palpables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5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deshidratación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6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depresión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mucosas pálidas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 temperatura de 37.0 °C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hipotonía</a:t>
                      </a:r>
                      <a:r>
                        <a:rPr lang="es" sz="1000"/>
                        <a:t> ruminal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10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tos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11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pelo hirsuto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12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CC </a:t>
                      </a:r>
                      <a:r>
                        <a:rPr lang="es" sz="1000"/>
                        <a:t>2/5</a:t>
                      </a:r>
                      <a:r>
                        <a:rPr lang="es" sz="1000"/>
                        <a:t> 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13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positivo a vRSB, DVB, IBR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14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positivo a </a:t>
                      </a:r>
                      <a:r>
                        <a:rPr i="1" lang="es" sz="1000"/>
                        <a:t>Pasteurella spp</a:t>
                      </a:r>
                      <a:endParaRPr i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15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inflamación severa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4" name="Google Shape;284;p38"/>
          <p:cNvSpPr txBox="1"/>
          <p:nvPr/>
        </p:nvSpPr>
        <p:spPr>
          <a:xfrm>
            <a:off x="311700" y="445025"/>
            <a:ext cx="478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>
                <a:solidFill>
                  <a:srgbClr val="000000"/>
                </a:solidFill>
              </a:rPr>
              <a:t> Lista de problemas </a:t>
            </a:r>
            <a:endParaRPr sz="3500">
              <a:solidFill>
                <a:srgbClr val="000000"/>
              </a:solidFill>
            </a:endParaRPr>
          </a:p>
        </p:txBody>
      </p:sp>
      <p:sp>
        <p:nvSpPr>
          <p:cNvPr id="285" name="Google Shape;285;p38"/>
          <p:cNvSpPr txBox="1"/>
          <p:nvPr/>
        </p:nvSpPr>
        <p:spPr>
          <a:xfrm>
            <a:off x="402425" y="1371150"/>
            <a:ext cx="4479000" cy="2124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La lista de problemas consiste en una relación de números arábigos de cada uno de los problemas que el paciente presenta o ha presentado que NO se llevan un orden de importancia aparente.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se recomienda organizar los problemas desde la reseña hasta el EFG. 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